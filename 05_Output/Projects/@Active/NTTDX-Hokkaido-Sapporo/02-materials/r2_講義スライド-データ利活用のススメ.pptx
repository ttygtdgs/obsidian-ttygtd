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notesMasterIdLst>
    <p:notesMasterId r:id="rId3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notesMaster" Target="notesMasters/notesMaster1.xml"/><Relationship Id="rId38" Type="http://schemas.openxmlformats.org/officeDocument/2006/relationships/presProps" Target="presProps.xml"/><Relationship Id="rId39" Type="http://schemas.openxmlformats.org/officeDocument/2006/relationships/viewProps" Target="viewProps.xml"/><Relationship Id="rId40" Type="http://schemas.openxmlformats.org/officeDocument/2006/relationships/theme" Target="theme/theme1.xml"/><Relationship Id="rId4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82880" y="274320"/>
            <a:ext cx="27432" cy="109728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4" name="Shape 2"/>
          <p:cNvSpPr/>
          <p:nvPr/>
        </p:nvSpPr>
        <p:spPr>
          <a:xfrm>
            <a:off x="256032" y="274320"/>
            <a:ext cx="27432" cy="109728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5" name="Shape 3"/>
          <p:cNvSpPr/>
          <p:nvPr/>
        </p:nvSpPr>
        <p:spPr>
          <a:xfrm>
            <a:off x="329184" y="274320"/>
            <a:ext cx="27432" cy="109728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645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データで新しい価値を創る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22860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データ利活用のススメ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SAPPORO DATA IDEATHON 2026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4206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2026年2月3日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4526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株式会社NTT DXパートナー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4" name="Shape 2"/>
          <p:cNvSpPr/>
          <p:nvPr/>
        </p:nvSpPr>
        <p:spPr>
          <a:xfrm>
            <a:off x="18288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自己紹介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137160" y="685800"/>
            <a:ext cx="8869680" cy="13716"/>
          </a:xfrm>
          <a:prstGeom prst="rect">
            <a:avLst/>
          </a:prstGeom>
          <a:solidFill>
            <a:srgbClr val="7F7F7F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後藤田 達哉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457200" y="1645920"/>
            <a:ext cx="1463040" cy="50292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719072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所属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103120" y="1719072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株式会社NTT DXパートナー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" y="2377440"/>
            <a:ext cx="1463040" cy="50292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450592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専門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103120" y="2450592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アプリ開発、生成AI利活用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57200" y="3108960"/>
            <a:ext cx="1463040" cy="50292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3182112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経歴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103120" y="3182112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通信会社 コンサルティング営業 → スタートアップ等でエンジニア、PM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solidFill>
            <a:srgbClr val="E8F4F8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391363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9759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今日はデータ分析の楽しさをお伝えします！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4" name="Shape 2"/>
          <p:cNvSpPr/>
          <p:nvPr/>
        </p:nvSpPr>
        <p:spPr>
          <a:xfrm>
            <a:off x="18288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今日のアジェンダ（45分）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137160" y="685800"/>
            <a:ext cx="8869680" cy="13716"/>
          </a:xfrm>
          <a:prstGeom prst="rect">
            <a:avLst/>
          </a:prstGeom>
          <a:solidFill>
            <a:srgbClr val="7F7F7F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0058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1. 身近なデータ活用（20分）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88720" y="12984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YouTube, TikTok, Amazon の裏側 ー 仮説・データ設計・PDCA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16916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2. データセットの理解（8分）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88720" y="19842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今日使うデータの中身（スポーツ or 地域）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31520" y="23774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3. BIツールの紹介（5分）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188720" y="2670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Looker Studioでデータを可視化する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31520" y="30632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4. ハンズオン（10分）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188720" y="33558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実際にグラフを作ってみよう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31520" y="37490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5. まとめ（2分）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188720" y="40416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次のワークへの準備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4" name="Shape 2"/>
          <p:cNvSpPr/>
          <p:nvPr/>
        </p:nvSpPr>
        <p:spPr>
          <a:xfrm>
            <a:off x="18288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皆さんのデータ、使われてます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137160" y="685800"/>
            <a:ext cx="8869680" cy="13716"/>
          </a:xfrm>
          <a:prstGeom prst="rect">
            <a:avLst/>
          </a:prstGeom>
          <a:solidFill>
            <a:srgbClr val="7F7F7F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YouTubeのおすすめ動画、なぜ自分好みがわかる？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57200" y="1554480"/>
            <a:ext cx="8229600" cy="914400"/>
          </a:xfrm>
          <a:prstGeom prst="rect">
            <a:avLst/>
          </a:prstGeom>
          <a:solidFill>
            <a:srgbClr val="E8F4F8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7373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9759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答え：皆さんの行動データを分析しているから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57200" y="2743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普段何気なく使っているサービスの裏側では、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皆さんのデータが収集・分析されています。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9759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→ 今日は、その「データ分析」を皆さんが体験します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4" name="Shape 2"/>
          <p:cNvSpPr/>
          <p:nvPr/>
        </p:nvSpPr>
        <p:spPr>
          <a:xfrm>
            <a:off x="18288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事例1: YouTube ー 目標と指標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137160" y="685800"/>
            <a:ext cx="8869680" cy="13716"/>
          </a:xfrm>
          <a:prstGeom prst="rect">
            <a:avLst/>
          </a:prstGeom>
          <a:solidFill>
            <a:srgbClr val="7F7F7F"/>
          </a:solidFill>
          <a:ln/>
        </p:spPr>
      </p:sp>
      <p:sp>
        <p:nvSpPr>
          <p:cNvPr id="8" name="Shape 6"/>
          <p:cNvSpPr/>
          <p:nvPr/>
        </p:nvSpPr>
        <p:spPr>
          <a:xfrm>
            <a:off x="274320" y="868680"/>
            <a:ext cx="8595360" cy="1280160"/>
          </a:xfrm>
          <a:prstGeom prst="rect">
            <a:avLst/>
          </a:prstGeom>
          <a:solidFill>
            <a:srgbClr val="E8F4F8"/>
          </a:solidFill>
          <a:ln w="12700">
            <a:solidFill>
              <a:srgbClr val="2975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9759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🎯 最終目標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1188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広告収益の最大化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5760" y="16916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（ユーザーが長く見るほど、広告が見られる）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2286000"/>
            <a:ext cx="8595360" cy="1371600"/>
          </a:xfrm>
          <a:prstGeom prst="rect">
            <a:avLst/>
          </a:prstGeom>
          <a:solidFill>
            <a:srgbClr val="F5F5F5"/>
          </a:solidFill>
          <a:ln w="12700">
            <a:solidFill>
              <a:srgbClr val="7F7F7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3317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📊 そのために伸ばしたい指標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26517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平均視聴時間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1日あたりのセッション数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リピート率（また戻ってくるか）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74320" y="384048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9759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→ では、どうやってこれを伸ばす？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4" name="Shape 2"/>
          <p:cNvSpPr/>
          <p:nvPr/>
        </p:nvSpPr>
        <p:spPr>
          <a:xfrm>
            <a:off x="18288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YouTube ー あなたならどうする？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137160" y="685800"/>
            <a:ext cx="8869680" cy="13716"/>
          </a:xfrm>
          <a:prstGeom prst="rect">
            <a:avLst/>
          </a:prstGeom>
          <a:solidFill>
            <a:srgbClr val="7F7F7F"/>
          </a:solidFill>
          <a:ln/>
        </p:spPr>
      </p:sp>
      <p:sp>
        <p:nvSpPr>
          <p:cNvPr id="8" name="Shape 6"/>
          <p:cNvSpPr/>
          <p:nvPr/>
        </p:nvSpPr>
        <p:spPr>
          <a:xfrm>
            <a:off x="274320" y="868680"/>
            <a:ext cx="4114800" cy="1097280"/>
          </a:xfrm>
          <a:prstGeom prst="rect">
            <a:avLst/>
          </a:prstGeom>
          <a:solidFill>
            <a:srgbClr val="FFF5F5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9144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53E3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👤 ペルソナ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1170432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新しい動画を発見したい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ユーザー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754880" y="868680"/>
            <a:ext cx="4114800" cy="1097280"/>
          </a:xfrm>
          <a:prstGeom prst="rect">
            <a:avLst/>
          </a:prstGeom>
          <a:solidFill>
            <a:srgbClr val="FFFAF0"/>
          </a:solidFill>
          <a:ln w="12700">
            <a:solidFill>
              <a:srgbClr val="DD6B2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9144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D6B2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❓ 課題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46320" y="1170432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見たい動画を探すのに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手間がかかる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74320" y="2194560"/>
            <a:ext cx="8595360" cy="1463040"/>
          </a:xfrm>
          <a:prstGeom prst="rect">
            <a:avLst/>
          </a:prstGeom>
          <a:solidFill>
            <a:srgbClr val="E8F4F8"/>
          </a:solidFill>
          <a:ln w="12700">
            <a:solidFill>
              <a:srgbClr val="29759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286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9759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🤔 考えてみよう（30秒）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2606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視聴時間を伸ばすために、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あなたならどんなデータを取得しますか？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57200" y="3291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💭 隣の人と話してみてください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4" name="Shape 2"/>
          <p:cNvSpPr/>
          <p:nvPr/>
        </p:nvSpPr>
        <p:spPr>
          <a:xfrm>
            <a:off x="18288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YouTubeの答え：仮説とデータ設計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137160" y="685800"/>
            <a:ext cx="8869680" cy="13716"/>
          </a:xfrm>
          <a:prstGeom prst="rect">
            <a:avLst/>
          </a:prstGeom>
          <a:solidFill>
            <a:srgbClr val="7F7F7F"/>
          </a:solidFill>
          <a:ln/>
        </p:spPr>
      </p:sp>
      <p:sp>
        <p:nvSpPr>
          <p:cNvPr id="8" name="Shape 6"/>
          <p:cNvSpPr/>
          <p:nvPr/>
        </p:nvSpPr>
        <p:spPr>
          <a:xfrm>
            <a:off x="274320" y="868680"/>
            <a:ext cx="8595360" cy="1005840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9144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💭 YouTubeの仮説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1188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昔は「クリック数」を重視 → 釣りタイトルが増えて満足度低下 → 「視聴時間」こそ満足度の指標だ！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74320" y="201168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📊 取得するデータと設計意図</a:t>
            </a:r>
            <a:endParaRPr lang="en-US" sz="11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286000"/>
          <a:ext cx="8595360" cy="1371600"/>
        </p:xfrm>
        <a:graphic>
          <a:graphicData uri="http://schemas.openxmlformats.org/drawingml/2006/table">
            <a:tbl>
              <a:tblPr/>
              <a:tblGrid>
                <a:gridCol w="2560320"/>
                <a:gridCol w="603504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データ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75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設計意図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7593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視聴時間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どこまで見たか = 満足度の指標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スキップ位置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つまらない箇所を特定 → 改善ポイント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繰り返し視聴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価値の高いコンテンツを発見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いいね/低評価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明示的なフィードバック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4" name="Shape 2"/>
          <p:cNvSpPr/>
          <p:nvPr/>
        </p:nvSpPr>
        <p:spPr>
          <a:xfrm>
            <a:off x="18288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YouTubeの実践：PDCAと結果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137160" y="685800"/>
            <a:ext cx="8869680" cy="13716"/>
          </a:xfrm>
          <a:prstGeom prst="rect">
            <a:avLst/>
          </a:prstGeom>
          <a:solidFill>
            <a:srgbClr val="7F7F7F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86868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🔄 PDCAサイクル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1188720"/>
            <a:ext cx="365760" cy="365760"/>
          </a:xfrm>
          <a:prstGeom prst="ellipse">
            <a:avLst/>
          </a:prstGeom>
          <a:solidFill>
            <a:srgbClr val="297593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" y="12344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P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85800" y="118872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Plan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74320" y="15544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「視聴時間を10%増やす」をKPIに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468880" y="1188720"/>
            <a:ext cx="365760" cy="365760"/>
          </a:xfrm>
          <a:prstGeom prst="ellipse">
            <a:avLst/>
          </a:prstGeom>
          <a:solidFill>
            <a:srgbClr val="297593"/>
          </a:solidFill>
          <a:ln/>
        </p:spPr>
      </p:sp>
      <p:sp>
        <p:nvSpPr>
          <p:cNvPr id="14" name="Text 12"/>
          <p:cNvSpPr/>
          <p:nvPr/>
        </p:nvSpPr>
        <p:spPr>
          <a:xfrm>
            <a:off x="2468880" y="12344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880360" y="118872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Do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468880" y="15544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おすすめアルゴリズムをA/Bテスト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663440" y="1188720"/>
            <a:ext cx="365760" cy="365760"/>
          </a:xfrm>
          <a:prstGeom prst="ellipse">
            <a:avLst/>
          </a:prstGeom>
          <a:solidFill>
            <a:srgbClr val="297593"/>
          </a:solidFill>
          <a:ln/>
        </p:spPr>
      </p:sp>
      <p:sp>
        <p:nvSpPr>
          <p:cNvPr id="18" name="Text 16"/>
          <p:cNvSpPr/>
          <p:nvPr/>
        </p:nvSpPr>
        <p:spPr>
          <a:xfrm>
            <a:off x="4663440" y="12344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74920" y="118872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Check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663440" y="15544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セッション時間・離脱率を計測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858000" y="1188720"/>
            <a:ext cx="365760" cy="365760"/>
          </a:xfrm>
          <a:prstGeom prst="ellipse">
            <a:avLst/>
          </a:prstGeom>
          <a:solidFill>
            <a:srgbClr val="297593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0" y="12344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269480" y="118872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Act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858000" y="15544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効果の高いパターンを全体に展開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74320" y="2194560"/>
            <a:ext cx="8595360" cy="640080"/>
          </a:xfrm>
          <a:prstGeom prst="rect">
            <a:avLst/>
          </a:prstGeom>
          <a:solidFill>
            <a:srgbClr val="F0FFF4"/>
          </a:solidFill>
          <a:ln w="12700">
            <a:solidFill>
              <a:srgbClr val="70AD4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2331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0AD4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✓ 結果: 平均視聴時間が大幅向上（気づいたら1時間YouTubeを見ていた...）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274320" y="3017520"/>
            <a:ext cx="8595360" cy="914400"/>
          </a:xfrm>
          <a:prstGeom prst="rect">
            <a:avLst/>
          </a:prstGeom>
          <a:solidFill>
            <a:srgbClr val="E8F4F8"/>
          </a:solidFill>
          <a:ln w="12700">
            <a:solidFill>
              <a:srgbClr val="29759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30632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9759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💡 学び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65760" y="33375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「何を測るか」で行動が変わる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クリック数 → 視聴時間に変えたら、釣りタイトルではなく良質なコンテンツが増えた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4" name="Shape 2"/>
          <p:cNvSpPr/>
          <p:nvPr/>
        </p:nvSpPr>
        <p:spPr>
          <a:xfrm>
            <a:off x="18288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事例2: TikTok ー 目標と指標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137160" y="685800"/>
            <a:ext cx="8869680" cy="13716"/>
          </a:xfrm>
          <a:prstGeom prst="rect">
            <a:avLst/>
          </a:prstGeom>
          <a:solidFill>
            <a:srgbClr val="7F7F7F"/>
          </a:solidFill>
          <a:ln/>
        </p:spPr>
      </p:sp>
      <p:sp>
        <p:nvSpPr>
          <p:cNvPr id="8" name="Shape 6"/>
          <p:cNvSpPr/>
          <p:nvPr/>
        </p:nvSpPr>
        <p:spPr>
          <a:xfrm>
            <a:off x="274320" y="868680"/>
            <a:ext cx="8595360" cy="1280160"/>
          </a:xfrm>
          <a:prstGeom prst="rect">
            <a:avLst/>
          </a:prstGeom>
          <a:solidFill>
            <a:srgbClr val="E8F4F8"/>
          </a:solidFill>
          <a:ln w="12700">
            <a:solidFill>
              <a:srgbClr val="2975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9759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🎯 最終目標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1188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ユーザー数 × 利用時間の最大化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5760" y="16916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（多くの人に、長く使ってもらう）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2286000"/>
            <a:ext cx="8595360" cy="1188720"/>
          </a:xfrm>
          <a:prstGeom prst="rect">
            <a:avLst/>
          </a:prstGeom>
          <a:solidFill>
            <a:srgbClr val="F5F5F5"/>
          </a:solidFill>
          <a:ln w="12700">
            <a:solidFill>
              <a:srgbClr val="7F7F7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3317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📊 そのために伸ばしたい指標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2651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7日後の継続率（新規ユーザーが戻ってくるか）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1セッションの滞在時間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74320" y="384048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9759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→ 新規ユーザーをどう「ハマらせる」か？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4" name="Shape 2"/>
          <p:cNvSpPr/>
          <p:nvPr/>
        </p:nvSpPr>
        <p:spPr>
          <a:xfrm>
            <a:off x="18288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TikTok ー あなたならどうする？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137160" y="685800"/>
            <a:ext cx="8869680" cy="13716"/>
          </a:xfrm>
          <a:prstGeom prst="rect">
            <a:avLst/>
          </a:prstGeom>
          <a:solidFill>
            <a:srgbClr val="7F7F7F"/>
          </a:solidFill>
          <a:ln/>
        </p:spPr>
      </p:sp>
      <p:sp>
        <p:nvSpPr>
          <p:cNvPr id="8" name="Shape 6"/>
          <p:cNvSpPr/>
          <p:nvPr/>
        </p:nvSpPr>
        <p:spPr>
          <a:xfrm>
            <a:off x="274320" y="868680"/>
            <a:ext cx="4114800" cy="1097280"/>
          </a:xfrm>
          <a:prstGeom prst="rect">
            <a:avLst/>
          </a:prstGeom>
          <a:solidFill>
            <a:srgbClr val="FFF5F5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9144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53E3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👤 ペルソナ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1170432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スキマ時間を楽しみたい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Z世代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754880" y="868680"/>
            <a:ext cx="4114800" cy="1097280"/>
          </a:xfrm>
          <a:prstGeom prst="rect">
            <a:avLst/>
          </a:prstGeom>
          <a:solidFill>
            <a:srgbClr val="FFFAF0"/>
          </a:solidFill>
          <a:ln w="12700">
            <a:solidFill>
              <a:srgbClr val="DD6B2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9144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D6B2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❓ 課題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46320" y="1170432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短時間で自分好みの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コンテンツに出会いたい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74320" y="2194560"/>
            <a:ext cx="8595360" cy="1463040"/>
          </a:xfrm>
          <a:prstGeom prst="rect">
            <a:avLst/>
          </a:prstGeom>
          <a:solidFill>
            <a:srgbClr val="E8F4F8"/>
          </a:solidFill>
          <a:ln w="12700">
            <a:solidFill>
              <a:srgbClr val="29759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286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9759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🤔 考えてみよう（30秒）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2606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「興味があるか・ないか」を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どうやってデータで判断しますか？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57200" y="3291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💭 ヒント: ユーザーは「つまらない」とは言ってくれません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4" name="Shape 2"/>
          <p:cNvSpPr/>
          <p:nvPr/>
        </p:nvSpPr>
        <p:spPr>
          <a:xfrm>
            <a:off x="18288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TikTokの答え：仮説とデータ設計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137160" y="685800"/>
            <a:ext cx="8869680" cy="13716"/>
          </a:xfrm>
          <a:prstGeom prst="rect">
            <a:avLst/>
          </a:prstGeom>
          <a:solidFill>
            <a:srgbClr val="7F7F7F"/>
          </a:solidFill>
          <a:ln/>
        </p:spPr>
      </p:sp>
      <p:sp>
        <p:nvSpPr>
          <p:cNvPr id="8" name="Shape 6"/>
          <p:cNvSpPr/>
          <p:nvPr/>
        </p:nvSpPr>
        <p:spPr>
          <a:xfrm>
            <a:off x="274320" y="868680"/>
            <a:ext cx="8595360" cy="1005840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9144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💭 TikTokの仮説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1188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「いいね」を押さなくても判断できる。行動こそが本音。最初の3秒で興味がわかる！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74320" y="201168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📊 取得するデータと設計意図</a:t>
            </a:r>
            <a:endParaRPr lang="en-US" sz="11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286000"/>
          <a:ext cx="8595360" cy="1371600"/>
        </p:xfrm>
        <a:graphic>
          <a:graphicData uri="http://schemas.openxmlformats.org/drawingml/2006/table">
            <a:tbl>
              <a:tblPr/>
              <a:tblGrid>
                <a:gridCol w="2560320"/>
                <a:gridCol w="603504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データ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75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設計意図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7593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視聴秒数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3秒以内のスワイプ = 興味なし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スワイプ速度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速いほど興味がない証拠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ループ再生回数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何度も見る = 価値のあるコンテンツ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シェア・保存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「人に見せたい」= 最高評価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4" name="Shape 2"/>
          <p:cNvSpPr/>
          <p:nvPr/>
        </p:nvSpPr>
        <p:spPr>
          <a:xfrm>
            <a:off x="18288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TikTokの実践：PDCAと結果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137160" y="685800"/>
            <a:ext cx="8869680" cy="13716"/>
          </a:xfrm>
          <a:prstGeom prst="rect">
            <a:avLst/>
          </a:prstGeom>
          <a:solidFill>
            <a:srgbClr val="7F7F7F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86868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🔄 PDCAサイクル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1188720"/>
            <a:ext cx="365760" cy="365760"/>
          </a:xfrm>
          <a:prstGeom prst="ellipse">
            <a:avLst/>
          </a:prstGeom>
          <a:solidFill>
            <a:srgbClr val="297593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" y="12344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P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85800" y="118872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Plan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74320" y="15544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新規ユーザーの7日後継続率を上げたい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468880" y="1188720"/>
            <a:ext cx="365760" cy="365760"/>
          </a:xfrm>
          <a:prstGeom prst="ellipse">
            <a:avLst/>
          </a:prstGeom>
          <a:solidFill>
            <a:srgbClr val="297593"/>
          </a:solidFill>
          <a:ln/>
        </p:spPr>
      </p:sp>
      <p:sp>
        <p:nvSpPr>
          <p:cNvPr id="14" name="Text 12"/>
          <p:cNvSpPr/>
          <p:nvPr/>
        </p:nvSpPr>
        <p:spPr>
          <a:xfrm>
            <a:off x="2468880" y="12344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880360" y="118872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Do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468880" y="15544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最初100本で多様なジャンルを表示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663440" y="1188720"/>
            <a:ext cx="365760" cy="365760"/>
          </a:xfrm>
          <a:prstGeom prst="ellipse">
            <a:avLst/>
          </a:prstGeom>
          <a:solidFill>
            <a:srgbClr val="297593"/>
          </a:solidFill>
          <a:ln/>
        </p:spPr>
      </p:sp>
      <p:sp>
        <p:nvSpPr>
          <p:cNvPr id="18" name="Text 16"/>
          <p:cNvSpPr/>
          <p:nvPr/>
        </p:nvSpPr>
        <p:spPr>
          <a:xfrm>
            <a:off x="4663440" y="12344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74920" y="118872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Check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663440" y="15544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翌日・7日後の再訪問率を計測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858000" y="1188720"/>
            <a:ext cx="365760" cy="365760"/>
          </a:xfrm>
          <a:prstGeom prst="ellipse">
            <a:avLst/>
          </a:prstGeom>
          <a:solidFill>
            <a:srgbClr val="297593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0" y="12344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269480" y="118872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Act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858000" y="15544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反応の良いジャンルに絞り込む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74320" y="2194560"/>
            <a:ext cx="8595360" cy="640080"/>
          </a:xfrm>
          <a:prstGeom prst="rect">
            <a:avLst/>
          </a:prstGeom>
          <a:solidFill>
            <a:srgbClr val="F0FFF4"/>
          </a:solidFill>
          <a:ln w="12700">
            <a:solidFill>
              <a:srgbClr val="70AD4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2331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0AD4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✓ 結果: 新規ユーザーでも数十分で好みを学習。気づいたら1時間経っていた...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274320" y="3017520"/>
            <a:ext cx="8595360" cy="914400"/>
          </a:xfrm>
          <a:prstGeom prst="rect">
            <a:avLst/>
          </a:prstGeom>
          <a:solidFill>
            <a:srgbClr val="E8F4F8"/>
          </a:solidFill>
          <a:ln w="12700">
            <a:solidFill>
              <a:srgbClr val="29759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30632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9759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💡 学び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65760" y="33375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ユーザーは「好き」と言わない、「つまらない」とも言わない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行動データから本音を読み取る設計が重要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4" name="Shape 2"/>
          <p:cNvSpPr/>
          <p:nvPr/>
        </p:nvSpPr>
        <p:spPr>
          <a:xfrm>
            <a:off x="18288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事例3: Amazon ー 目標と指標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137160" y="685800"/>
            <a:ext cx="8869680" cy="13716"/>
          </a:xfrm>
          <a:prstGeom prst="rect">
            <a:avLst/>
          </a:prstGeom>
          <a:solidFill>
            <a:srgbClr val="7F7F7F"/>
          </a:solidFill>
          <a:ln/>
        </p:spPr>
      </p:sp>
      <p:sp>
        <p:nvSpPr>
          <p:cNvPr id="8" name="Shape 6"/>
          <p:cNvSpPr/>
          <p:nvPr/>
        </p:nvSpPr>
        <p:spPr>
          <a:xfrm>
            <a:off x="274320" y="868680"/>
            <a:ext cx="8595360" cy="1280160"/>
          </a:xfrm>
          <a:prstGeom prst="rect">
            <a:avLst/>
          </a:prstGeom>
          <a:solidFill>
            <a:srgbClr val="E8F4F8"/>
          </a:solidFill>
          <a:ln w="12700">
            <a:solidFill>
              <a:srgbClr val="2975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9759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🎯 最終目標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1188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売上（GMV）の最大化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5760" y="16916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（ECサイトなので、とにかく売上を伸ばしたい）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2286000"/>
            <a:ext cx="8595360" cy="1188720"/>
          </a:xfrm>
          <a:prstGeom prst="rect">
            <a:avLst/>
          </a:prstGeom>
          <a:solidFill>
            <a:srgbClr val="F5F5F5"/>
          </a:solidFill>
          <a:ln w="12700">
            <a:solidFill>
              <a:srgbClr val="7F7F7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3317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📊 そのために伸ばしたい指標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2651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コンバージョン率（訪問した人が買う割合）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客単価（1回の購入金額）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74320" y="384048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9759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→ 「迷っている人」をどう後押しする？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4" name="Shape 2"/>
          <p:cNvSpPr/>
          <p:nvPr/>
        </p:nvSpPr>
        <p:spPr>
          <a:xfrm>
            <a:off x="18288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Amazon ー あなたならどうする？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137160" y="685800"/>
            <a:ext cx="8869680" cy="13716"/>
          </a:xfrm>
          <a:prstGeom prst="rect">
            <a:avLst/>
          </a:prstGeom>
          <a:solidFill>
            <a:srgbClr val="7F7F7F"/>
          </a:solidFill>
          <a:ln/>
        </p:spPr>
      </p:sp>
      <p:sp>
        <p:nvSpPr>
          <p:cNvPr id="8" name="Shape 6"/>
          <p:cNvSpPr/>
          <p:nvPr/>
        </p:nvSpPr>
        <p:spPr>
          <a:xfrm>
            <a:off x="274320" y="868680"/>
            <a:ext cx="4114800" cy="1097280"/>
          </a:xfrm>
          <a:prstGeom prst="rect">
            <a:avLst/>
          </a:prstGeom>
          <a:solidFill>
            <a:srgbClr val="FFF5F5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9144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53E3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👤 ペルソナ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1170432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買い物に迷っている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ユーザー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754880" y="868680"/>
            <a:ext cx="4114800" cy="1097280"/>
          </a:xfrm>
          <a:prstGeom prst="rect">
            <a:avLst/>
          </a:prstGeom>
          <a:solidFill>
            <a:srgbClr val="FFFAF0"/>
          </a:solidFill>
          <a:ln w="12700">
            <a:solidFill>
              <a:srgbClr val="DD6B2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9144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D6B2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❓ 課題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46320" y="1170432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何を買えばいいか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わからない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74320" y="2194560"/>
            <a:ext cx="8595360" cy="1463040"/>
          </a:xfrm>
          <a:prstGeom prst="rect">
            <a:avLst/>
          </a:prstGeom>
          <a:solidFill>
            <a:srgbClr val="E8F4F8"/>
          </a:solidFill>
          <a:ln w="12700">
            <a:solidFill>
              <a:srgbClr val="29759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286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9759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🤔 考えてみよう（30秒）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2606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「迷っている」を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どうやってデータで見抜きますか？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57200" y="3291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💭 ヒント: 「買った」データだけで十分でしょうか？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4" name="Shape 2"/>
          <p:cNvSpPr/>
          <p:nvPr/>
        </p:nvSpPr>
        <p:spPr>
          <a:xfrm>
            <a:off x="18288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Amazonの答え：仮説とデータ設計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137160" y="685800"/>
            <a:ext cx="8869680" cy="13716"/>
          </a:xfrm>
          <a:prstGeom prst="rect">
            <a:avLst/>
          </a:prstGeom>
          <a:solidFill>
            <a:srgbClr val="7F7F7F"/>
          </a:solidFill>
          <a:ln/>
        </p:spPr>
      </p:sp>
      <p:sp>
        <p:nvSpPr>
          <p:cNvPr id="8" name="Shape 6"/>
          <p:cNvSpPr/>
          <p:nvPr/>
        </p:nvSpPr>
        <p:spPr>
          <a:xfrm>
            <a:off x="274320" y="868680"/>
            <a:ext cx="8595360" cy="1005840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9144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💭 Amazonの仮説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1188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「買ったもの」だけでは足りない。「買わなかったもの」にヒントがある。カート放棄 = 興味はあるが決め手がない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74320" y="201168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📊 取得するデータと設計意図</a:t>
            </a:r>
            <a:endParaRPr lang="en-US" sz="11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286000"/>
          <a:ext cx="8595360" cy="1371600"/>
        </p:xfrm>
        <a:graphic>
          <a:graphicData uri="http://schemas.openxmlformats.org/drawingml/2006/table">
            <a:tbl>
              <a:tblPr/>
              <a:tblGrid>
                <a:gridCol w="2560320"/>
                <a:gridCol w="603504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データ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75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設計意図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7593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カート放棄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興味はあるが決め手がない → リマインド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レビュー閲覧時間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長いほど迷っている → 追加情報で後押し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類似ユーザーの購入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「次に買うもの」を予測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閲覧順序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比較検討の流れを把握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4" name="Shape 2"/>
          <p:cNvSpPr/>
          <p:nvPr/>
        </p:nvSpPr>
        <p:spPr>
          <a:xfrm>
            <a:off x="18288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Amazonの実践：PDCAと結果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137160" y="685800"/>
            <a:ext cx="8869680" cy="13716"/>
          </a:xfrm>
          <a:prstGeom prst="rect">
            <a:avLst/>
          </a:prstGeom>
          <a:solidFill>
            <a:srgbClr val="7F7F7F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86868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🔄 PDCAサイクル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1188720"/>
            <a:ext cx="365760" cy="365760"/>
          </a:xfrm>
          <a:prstGeom prst="ellipse">
            <a:avLst/>
          </a:prstGeom>
          <a:solidFill>
            <a:srgbClr val="297593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" y="12344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P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85800" y="118872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Plan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74320" y="15544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コンバージョン率を5%向上させる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468880" y="1188720"/>
            <a:ext cx="365760" cy="365760"/>
          </a:xfrm>
          <a:prstGeom prst="ellipse">
            <a:avLst/>
          </a:prstGeom>
          <a:solidFill>
            <a:srgbClr val="297593"/>
          </a:solidFill>
          <a:ln/>
        </p:spPr>
      </p:sp>
      <p:sp>
        <p:nvSpPr>
          <p:cNvPr id="14" name="Text 12"/>
          <p:cNvSpPr/>
          <p:nvPr/>
        </p:nvSpPr>
        <p:spPr>
          <a:xfrm>
            <a:off x="2468880" y="12344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880360" y="118872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Do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468880" y="15544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レコメンド表示位置をA/Bテスト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663440" y="1188720"/>
            <a:ext cx="365760" cy="365760"/>
          </a:xfrm>
          <a:prstGeom prst="ellipse">
            <a:avLst/>
          </a:prstGeom>
          <a:solidFill>
            <a:srgbClr val="297593"/>
          </a:solidFill>
          <a:ln/>
        </p:spPr>
      </p:sp>
      <p:sp>
        <p:nvSpPr>
          <p:cNvPr id="18" name="Text 16"/>
          <p:cNvSpPr/>
          <p:nvPr/>
        </p:nvSpPr>
        <p:spPr>
          <a:xfrm>
            <a:off x="4663440" y="12344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74920" y="118872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Check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663440" y="15544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CTR・購入率・客単価を計測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858000" y="1188720"/>
            <a:ext cx="365760" cy="365760"/>
          </a:xfrm>
          <a:prstGeom prst="ellipse">
            <a:avLst/>
          </a:prstGeom>
          <a:solidFill>
            <a:srgbClr val="297593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0" y="12344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269480" y="118872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Act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858000" y="15544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効果の高い組合せを本番適用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74320" y="2194560"/>
            <a:ext cx="8595360" cy="640080"/>
          </a:xfrm>
          <a:prstGeom prst="rect">
            <a:avLst/>
          </a:prstGeom>
          <a:solidFill>
            <a:srgbClr val="F0FFF4"/>
          </a:solidFill>
          <a:ln w="12700">
            <a:solidFill>
              <a:srgbClr val="70AD4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2331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0AD4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✓ 結果: 売上の35%がレコメンド経由（公式発表数字）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274320" y="3017520"/>
            <a:ext cx="8595360" cy="914400"/>
          </a:xfrm>
          <a:prstGeom prst="rect">
            <a:avLst/>
          </a:prstGeom>
          <a:solidFill>
            <a:srgbClr val="E8F4F8"/>
          </a:solidFill>
          <a:ln w="12700">
            <a:solidFill>
              <a:srgbClr val="29759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30632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9759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💡 学び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65760" y="33375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「買わなかった」データこそ宝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成功データだけでなく、失敗・離脱のデータから改善のヒントが見つかる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4" name="Shape 2"/>
          <p:cNvSpPr/>
          <p:nvPr/>
        </p:nvSpPr>
        <p:spPr>
          <a:xfrm>
            <a:off x="18288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今日は皆さんがデータを使う側に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137160" y="685800"/>
            <a:ext cx="8869680" cy="13716"/>
          </a:xfrm>
          <a:prstGeom prst="rect">
            <a:avLst/>
          </a:prstGeom>
          <a:solidFill>
            <a:srgbClr val="7F7F7F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0058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YouTube/TikTok/Amazon と同じ流れで考える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57200" y="1463040"/>
            <a:ext cx="8229600" cy="7315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55448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[課題] → [データ] → [アプローチ]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何を解決？   何を使う？   どうやって？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2377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今日のアイデアソンでは: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7200" y="2697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皆さんはデータを理解し、アプローチを考える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3291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9759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→ この講義では「データ」の部分を理解 → BIツールで可視化できるようになる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4" name="Shape 2"/>
          <p:cNvSpPr/>
          <p:nvPr/>
        </p:nvSpPr>
        <p:spPr>
          <a:xfrm>
            <a:off x="18288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今日使うデータセット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137160" y="685800"/>
            <a:ext cx="8869680" cy="13716"/>
          </a:xfrm>
          <a:prstGeom prst="rect">
            <a:avLst/>
          </a:prstGeom>
          <a:solidFill>
            <a:srgbClr val="7F7F7F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どちらかを選んで取り組みます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74320" y="1371600"/>
            <a:ext cx="4206240" cy="2103120"/>
          </a:xfrm>
          <a:prstGeom prst="rect">
            <a:avLst/>
          </a:prstGeom>
          <a:solidFill>
            <a:srgbClr val="E8F4F8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141732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9759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A. スポーツデータ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65760" y="1691640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（データスタジアム提供）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60" y="2011680"/>
            <a:ext cx="4023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プロ野球</a:t>
            </a:r>
            <a:endParaRPr lang="en-US" sz="12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Jリーグサッカー</a:t>
            </a:r>
            <a:endParaRPr lang="en-US" sz="12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Bリーグバスケ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63440" y="1371600"/>
            <a:ext cx="4206240" cy="21031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4" name="Text 12"/>
          <p:cNvSpPr/>
          <p:nvPr/>
        </p:nvSpPr>
        <p:spPr>
          <a:xfrm>
            <a:off x="4754880" y="141732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B. 地域・事業所データ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754880" y="1691640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（iタウンページ提供）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754880" y="2011680"/>
            <a:ext cx="4023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標準出力データ（個票）</a:t>
            </a:r>
            <a:endParaRPr lang="en-US" sz="12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統計情報データ（集計）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74320" y="365760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9759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→ チームごとにデータを選び、課題解決に取り組む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4" name="Shape 2"/>
          <p:cNvSpPr/>
          <p:nvPr/>
        </p:nvSpPr>
        <p:spPr>
          <a:xfrm>
            <a:off x="18288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プロ野球データ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137160" y="685800"/>
            <a:ext cx="8869680" cy="13716"/>
          </a:xfrm>
          <a:prstGeom prst="rect">
            <a:avLst/>
          </a:prstGeom>
          <a:solidFill>
            <a:srgbClr val="7F7F7F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どんなデータがあるか</a:t>
            </a:r>
            <a:endParaRPr lang="en-US" sz="16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371600"/>
          <a:ext cx="8595360" cy="1371600"/>
        </p:xfrm>
        <a:graphic>
          <a:graphicData uri="http://schemas.openxmlformats.org/drawingml/2006/table">
            <a:tbl>
              <a:tblPr/>
              <a:tblGrid>
                <a:gridCol w="2286000"/>
                <a:gridCol w="6309360"/>
              </a:tblGrid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データ種類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75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内容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7593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試合データ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観客動員数、対戦カード、見どころ、戦評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選手成績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打者44項目、投手150項目以上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イベントデータ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投球位置・打球位置の座標、打球の強さ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457200" y="29260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9759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可視化アイデア: 打球位置ヒートマップ、得意コースの分析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4" name="Shape 2"/>
          <p:cNvSpPr/>
          <p:nvPr/>
        </p:nvSpPr>
        <p:spPr>
          <a:xfrm>
            <a:off x="18288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Jリーグサッカーデータ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137160" y="685800"/>
            <a:ext cx="8869680" cy="13716"/>
          </a:xfrm>
          <a:prstGeom prst="rect">
            <a:avLst/>
          </a:prstGeom>
          <a:solidFill>
            <a:srgbClr val="7F7F7F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トラッキングデータ: 秒間25フレームで全選手の位置を記録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1371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9759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1試合のデータ量: 約300万レコード</a:t>
            </a:r>
            <a:endParaRPr lang="en-US" sz="14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737360"/>
          <a:ext cx="8595360" cy="1188720"/>
        </p:xfrm>
        <a:graphic>
          <a:graphicData uri="http://schemas.openxmlformats.org/drawingml/2006/table">
            <a:tbl>
              <a:tblPr/>
              <a:tblGrid>
                <a:gridCol w="1828800"/>
                <a:gridCol w="6766560"/>
              </a:tblGrid>
              <a:tr h="2971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プレー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75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記録内容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7593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ゴール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シュート位置、ゴール位置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パス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方向、距離、成功率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ドリブル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開始位置、成功/失敗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8"/>
          <p:cNvSpPr/>
          <p:nvPr/>
        </p:nvSpPr>
        <p:spPr>
          <a:xfrm>
            <a:off x="457200" y="3108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9759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可視化アイデア: 選手の走行ルート、ヒートマップ、パスネットワーク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4" name="Shape 2"/>
          <p:cNvSpPr/>
          <p:nvPr/>
        </p:nvSpPr>
        <p:spPr>
          <a:xfrm>
            <a:off x="18288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Bリーグバスケデータ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137160" y="685800"/>
            <a:ext cx="8869680" cy="13716"/>
          </a:xfrm>
          <a:prstGeom prst="rect">
            <a:avLst/>
          </a:prstGeom>
          <a:solidFill>
            <a:srgbClr val="7F7F7F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シュート位置が座標で記録される</a:t>
            </a:r>
            <a:endParaRPr lang="en-US" sz="14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371600"/>
          <a:ext cx="8595360" cy="1188720"/>
        </p:xfrm>
        <a:graphic>
          <a:graphicData uri="http://schemas.openxmlformats.org/drawingml/2006/table">
            <a:tbl>
              <a:tblPr/>
              <a:tblGrid>
                <a:gridCol w="1828800"/>
                <a:gridCol w="6766560"/>
              </a:tblGrid>
              <a:tr h="2971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項目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75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内容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7593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座標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X座標、Y座標（0〜100）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アクション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3P成功/失敗、2P、ダンク等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選手成績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得点、3P、アシスト、リバウンド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9759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可視化アイデア: シュートチャート、エリア別成功率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4" name="Shape 2"/>
          <p:cNvSpPr/>
          <p:nvPr/>
        </p:nvSpPr>
        <p:spPr>
          <a:xfrm>
            <a:off x="18288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iタウンページデータ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137160" y="685800"/>
            <a:ext cx="8869680" cy="13716"/>
          </a:xfrm>
          <a:prstGeom prst="rect">
            <a:avLst/>
          </a:prstGeom>
          <a:solidFill>
            <a:srgbClr val="7F7F7F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地域の事業所・商圏データ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74320" y="1371600"/>
            <a:ext cx="4114800" cy="1645920"/>
          </a:xfrm>
          <a:prstGeom prst="rect">
            <a:avLst/>
          </a:prstGeom>
          <a:solidFill>
            <a:srgbClr val="E8F4F8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141732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標準出力データ（個票）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1737360"/>
            <a:ext cx="3931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事業所名（カナ・漢字）</a:t>
            </a:r>
            <a:endParaRPr lang="en-US" sz="11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住所情報（都道府県〜番地）</a:t>
            </a:r>
            <a:endParaRPr lang="en-US" sz="11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業種分類（64分類）</a:t>
            </a:r>
            <a:endParaRPr lang="en-US" sz="11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電話番号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1371600"/>
            <a:ext cx="4114800" cy="16459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3" name="Text 11"/>
          <p:cNvSpPr/>
          <p:nvPr/>
        </p:nvSpPr>
        <p:spPr>
          <a:xfrm>
            <a:off x="4846320" y="141732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統計情報データ（集計）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46320" y="1737360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地域（住所コード）</a:t>
            </a:r>
            <a:endParaRPr lang="en-US" sz="11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業種（基本・TP分類）</a:t>
            </a:r>
            <a:endParaRPr lang="en-US" sz="11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件数（該当事業所数）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74320" y="320040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9759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使い分け: 個別店舗を探す→標準出力 / 地域分析→統計情報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4" name="Shape 2"/>
          <p:cNvSpPr/>
          <p:nvPr/>
        </p:nvSpPr>
        <p:spPr>
          <a:xfrm>
            <a:off x="18288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ペルソナ：田中 誠一さん（58歳・男性）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137160" y="685800"/>
            <a:ext cx="8869680" cy="13716"/>
          </a:xfrm>
          <a:prstGeom prst="rect">
            <a:avLst/>
          </a:prstGeom>
          <a:solidFill>
            <a:srgbClr val="7F7F7F"/>
          </a:solidFill>
          <a:ln/>
        </p:spPr>
      </p:sp>
      <p:sp>
        <p:nvSpPr>
          <p:cNvPr id="8" name="Shape 6"/>
          <p:cNvSpPr/>
          <p:nvPr/>
        </p:nvSpPr>
        <p:spPr>
          <a:xfrm>
            <a:off x="274320" y="914400"/>
            <a:ext cx="4206240" cy="1828800"/>
          </a:xfrm>
          <a:prstGeom prst="rect">
            <a:avLst/>
          </a:prstGeom>
          <a:solidFill>
            <a:srgbClr val="E8F4F8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96012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9759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■ 基本情報</a:t>
            </a:r>
            <a:endParaRPr lang="en-US" sz="12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34440"/>
          <a:ext cx="4023360" cy="1371600"/>
        </p:xfrm>
        <a:graphic>
          <a:graphicData uri="http://schemas.openxmlformats.org/drawingml/2006/table">
            <a:tbl>
              <a:tblPr/>
              <a:tblGrid>
                <a:gridCol w="1097280"/>
                <a:gridCol w="2926080"/>
              </a:tblGrid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居住地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札幌市中央区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出身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北海道・旭川市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家族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妻（55歳）、長女（28歳・東京）、長男（25歳・札幌IT企業）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学歴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調理師専門学校卒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4663440" y="914400"/>
            <a:ext cx="4206240" cy="18288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2" name="Text 9"/>
          <p:cNvSpPr/>
          <p:nvPr/>
        </p:nvSpPr>
        <p:spPr>
          <a:xfrm>
            <a:off x="4754880" y="96012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9759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■ 仕事</a:t>
            </a:r>
            <a:endParaRPr lang="en-US" sz="1200" dirty="0"/>
          </a:p>
        </p:txBody>
      </p:sp>
      <p:graphicFrame>
        <p:nvGraphicFramePr>
          <p:cNvPr id="4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1234440"/>
          <a:ext cx="4023360" cy="1371600"/>
        </p:xfrm>
        <a:graphic>
          <a:graphicData uri="http://schemas.openxmlformats.org/drawingml/2006/table">
            <a:tbl>
              <a:tblPr/>
              <a:tblGrid>
                <a:gridCol w="1097280"/>
                <a:gridCol w="2926080"/>
              </a:tblGrid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職業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居酒屋「田中屋」オーナー兼料理長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業態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和食居酒屋（32席）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営業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15年目（2011年開業）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従業員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パート2名、アルバイト3名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4" name="Text 10"/>
          <p:cNvSpPr/>
          <p:nvPr/>
        </p:nvSpPr>
        <p:spPr>
          <a:xfrm>
            <a:off x="274320" y="283464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9759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■ 経歴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274320" y="306324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20代：旭川ホテルで修行 → 30代：札幌の料亭で副料理長 → 43歳：独立開業 → 現在：2号店検討中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274320" y="3429000"/>
            <a:ext cx="8595360" cy="82296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17" name="Text 13"/>
          <p:cNvSpPr/>
          <p:nvPr/>
        </p:nvSpPr>
        <p:spPr>
          <a:xfrm>
            <a:off x="457200" y="3520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「2号店を出したい。でも、どこに出せば競合が少なく勝てるのか...」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457200" y="3886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課題：競合店の場所がわからない / エリアごとの特徴が見えない / 「勘」ではなく「データ」で判断したい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4" name="Shape 2"/>
          <p:cNvSpPr/>
          <p:nvPr/>
        </p:nvSpPr>
        <p:spPr>
          <a:xfrm>
            <a:off x="18288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データの共通構造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137160" y="685800"/>
            <a:ext cx="8869680" cy="13716"/>
          </a:xfrm>
          <a:prstGeom prst="rect">
            <a:avLst/>
          </a:prstGeom>
          <a:solidFill>
            <a:srgbClr val="7F7F7F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IDでデータがつながる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914400" y="1463040"/>
            <a:ext cx="2011680" cy="640080"/>
          </a:xfrm>
          <a:prstGeom prst="roundRect">
            <a:avLst>
              <a:gd name="adj" fmla="val 14286"/>
            </a:avLst>
          </a:prstGeom>
          <a:solidFill>
            <a:srgbClr val="297593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15544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選手ID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474720" y="1463040"/>
            <a:ext cx="2011680" cy="640080"/>
          </a:xfrm>
          <a:prstGeom prst="roundRect">
            <a:avLst>
              <a:gd name="adj" fmla="val 14286"/>
            </a:avLst>
          </a:prstGeom>
          <a:solidFill>
            <a:srgbClr val="297593"/>
          </a:solidFill>
          <a:ln/>
        </p:spPr>
      </p:sp>
      <p:sp>
        <p:nvSpPr>
          <p:cNvPr id="12" name="Text 10"/>
          <p:cNvSpPr/>
          <p:nvPr/>
        </p:nvSpPr>
        <p:spPr>
          <a:xfrm>
            <a:off x="3474720" y="15544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チームID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035040" y="1463040"/>
            <a:ext cx="2011680" cy="640080"/>
          </a:xfrm>
          <a:prstGeom prst="roundRect">
            <a:avLst>
              <a:gd name="adj" fmla="val 14286"/>
            </a:avLst>
          </a:prstGeom>
          <a:solidFill>
            <a:srgbClr val="297593"/>
          </a:solidFill>
          <a:ln/>
        </p:spPr>
      </p:sp>
      <p:sp>
        <p:nvSpPr>
          <p:cNvPr id="14" name="Text 12"/>
          <p:cNvSpPr/>
          <p:nvPr/>
        </p:nvSpPr>
        <p:spPr>
          <a:xfrm>
            <a:off x="6035040" y="15544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試合ID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23774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例: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26517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「選手Aの今シーズンの全本塁打」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「チームBのホーム試合の観客動員数」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「試合Cでの全シュート位置」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3749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9759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→ IDでデータを組み合わせると、新しい発見ができる</a:t>
            </a:r>
            <a:endParaRPr lang="en-US" sz="1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4" name="Shape 2"/>
          <p:cNvSpPr/>
          <p:nvPr/>
        </p:nvSpPr>
        <p:spPr>
          <a:xfrm>
            <a:off x="18288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BIツールとは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137160" y="685800"/>
            <a:ext cx="8869680" cy="13716"/>
          </a:xfrm>
          <a:prstGeom prst="rect">
            <a:avLst/>
          </a:prstGeom>
          <a:solidFill>
            <a:srgbClr val="7F7F7F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BI = Business Intelligence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57200" y="1463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データを可視化して意思決定を支援するツール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1920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できること: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22402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データをグラフ・チャートで表示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フィルターで絞り込み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ダッシュボードとして共有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286000" y="3383280"/>
            <a:ext cx="4572000" cy="54864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13" name="Text 11"/>
          <p:cNvSpPr/>
          <p:nvPr/>
        </p:nvSpPr>
        <p:spPr>
          <a:xfrm>
            <a:off x="2286000" y="34747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今日使うツール: Looker Studio</a:t>
            </a:r>
            <a:endParaRPr lang="en-US" sz="16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4" name="Shape 2"/>
          <p:cNvSpPr/>
          <p:nvPr/>
        </p:nvSpPr>
        <p:spPr>
          <a:xfrm>
            <a:off x="18288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Looker Studio - 基本操作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137160" y="685800"/>
            <a:ext cx="8869680" cy="13716"/>
          </a:xfrm>
          <a:prstGeom prst="rect">
            <a:avLst/>
          </a:prstGeom>
          <a:solidFill>
            <a:srgbClr val="7F7F7F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グラフ作成の4ステップ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444752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9759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Step 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554480" y="1444752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データ接続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474720" y="1444752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データソースを選択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011680"/>
            <a:ext cx="822960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2084832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9759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Step 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554480" y="2084832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グラフ追加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474720" y="2084832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グラフの種類を選択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2651760"/>
            <a:ext cx="8229600" cy="54864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2724912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9759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Step 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554480" y="2724912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項目設定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474720" y="2724912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ディメンション（分類軸）と指標（値）を設定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3291840"/>
            <a:ext cx="822960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3364992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9759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Step 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554480" y="3364992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スタイル調整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474720" y="3364992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色・サイズ・ラベルを調整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200" y="3749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9759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ポイント: ドラッグ&amp;ドロップで直感的に操作</a:t>
            </a:r>
            <a:endParaRPr lang="en-US" sz="13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4" name="Shape 2"/>
          <p:cNvSpPr/>
          <p:nvPr/>
        </p:nvSpPr>
        <p:spPr>
          <a:xfrm>
            <a:off x="18288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グラフの種類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137160" y="685800"/>
            <a:ext cx="8869680" cy="13716"/>
          </a:xfrm>
          <a:prstGeom prst="rect">
            <a:avLst/>
          </a:prstGeom>
          <a:solidFill>
            <a:srgbClr val="7F7F7F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よく使う4つのグラフ</a:t>
            </a:r>
            <a:endParaRPr lang="en-US" sz="16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371600"/>
          <a:ext cx="8595360" cy="1645920"/>
        </p:xfrm>
        <a:graphic>
          <a:graphicData uri="http://schemas.openxmlformats.org/drawingml/2006/table">
            <a:tbl>
              <a:tblPr/>
              <a:tblGrid>
                <a:gridCol w="2286000"/>
                <a:gridCol w="2743200"/>
                <a:gridCol w="356616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グラフ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75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用途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75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例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7593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棒グラフ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カテゴリ比較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チーム別得点数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折れ線グラフ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時系列変化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月別観客動員数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円グラフ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構成比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ポジション別人数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散布図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相関関係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身長×体重の分布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ハンズオン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実際に触ってみよう！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3474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課題: Bリーグ選手成績データで棒グラフを作成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3931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時間: 15分</a:t>
            </a:r>
            <a:endParaRPr lang="en-US" sz="14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4" name="Shape 2"/>
          <p:cNvSpPr/>
          <p:nvPr/>
        </p:nvSpPr>
        <p:spPr>
          <a:xfrm>
            <a:off x="18288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ハンズオン手順（1/4）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137160" y="685800"/>
            <a:ext cx="8869680" cy="13716"/>
          </a:xfrm>
          <a:prstGeom prst="rect">
            <a:avLst/>
          </a:prstGeom>
          <a:solidFill>
            <a:srgbClr val="7F7F7F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Step 1: 準備済みのレポートを開く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155448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配布されたURLをクリック</a:t>
            </a:r>
            <a:endParaRPr lang="en-US" sz="1600" dirty="0"/>
          </a:p>
          <a:p>
            <a:pPr marL="342900" indent="-342900">
              <a:lnSpc>
                <a:spcPct val="150000"/>
              </a:lnSpc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Googleアカウントでログイン</a:t>
            </a:r>
            <a:endParaRPr lang="en-US" sz="1600" dirty="0"/>
          </a:p>
          <a:p>
            <a:pPr marL="342900" indent="-342900">
              <a:lnSpc>
                <a:spcPct val="150000"/>
              </a:lnSpc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レポートが開いたら準備完了</a:t>
            </a:r>
            <a:endParaRPr lang="en-US" sz="16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4" name="Shape 2"/>
          <p:cNvSpPr/>
          <p:nvPr/>
        </p:nvSpPr>
        <p:spPr>
          <a:xfrm>
            <a:off x="18288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ハンズオン手順（2/4）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137160" y="685800"/>
            <a:ext cx="8869680" cy="13716"/>
          </a:xfrm>
          <a:prstGeom prst="rect">
            <a:avLst/>
          </a:prstGeom>
          <a:solidFill>
            <a:srgbClr val="7F7F7F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Step 2: データを確認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155448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すでにデータが接続されています</a:t>
            </a:r>
            <a:endParaRPr lang="en-US" sz="1600" dirty="0"/>
          </a:p>
          <a:p>
            <a:pPr marL="342900" indent="-342900">
              <a:lnSpc>
                <a:spcPct val="150000"/>
              </a:lnSpc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左側のパネルでデータ項目を確認</a:t>
            </a:r>
            <a:endParaRPr lang="en-US" sz="1600" dirty="0"/>
          </a:p>
          <a:p>
            <a:pPr marL="342900" indent="-342900">
              <a:lnSpc>
                <a:spcPct val="150000"/>
              </a:lnSpc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どんな項目があるか見てみましょう</a:t>
            </a:r>
            <a:endParaRPr lang="en-US" sz="16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4" name="Shape 2"/>
          <p:cNvSpPr/>
          <p:nvPr/>
        </p:nvSpPr>
        <p:spPr>
          <a:xfrm>
            <a:off x="18288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ハンズオン手順（3/4）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137160" y="685800"/>
            <a:ext cx="8869680" cy="13716"/>
          </a:xfrm>
          <a:prstGeom prst="rect">
            <a:avLst/>
          </a:prstGeom>
          <a:solidFill>
            <a:srgbClr val="7F7F7F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Step 3: 棒グラフを追加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15544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「グラフを追加」→「棒グラフ」を選択</a:t>
            </a:r>
            <a:endParaRPr lang="en-US" sz="1600" dirty="0"/>
          </a:p>
          <a:p>
            <a:pPr marL="342900" indent="-342900">
              <a:lnSpc>
                <a:spcPct val="150000"/>
              </a:lnSpc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キャンバスにドラッグして配置</a:t>
            </a:r>
            <a:endParaRPr lang="en-US" sz="1600" dirty="0"/>
          </a:p>
          <a:p>
            <a:pPr marL="342900" indent="-342900">
              <a:lnSpc>
                <a:spcPct val="150000"/>
              </a:lnSpc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右側パネルで設定: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371600" y="2834640"/>
            <a:ext cx="6400800" cy="914400"/>
          </a:xfrm>
          <a:prstGeom prst="rect">
            <a:avLst/>
          </a:prstGeom>
          <a:solidFill>
            <a:srgbClr val="E8F4F8"/>
          </a:solidFill>
          <a:ln/>
        </p:spPr>
      </p:sp>
      <p:sp>
        <p:nvSpPr>
          <p:cNvPr id="11" name="Text 9"/>
          <p:cNvSpPr/>
          <p:nvPr/>
        </p:nvSpPr>
        <p:spPr>
          <a:xfrm>
            <a:off x="1554480" y="2971800"/>
            <a:ext cx="6035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9759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ディメンション: 選手名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29759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指標: 得点</a:t>
            </a:r>
            <a:endParaRPr lang="en-US" sz="16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4" name="Shape 2"/>
          <p:cNvSpPr/>
          <p:nvPr/>
        </p:nvSpPr>
        <p:spPr>
          <a:xfrm>
            <a:off x="18288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ハンズオン手順（4/4）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137160" y="685800"/>
            <a:ext cx="8869680" cy="13716"/>
          </a:xfrm>
          <a:prstGeom prst="rect">
            <a:avLst/>
          </a:prstGeom>
          <a:solidFill>
            <a:srgbClr val="7F7F7F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Step 4: 見た目を調整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155448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「スタイル」タブをクリック</a:t>
            </a:r>
            <a:endParaRPr lang="en-US" sz="1600" dirty="0"/>
          </a:p>
          <a:p>
            <a:pPr marL="342900" indent="-342900">
              <a:lnSpc>
                <a:spcPct val="150000"/>
              </a:lnSpc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棒の色を変更</a:t>
            </a:r>
            <a:endParaRPr lang="en-US" sz="1600" dirty="0"/>
          </a:p>
          <a:p>
            <a:pPr marL="342900" indent="-342900">
              <a:lnSpc>
                <a:spcPct val="150000"/>
              </a:lnSpc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タイトルを追加:「選手別得点数」</a:t>
            </a:r>
            <a:endParaRPr lang="en-US" sz="1600" dirty="0"/>
          </a:p>
          <a:p>
            <a:pPr marL="342900" indent="-342900">
              <a:lnSpc>
                <a:spcPct val="150000"/>
              </a:lnSpc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並び替え: 得点の降順に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200400" y="34747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70AD4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完成！</a:t>
            </a:r>
            <a:endParaRPr lang="en-US" sz="24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4" name="Shape 2"/>
          <p:cNvSpPr/>
          <p:nvPr/>
        </p:nvSpPr>
        <p:spPr>
          <a:xfrm>
            <a:off x="18288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発展課題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137160" y="685800"/>
            <a:ext cx="8869680" cy="13716"/>
          </a:xfrm>
          <a:prstGeom prst="rect">
            <a:avLst/>
          </a:prstGeom>
          <a:solidFill>
            <a:srgbClr val="7F7F7F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早く終わった人向け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444752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チャレンジ1: チーム別に色分け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1764792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ディメンションに「チーム名」を追加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194560"/>
            <a:ext cx="8229600" cy="7315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267712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チャレンジ2: 平均線を追加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48640" y="2587752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リファレンスラインを設定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017520"/>
            <a:ext cx="8229600" cy="7315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3090672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チャレンジ3: フィルターを追加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48640" y="3410712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特定のチームだけ表示</a:t>
            </a:r>
            <a:endParaRPr lang="en-US" sz="12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4" name="Shape 2"/>
          <p:cNvSpPr/>
          <p:nvPr/>
        </p:nvSpPr>
        <p:spPr>
          <a:xfrm>
            <a:off x="18288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振り返り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137160" y="685800"/>
            <a:ext cx="8869680" cy="13716"/>
          </a:xfrm>
          <a:prstGeom prst="rect">
            <a:avLst/>
          </a:prstGeom>
          <a:solidFill>
            <a:srgbClr val="7F7F7F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今日学んだこと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1371600"/>
            <a:ext cx="411480" cy="411480"/>
          </a:xfrm>
          <a:prstGeom prst="ellipse">
            <a:avLst/>
          </a:prstGeom>
          <a:solidFill>
            <a:srgbClr val="70AD47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417320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05840" y="13716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身近なデータ活用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05840" y="16916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YouTube/TikTok/Amazon はデータ分析で皆さんを理解している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194560"/>
            <a:ext cx="411480" cy="411480"/>
          </a:xfrm>
          <a:prstGeom prst="ellipse">
            <a:avLst/>
          </a:prstGeom>
          <a:solidFill>
            <a:srgbClr val="70AD47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240280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05840" y="21945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データセットの理解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05840" y="25146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位置情報・成績・試合情報がIDで紐付いている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3017520"/>
            <a:ext cx="411480" cy="411480"/>
          </a:xfrm>
          <a:prstGeom prst="ellipse">
            <a:avLst/>
          </a:prstGeom>
          <a:solidFill>
            <a:srgbClr val="70AD47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3063240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05840" y="3017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BIツールの基本操作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05840" y="33375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Looker Studioでグラフが作れるようになった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3840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9759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→ 皆さんも「データを使う側」になれた！</a:t>
            </a:r>
            <a:endParaRPr lang="en-US" sz="14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4" name="Shape 2"/>
          <p:cNvSpPr/>
          <p:nvPr/>
        </p:nvSpPr>
        <p:spPr>
          <a:xfrm>
            <a:off x="18288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" y="137160"/>
            <a:ext cx="2286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次のワークへ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137160" y="685800"/>
            <a:ext cx="8869680" cy="13716"/>
          </a:xfrm>
          <a:prstGeom prst="rect">
            <a:avLst/>
          </a:prstGeom>
          <a:solidFill>
            <a:srgbClr val="7F7F7F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「データをどう活かすか？」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15544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次のワークでは: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192024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6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チームでアイデアを出し合う</a:t>
            </a:r>
            <a:endParaRPr lang="en-US" sz="16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6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データを可視化してみる</a:t>
            </a:r>
            <a:endParaRPr lang="en-US" sz="16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6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発表に向けて準備する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7200" y="3200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9759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→ 今学んだことを活かして、アイデアを形にしよう！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eiryo U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eiryo U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35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データ利活用のススメ</dc:title>
  <dc:subject>PptxGenJS Presentation</dc:subject>
  <dc:creator>株式会社NTT DXパートナー</dc:creator>
  <cp:lastModifiedBy>株式会社NTT DXパートナー</cp:lastModifiedBy>
  <cp:revision>1</cp:revision>
  <dcterms:created xsi:type="dcterms:W3CDTF">2026-01-13T06:26:57Z</dcterms:created>
  <dcterms:modified xsi:type="dcterms:W3CDTF">2026-01-13T06:26:57Z</dcterms:modified>
</cp:coreProperties>
</file>