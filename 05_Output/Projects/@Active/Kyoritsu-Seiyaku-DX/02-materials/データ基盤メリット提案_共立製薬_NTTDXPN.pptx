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48" r:id="rId4"/>
  </p:sldMasterIdLst>
  <p:notesMasterIdLst>
    <p:notesMasterId r:id="rId10"/>
  </p:notesMasterIdLst>
  <p:sldIdLst>
    <p:sldId id="2147483643" r:id="rId17"/>
    <p:sldId id="2147483644" r:id="rId18"/>
    <p:sldId id="2147483645" r:id="rId19"/>
    <p:sldId id="2147483646" r:id="rId20"/>
    <p:sldId id="2147483647" r:id="rId21"/>
    <p:sldId id="256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91">
          <p15:clr>
            <a:srgbClr val="A4A3A4"/>
          </p15:clr>
        </p15:guide>
        <p15:guide id="2" pos="4454">
          <p15:clr>
            <a:srgbClr val="A4A3A4"/>
          </p15:clr>
        </p15:guide>
        <p15:guide id="3" pos="7151">
          <p15:clr>
            <a:srgbClr val="A4A3A4"/>
          </p15:clr>
        </p15:guide>
        <p15:guide id="4" pos="3868">
          <p15:clr>
            <a:srgbClr val="A4A3A4"/>
          </p15:clr>
        </p15:guide>
        <p15:guide id="5" pos="1912">
          <p15:clr>
            <a:srgbClr val="A4A3A4"/>
          </p15:clr>
        </p15:guide>
        <p15:guide id="6" pos="5654">
          <p15:clr>
            <a:srgbClr val="A4A3A4"/>
          </p15:clr>
        </p15:guide>
        <p15:guide id="7" orient="horz" pos="255">
          <p15:clr>
            <a:srgbClr val="A4A3A4"/>
          </p15:clr>
        </p15:guide>
        <p15:guide id="8" pos="529">
          <p15:clr>
            <a:srgbClr val="A4A3A4"/>
          </p15:clr>
        </p15:guide>
        <p15:guide id="9" orient="horz" pos="1548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h4h5J4htkfKnmxkYGPXs4wHcMr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97D"/>
    <a:srgbClr val="0070C0"/>
    <a:srgbClr val="558E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A9278B-4317-41A1-9AB5-AB686F4547F1}" v="3631" dt="2026-01-30T00:15:00.231"/>
    <p1510:client id="{9A67414F-32DB-4B19-B4AF-68D553B7A134}" v="2653" dt="2026-01-29T10:07:44.570"/>
  </p1510:revLst>
</p1510:revInfo>
</file>

<file path=ppt/tableStyles.xml><?xml version="1.0" encoding="utf-8"?>
<a:tblStyleLst xmlns:a="http://schemas.openxmlformats.org/drawingml/2006/main" def="{E2FA7166-3682-446A-8298-4BBEF3195E96}">
  <a:tblStyle styleId="{E2FA7166-3682-446A-8298-4BBEF3195E96}" styleName="Table_0">
    <a:wholeTbl>
      <a:tcTxStyle b="off" i="off">
        <a:font>
          <a:latin typeface="Meiryo UI"/>
          <a:ea typeface="Meiryo UI"/>
          <a:cs typeface="Meiryo U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Meiryo UI"/>
          <a:ea typeface="Meiryo UI"/>
          <a:cs typeface="Meiryo U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Meiryo UI"/>
          <a:ea typeface="Meiryo UI"/>
          <a:cs typeface="Meiryo U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Meiryo UI"/>
          <a:ea typeface="Meiryo UI"/>
          <a:cs typeface="Meiryo U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Meiryo UI"/>
          <a:ea typeface="Meiryo UI"/>
          <a:cs typeface="Meiryo U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9AA9010-57B6-4D30-953E-48C549008EF4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5726" autoAdjust="0"/>
  </p:normalViewPr>
  <p:slideViewPr>
    <p:cSldViewPr snapToGrid="0">
      <p:cViewPr varScale="1">
        <p:scale>
          <a:sx n="155" d="100"/>
          <a:sy n="155" d="100"/>
        </p:scale>
        <p:origin x="456" y="144"/>
      </p:cViewPr>
      <p:guideLst>
        <p:guide orient="horz" pos="391"/>
        <p:guide pos="4454"/>
        <p:guide pos="7151"/>
        <p:guide pos="3868"/>
        <p:guide pos="1912"/>
        <p:guide pos="5654"/>
        <p:guide orient="horz" pos="255"/>
        <p:guide pos="529"/>
        <p:guide orient="horz" pos="15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34" Type="http://customschemas.google.com/relationships/presentationmetadata" Target="meta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JP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JP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JP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>
              <a:defRPr b="0" i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algn="r">
              <a:buSzPts val="1200"/>
            </a:pPr>
            <a:fld id="{00000000-1234-1234-1234-123412341234}" type="slidenum">
              <a:rPr lang="en-US" altLang="ja-JP" sz="1200" smtClean="0">
                <a:solidFill>
                  <a:schemeClr val="dk1"/>
                </a:solidFill>
              </a:rPr>
              <a:pPr algn="r">
                <a:buSzPts val="1200"/>
              </a:pPr>
              <a:t>‹#›</a:t>
            </a:fld>
            <a:endParaRPr lang="ja-JP" altLang="en-US" sz="1200">
              <a:solidFill>
                <a:schemeClr val="dk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Meiryo" panose="020B0604030504040204" pitchFamily="34" charset="-128"/>
        <a:ea typeface="Meiryo" panose="020B0604030504040204" pitchFamily="34" charset="-128"/>
        <a:cs typeface="Arial"/>
        <a:sym typeface="Arial"/>
      </a:defRPr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3.メインペーパー">
  <p:cSld name="2_3.メインペーパー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JP"/>
          </a:p>
        </p:txBody>
      </p:sp>
      <p:sp>
        <p:nvSpPr>
          <p:cNvPr id="17" name="Google Shape;1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JP"/>
          </a:p>
        </p:txBody>
      </p:sp>
      <p:sp>
        <p:nvSpPr>
          <p:cNvPr id="18" name="Google Shape;18;p9"/>
          <p:cNvSpPr txBox="1"/>
          <p:nvPr/>
        </p:nvSpPr>
        <p:spPr>
          <a:xfrm>
            <a:off x="11639602" y="6637839"/>
            <a:ext cx="552400" cy="18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ja-JP" sz="1200" b="0" i="0" u="none" strike="noStrike" cap="none">
                <a:solidFill>
                  <a:srgbClr val="888888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Meiryo" panose="020B0604030504040204" pitchFamily="34" charset="-128"/>
              <a:ea typeface="Meiryo" panose="020B0604030504040204" pitchFamily="34" charset="-128"/>
              <a:cs typeface="Arial"/>
              <a:sym typeface="Arial"/>
            </a:endParaRPr>
          </a:p>
        </p:txBody>
      </p:sp>
      <p:cxnSp>
        <p:nvCxnSpPr>
          <p:cNvPr id="19" name="Google Shape;19;p9"/>
          <p:cNvCxnSpPr/>
          <p:nvPr/>
        </p:nvCxnSpPr>
        <p:spPr>
          <a:xfrm>
            <a:off x="68976" y="480838"/>
            <a:ext cx="3716138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" name="Google Shape;20;p9"/>
          <p:cNvCxnSpPr/>
          <p:nvPr/>
        </p:nvCxnSpPr>
        <p:spPr>
          <a:xfrm rot="10800000">
            <a:off x="97525" y="368691"/>
            <a:ext cx="0" cy="216000"/>
          </a:xfrm>
          <a:prstGeom prst="straightConnector1">
            <a:avLst/>
          </a:prstGeom>
          <a:noFill/>
          <a:ln w="12700" cap="flat" cmpd="sng">
            <a:solidFill>
              <a:srgbClr val="29759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" name="Google Shape;21;p9"/>
          <p:cNvCxnSpPr/>
          <p:nvPr/>
        </p:nvCxnSpPr>
        <p:spPr>
          <a:xfrm>
            <a:off x="68976" y="542317"/>
            <a:ext cx="2791385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" name="Google Shape;22;p9"/>
          <p:cNvCxnSpPr/>
          <p:nvPr/>
        </p:nvCxnSpPr>
        <p:spPr>
          <a:xfrm rot="10800000">
            <a:off x="126735" y="404835"/>
            <a:ext cx="0" cy="216000"/>
          </a:xfrm>
          <a:prstGeom prst="straightConnector1">
            <a:avLst/>
          </a:prstGeom>
          <a:noFill/>
          <a:ln w="12700" cap="flat" cmpd="sng">
            <a:solidFill>
              <a:srgbClr val="29759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" name="Google Shape;23;p9"/>
          <p:cNvCxnSpPr/>
          <p:nvPr/>
        </p:nvCxnSpPr>
        <p:spPr>
          <a:xfrm rot="10800000">
            <a:off x="155945" y="445135"/>
            <a:ext cx="0" cy="216000"/>
          </a:xfrm>
          <a:prstGeom prst="straightConnector1">
            <a:avLst/>
          </a:prstGeom>
          <a:noFill/>
          <a:ln w="12700" cap="flat" cmpd="sng">
            <a:solidFill>
              <a:srgbClr val="29759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" name="Google Shape;24;p9"/>
          <p:cNvCxnSpPr/>
          <p:nvPr/>
        </p:nvCxnSpPr>
        <p:spPr>
          <a:xfrm>
            <a:off x="68976" y="512636"/>
            <a:ext cx="3234462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5" name="Google Shape;25;p9" descr="図形&#10;&#10;中程度の精度で自動的に生成された説明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84254" y="73507"/>
            <a:ext cx="1757090" cy="42236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9"/>
          <p:cNvSpPr txBox="1">
            <a:spLocks noGrp="1"/>
          </p:cNvSpPr>
          <p:nvPr>
            <p:ph type="title"/>
          </p:nvPr>
        </p:nvSpPr>
        <p:spPr>
          <a:xfrm>
            <a:off x="159470" y="86917"/>
            <a:ext cx="9265967" cy="422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  <a:defRPr sz="2400" b="0" i="0">
                <a:solidFill>
                  <a:srgbClr val="595959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グラフ, 背景パターン&#10;&#10;自動的に生成された説明">
            <a:extLst>
              <a:ext uri="{FF2B5EF4-FFF2-40B4-BE49-F238E27FC236}">
                <a16:creationId xmlns:a16="http://schemas.microsoft.com/office/drawing/2014/main" id="{13368E37-E6DF-0A3F-0278-3CE7269047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42" t="25983"/>
          <a:stretch/>
        </p:blipFill>
        <p:spPr>
          <a:xfrm>
            <a:off x="7510714" y="3222386"/>
            <a:ext cx="4681287" cy="3635619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0C027-3EA4-498D-98EC-03152DE3F03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FBAEC-5837-45FF-9FCD-667E0711042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7BE239B-7B96-C3F9-C057-DA288BEC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8919" y="1822009"/>
            <a:ext cx="9861170" cy="618385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kumimoji="1" lang="en-US" altLang="ja-JP"/>
              <a:t>Title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8204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D2DBACB-1E02-D500-C713-AE7378720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C000-D78E-C340-8824-D169296D400F}" type="datetime1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C399152-3130-EEE8-F82A-CADD04CAD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833A6D-38E7-47D5-2EC7-E1DB0ACB1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42470-639C-5D4E-AE73-A41A5BA28C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531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タイトルとコンテンツ">
  <p:cSld name="2_タイトルとコンテンツ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9"/>
          <p:cNvSpPr txBox="1">
            <a:spLocks noGrp="1"/>
          </p:cNvSpPr>
          <p:nvPr>
            <p:ph type="title"/>
          </p:nvPr>
        </p:nvSpPr>
        <p:spPr>
          <a:xfrm>
            <a:off x="203200" y="229395"/>
            <a:ext cx="8153400" cy="54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iryo"/>
              <a:buNone/>
              <a:defRPr sz="24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520700" y="1003303"/>
            <a:ext cx="11150600" cy="515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￮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￮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sldNum" idx="12"/>
          </p:nvPr>
        </p:nvSpPr>
        <p:spPr>
          <a:xfrm>
            <a:off x="9271000" y="63785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‹#›</a:t>
            </a:fld>
            <a:endParaRPr/>
          </a:p>
        </p:txBody>
      </p:sp>
      <p:sp>
        <p:nvSpPr>
          <p:cNvPr id="22" name="Google Shape;22;p9"/>
          <p:cNvSpPr txBox="1"/>
          <p:nvPr/>
        </p:nvSpPr>
        <p:spPr>
          <a:xfrm>
            <a:off x="177799" y="6540930"/>
            <a:ext cx="4618487" cy="276959"/>
          </a:xfrm>
          <a:prstGeom prst="rect">
            <a:avLst/>
          </a:prstGeom>
          <a:gradFill>
            <a:gsLst>
              <a:gs pos="0">
                <a:schemeClr val="lt1"/>
              </a:gs>
              <a:gs pos="40000">
                <a:srgbClr val="FBFFFE"/>
              </a:gs>
              <a:gs pos="45000">
                <a:srgbClr val="EDF1F1"/>
              </a:gs>
              <a:gs pos="64000">
                <a:srgbClr val="F1F8F7"/>
              </a:gs>
              <a:gs pos="100000">
                <a:srgbClr val="EDF9F8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Meiryo"/>
              <a:buNone/>
            </a:pPr>
            <a:r>
              <a:rPr lang="ja-JP" sz="1200" b="0" i="0">
                <a:solidFill>
                  <a:srgbClr val="595959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"/>
                <a:sym typeface="Meiryo"/>
              </a:rPr>
              <a:t>Copyright © 202</a:t>
            </a:r>
            <a:r>
              <a:rPr lang="en-US" altLang="ja-JP" sz="1200" b="0" i="0">
                <a:solidFill>
                  <a:srgbClr val="595959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"/>
                <a:sym typeface="Meiryo"/>
              </a:rPr>
              <a:t>5</a:t>
            </a:r>
            <a:r>
              <a:rPr lang="ja-JP" sz="1200" b="0" i="0">
                <a:solidFill>
                  <a:srgbClr val="595959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"/>
                <a:sym typeface="Meiryo"/>
              </a:rPr>
              <a:t>, NTT DXPartner Co.,Ltd , All rights reserved. </a:t>
            </a:r>
            <a:endParaRPr sz="1600" b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30558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JP"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JP"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Meiryo" panose="020B0604030504040204" pitchFamily="34" charset="-128"/>
          <a:ea typeface="Meiryo" panose="020B0604030504040204" pitchFamily="34" charset="-128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Meiryo" panose="020B0604030504040204" pitchFamily="34" charset="-128"/>
          <a:ea typeface="Meiryo" panose="020B0604030504040204" pitchFamily="34" charset="-128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eiryo UI"/>
              </a:rPr>
              <a:t>データ基盤構築のメリット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9661" y="409009"/>
            <a:ext cx="365007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Meiryo UI"/>
              </a:rPr>
              <a:t>共立製薬株式会社 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8919" y="4725384"/>
            <a:ext cx="72494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Meiryo UI"/>
              </a:rPr>
              <a:t>株式会社NTT DXパートナー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919" y="4356052"/>
            <a:ext cx="220568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Meiryo UI"/>
              </a:rPr>
              <a:t>2026年2月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eiryo UI"/>
              </a:rPr>
              <a:t>データ基盤構築のメリット 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700" y="1003303"/>
            <a:ext cx="11150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Meiryo UI"/>
              </a:rPr>
              <a:t>★データ基盤を構築することで、研究の質向上と業務効率化の両面でメリットが得られます。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0700" y="1550000"/>
            <a:ext cx="11150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6082"/>
                </a:solidFill>
                <a:latin typeface="Meiryo UI"/>
              </a:rPr>
              <a:t>経験や勘ではなく、データに基づいた意思決定が可能になる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0700" y="2200000"/>
            <a:ext cx="5200000" cy="38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0700" y="2200000"/>
            <a:ext cx="5200000" cy="5000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1. データを研究に活かせる</a:t>
            </a:r>
          </a:p>
        </p:txBody>
      </p:sp>
      <p:sp>
        <p:nvSpPr>
          <p:cNvPr id="7" name="Oval 6"/>
          <p:cNvSpPr/>
          <p:nvPr/>
        </p:nvSpPr>
        <p:spPr>
          <a:xfrm>
            <a:off x="720700" y="2850000"/>
            <a:ext cx="380000" cy="38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1-1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700" y="288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Meiryo UI"/>
              </a:rPr>
              <a:t>傾向の可視化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700" y="3230000"/>
            <a:ext cx="4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200">
                <a:solidFill>
                  <a:srgbClr val="666666"/>
                </a:solidFill>
                <a:latin typeface="Meiryo UI"/>
              </a:rPr>
              <a:t>ロット間比較、観察者間のばらつき分析など、
データの傾向を定量的に把握できる</a:t>
            </a:r>
          </a:p>
        </p:txBody>
      </p:sp>
      <p:sp>
        <p:nvSpPr>
          <p:cNvPr id="10" name="Oval 9"/>
          <p:cNvSpPr/>
          <p:nvPr/>
        </p:nvSpPr>
        <p:spPr>
          <a:xfrm>
            <a:off x="720700" y="4050000"/>
            <a:ext cx="380000" cy="38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1-2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700" y="408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Meiryo UI"/>
              </a:rPr>
              <a:t>異常検出・示唆出し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700" y="4430000"/>
            <a:ext cx="4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200">
                <a:solidFill>
                  <a:srgbClr val="666666"/>
                </a:solidFill>
                <a:latin typeface="Meiryo UI"/>
              </a:rPr>
              <a:t>早期予測、適正頭数算出、
Humane Endpoint基準の客観化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0000" y="2200000"/>
            <a:ext cx="5700000" cy="38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00000" y="2200000"/>
            <a:ext cx="5700000" cy="50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2. 業務を効率化できる</a:t>
            </a:r>
          </a:p>
        </p:txBody>
      </p:sp>
      <p:sp>
        <p:nvSpPr>
          <p:cNvPr id="15" name="Oval 14"/>
          <p:cNvSpPr/>
          <p:nvPr/>
        </p:nvSpPr>
        <p:spPr>
          <a:xfrm>
            <a:off x="6200000" y="2850000"/>
            <a:ext cx="380000" cy="38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2-1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0000" y="2900000"/>
            <a:ext cx="4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Meiryo UI"/>
              </a:rPr>
              <a:t>過去データの検索</a:t>
            </a:r>
          </a:p>
        </p:txBody>
      </p:sp>
      <p:sp>
        <p:nvSpPr>
          <p:cNvPr id="17" name="Oval 16"/>
          <p:cNvSpPr/>
          <p:nvPr/>
        </p:nvSpPr>
        <p:spPr>
          <a:xfrm>
            <a:off x="6200000" y="3550000"/>
            <a:ext cx="380000" cy="38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2-2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0000" y="3600000"/>
            <a:ext cx="4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Meiryo UI"/>
              </a:rPr>
              <a:t>転記・格納作業の削減</a:t>
            </a:r>
          </a:p>
        </p:txBody>
      </p:sp>
      <p:sp>
        <p:nvSpPr>
          <p:cNvPr id="19" name="Oval 18"/>
          <p:cNvSpPr/>
          <p:nvPr/>
        </p:nvSpPr>
        <p:spPr>
          <a:xfrm>
            <a:off x="6200000" y="4250000"/>
            <a:ext cx="380000" cy="38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2-3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0000" y="4300000"/>
            <a:ext cx="4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Meiryo UI"/>
              </a:rPr>
              <a:t>規制対応（GCP査察）</a:t>
            </a:r>
          </a:p>
        </p:txBody>
      </p:sp>
      <p:sp>
        <p:nvSpPr>
          <p:cNvPr id="21" name="Oval 20"/>
          <p:cNvSpPr/>
          <p:nvPr/>
        </p:nvSpPr>
        <p:spPr>
          <a:xfrm>
            <a:off x="6200000" y="4950000"/>
            <a:ext cx="380000" cy="38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2-4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0000" y="5000000"/>
            <a:ext cx="4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Meiryo UI"/>
              </a:rPr>
              <a:t>申請資料の作成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eiryo UI"/>
              </a:rPr>
              <a:t>1. データを研究に活かせる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700" y="1003303"/>
            <a:ext cx="11150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Meiryo UI"/>
              </a:rPr>
              <a:t>★蓄積されたデータを分析することで、傾向の把握や異常の早期検出が可能になります。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0700" y="1700000"/>
            <a:ext cx="5400000" cy="42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0700" y="1700000"/>
            <a:ext cx="5400000" cy="4500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1-1. 傾向の可視化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700" y="23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eiryo UI"/>
              </a:rPr>
              <a:t>ロット間で品質に差がないか確認したい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700" y="2650000"/>
            <a:ext cx="2400000" cy="700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3C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0700" y="2680000"/>
            <a:ext cx="2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  <a:latin typeface="Meiryo UI"/>
              </a:rPr>
              <a:t>現在（想定）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700" y="29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00">
                <a:solidFill>
                  <a:srgbClr val="666666"/>
                </a:solidFill>
                <a:latin typeface="Meiryo UI"/>
              </a:rPr>
              <a:t>手作業で突き合わせ比較
担当者の判断に依存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0700" y="2850000"/>
            <a:ext cx="3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56082"/>
                </a:solidFill>
                <a:latin typeface="Meiryo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700" y="2650000"/>
            <a:ext cx="2200000" cy="70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0700" y="268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Meiryo UI"/>
              </a:rPr>
              <a:t>データ基盤構築後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0700" y="29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00">
                <a:solidFill>
                  <a:srgbClr val="666666"/>
                </a:solidFill>
                <a:latin typeface="Meiryo UI"/>
              </a:rPr>
              <a:t>Golden Batchと自動比較
逸脱を即座に検出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700" y="355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eiryo UI"/>
              </a:rPr>
              <a:t>観察者間のスコアばらつきを確認したい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700" y="3900000"/>
            <a:ext cx="2400000" cy="700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3C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700" y="3930000"/>
            <a:ext cx="2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  <a:latin typeface="Meiryo UI"/>
              </a:rPr>
              <a:t>現在（想定）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700" y="415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00">
                <a:solidFill>
                  <a:srgbClr val="666666"/>
                </a:solidFill>
                <a:latin typeface="Meiryo UI"/>
              </a:rPr>
              <a:t>研修や口頭指導で統一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0700" y="4100000"/>
            <a:ext cx="3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56082"/>
                </a:solidFill>
                <a:latin typeface="Meiryo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700" y="3900000"/>
            <a:ext cx="2200000" cy="70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0700" y="393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Meiryo UI"/>
              </a:rPr>
              <a:t>データ基盤構築後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0700" y="415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00">
                <a:solidFill>
                  <a:srgbClr val="666666"/>
                </a:solidFill>
                <a:latin typeface="Meiryo UI"/>
              </a:rPr>
              <a:t>統計的に比較
評価傾向の差を定量化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0000" y="1700000"/>
            <a:ext cx="5500000" cy="42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00000" y="1700000"/>
            <a:ext cx="5500000" cy="4500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1-2. 異常検出・示唆出し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000" y="2300000"/>
            <a:ext cx="5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eiryo UI"/>
              </a:rPr>
              <a:t>試験途中から結果を早期に予測したい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000" y="2650000"/>
            <a:ext cx="2400000" cy="550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3C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0000" y="268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  <a:latin typeface="Meiryo UI"/>
              </a:rPr>
              <a:t>現在（想定）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0000" y="286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eiryo UI"/>
              </a:rPr>
              <a:t>14日間完了後に評価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0000" y="2750000"/>
            <a:ext cx="3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56082"/>
                </a:solidFill>
                <a:latin typeface="Meiryo U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00000" y="2650000"/>
            <a:ext cx="2300000" cy="55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00000" y="2680000"/>
            <a:ext cx="2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Meiryo UI"/>
              </a:rPr>
              <a:t>データ基盤構築後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00000" y="2860000"/>
            <a:ext cx="2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eiryo UI"/>
              </a:rPr>
              <a:t>蓄積データから早期判断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000" y="3350000"/>
            <a:ext cx="5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eiryo UI"/>
              </a:rPr>
              <a:t>試験に使う動物の頭数を適切に決めたい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000" y="3700000"/>
            <a:ext cx="2400000" cy="550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3C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0000" y="373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  <a:latin typeface="Meiryo UI"/>
              </a:rPr>
              <a:t>現在（想定）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0000" y="391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eiryo UI"/>
              </a:rPr>
              <a:t>慣例・経験値で決定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0000" y="3800000"/>
            <a:ext cx="3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56082"/>
                </a:solidFill>
                <a:latin typeface="Meiryo UI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00000" y="3700000"/>
            <a:ext cx="2300000" cy="55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00000" y="3730000"/>
            <a:ext cx="2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Meiryo UI"/>
              </a:rPr>
              <a:t>データ基盤構築後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0000" y="3910000"/>
            <a:ext cx="2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00">
                <a:solidFill>
                  <a:srgbClr val="666666"/>
                </a:solidFill>
                <a:latin typeface="Meiryo UI"/>
              </a:rPr>
              <a:t>統計的に最小頭数を算出
3Rs(Reduction)に貢献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000" y="4400000"/>
            <a:ext cx="5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eiryo UI"/>
              </a:rPr>
              <a:t>Humane Endpoint基準を客観化したい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000" y="4750000"/>
            <a:ext cx="2400000" cy="550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3C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00000" y="478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  <a:latin typeface="Meiryo UI"/>
              </a:rPr>
              <a:t>現在（想定）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00000" y="496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eiryo UI"/>
              </a:rPr>
              <a:t>経験則に基づく判断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50000" y="4850000"/>
            <a:ext cx="3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56082"/>
                </a:solidFill>
                <a:latin typeface="Meiryo UI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00000" y="4750000"/>
            <a:ext cx="2300000" cy="55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00000" y="4780000"/>
            <a:ext cx="2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Meiryo UI"/>
              </a:rPr>
              <a:t>データ基盤構築後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00000" y="4960000"/>
            <a:ext cx="2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00">
                <a:solidFill>
                  <a:srgbClr val="666666"/>
                </a:solidFill>
                <a:latin typeface="Meiryo UI"/>
              </a:rPr>
              <a:t>エビデンスで倫理委員会
への説明根拠を提示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eiryo UI"/>
              </a:rPr>
              <a:t>2. 業務を効率化できる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700" y="1003303"/>
            <a:ext cx="11150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Meiryo UI"/>
              </a:rPr>
              <a:t>★データの検索・転記・保管にかかる手作業を削減し、規制対応や申請業務を効率化します。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0700" y="1700000"/>
            <a:ext cx="5400000" cy="25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0700" y="1800000"/>
            <a:ext cx="380000" cy="38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2-1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700" y="182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Meiryo UI"/>
              </a:rPr>
              <a:t>過去データの検索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700" y="220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Meiryo UI"/>
              </a:rPr>
              <a:t>過去の試験結果を調べたい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700" y="2500000"/>
            <a:ext cx="2300000" cy="700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3C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700" y="2530000"/>
            <a:ext cx="2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7E22"/>
                </a:solidFill>
                <a:latin typeface="Meiryo UI"/>
              </a:rPr>
              <a:t>現在（想定）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700" y="2730000"/>
            <a:ext cx="21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00">
                <a:solidFill>
                  <a:srgbClr val="666666"/>
                </a:solidFill>
                <a:latin typeface="Meiryo UI"/>
              </a:rPr>
              <a:t>書庫から紙を探索
担当者の異動で所在不明リスク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0700" y="270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D32"/>
                </a:solidFill>
                <a:latin typeface="Meiryo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0700" y="2500000"/>
            <a:ext cx="2350000" cy="70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0700" y="2530000"/>
            <a:ext cx="21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Meiryo UI"/>
              </a:rPr>
              <a:t>データ基盤構築後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0700" y="2730000"/>
            <a:ext cx="215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00">
                <a:solidFill>
                  <a:srgbClr val="666666"/>
                </a:solidFill>
                <a:latin typeface="Meiryo UI"/>
              </a:rPr>
              <a:t>試験名・個体番号等で
即座に横断検索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20700" y="1700000"/>
            <a:ext cx="5400000" cy="25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70700" y="1800000"/>
            <a:ext cx="380000" cy="38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2-2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0700" y="182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Meiryo UI"/>
              </a:rPr>
              <a:t>転記・格納作業の削減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700" y="220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Meiryo UI"/>
              </a:rPr>
              <a:t>スコアシートのデータを記録・保管したい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0700" y="2500000"/>
            <a:ext cx="2300000" cy="700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3C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700" y="2530000"/>
            <a:ext cx="2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7E22"/>
                </a:solidFill>
                <a:latin typeface="Meiryo UI"/>
              </a:rPr>
              <a:t>現在（想定）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700" y="2730000"/>
            <a:ext cx="21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00">
                <a:solidFill>
                  <a:srgbClr val="666666"/>
                </a:solidFill>
                <a:latin typeface="Meiryo UI"/>
              </a:rPr>
              <a:t>手書き → ファイリング
他帳票への転記作業が発生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0700" y="270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D32"/>
                </a:solidFill>
                <a:latin typeface="Meiryo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70700" y="2500000"/>
            <a:ext cx="2350000" cy="70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0700" y="2530000"/>
            <a:ext cx="21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Meiryo UI"/>
              </a:rPr>
              <a:t>データ基盤構築後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0700" y="2730000"/>
            <a:ext cx="215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00">
                <a:solidFill>
                  <a:srgbClr val="666666"/>
                </a:solidFill>
                <a:latin typeface="Meiryo UI"/>
              </a:rPr>
              <a:t>タブレットからデジタル入力
DBに自動格納・転記ミス解消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0700" y="4500000"/>
            <a:ext cx="5400000" cy="25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0700" y="4600000"/>
            <a:ext cx="380000" cy="38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2-3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700" y="462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Meiryo UI"/>
              </a:rPr>
              <a:t>規制対応（GCP査察）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700" y="500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Meiryo UI"/>
              </a:rPr>
              <a:t>GCP査察・監査に対応したい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0700" y="5300000"/>
            <a:ext cx="2300000" cy="700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3C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700" y="5330000"/>
            <a:ext cx="2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7E22"/>
                </a:solidFill>
                <a:latin typeface="Meiryo UI"/>
              </a:rPr>
              <a:t>現在（想定）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700" y="5530000"/>
            <a:ext cx="21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00">
                <a:solidFill>
                  <a:srgbClr val="666666"/>
                </a:solidFill>
                <a:latin typeface="Meiryo UI"/>
              </a:rPr>
              <a:t>紙の記録を手作業で整理
修正履歴の追跡が困難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70700" y="550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D32"/>
                </a:solidFill>
                <a:latin typeface="Meiryo U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70700" y="5300000"/>
            <a:ext cx="2350000" cy="70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0700" y="5330000"/>
            <a:ext cx="21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Meiryo UI"/>
              </a:rPr>
              <a:t>データ基盤構築後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0700" y="5530000"/>
            <a:ext cx="215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00">
                <a:solidFill>
                  <a:srgbClr val="666666"/>
                </a:solidFill>
                <a:latin typeface="Meiryo UI"/>
              </a:rPr>
              <a:t>デジタル監査証跡が自動
raw data即時提出可能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20700" y="4500000"/>
            <a:ext cx="5400000" cy="25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70700" y="4600000"/>
            <a:ext cx="380000" cy="38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2-4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0700" y="462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Meiryo UI"/>
              </a:rPr>
              <a:t>申請資料の作成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0700" y="500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Meiryo UI"/>
              </a:rPr>
              <a:t>承認申請用の資料を作成したい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20700" y="5300000"/>
            <a:ext cx="2300000" cy="700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3C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700" y="5330000"/>
            <a:ext cx="2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7E22"/>
                </a:solidFill>
                <a:latin typeface="Meiryo UI"/>
              </a:rPr>
              <a:t>現在（想定）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700" y="5530000"/>
            <a:ext cx="21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00">
                <a:solidFill>
                  <a:srgbClr val="666666"/>
                </a:solidFill>
                <a:latin typeface="Meiryo UI"/>
              </a:rPr>
              <a:t>集計・整形を手作業で実施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70700" y="550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D32"/>
                </a:solidFill>
                <a:latin typeface="Meiryo UI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70700" y="5300000"/>
            <a:ext cx="2350000" cy="70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70700" y="5330000"/>
            <a:ext cx="21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Meiryo UI"/>
              </a:rPr>
              <a:t>データ基盤構築後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0700" y="5530000"/>
            <a:ext cx="215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00">
                <a:solidFill>
                  <a:srgbClr val="666666"/>
                </a:solidFill>
                <a:latin typeface="Meiryo UI"/>
              </a:rPr>
              <a:t>統計解析・個体別データを
申請様式で自動出力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eiryo UI"/>
              </a:rPr>
              <a:t>具体的な活用シーン一覧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700" y="1003303"/>
            <a:ext cx="11150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Meiryo UI"/>
              </a:rPr>
              <a:t>★各メリットに紐づく具体的な活用シーンと、データ基盤構築前後の変化を整理しています。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0000" y="1700000"/>
          <a:ext cx="11600000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000"/>
                <a:gridCol w="2600000"/>
                <a:gridCol w="4100000"/>
                <a:gridCol w="4100000"/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Meiryo UI"/>
                        </a:rPr>
                        <a:t>分類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Meiryo UI"/>
                        </a:rPr>
                        <a:t>活用シーン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Meiryo UI"/>
                        </a:rPr>
                        <a:t>現在の運用（想定）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Meiryo UI"/>
                        </a:rPr>
                        <a:t>データ基盤構築後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6082"/>
                          </a:solidFill>
                          <a:latin typeface="Meiryo UI"/>
                        </a:rPr>
                        <a:t>1-1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ロット間品質比較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手作業で突き合わせ比較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Golden Batchと自動比較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6082"/>
                          </a:solidFill>
                          <a:latin typeface="Meiryo UI"/>
                        </a:rPr>
                        <a:t>1-1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観察者間ばらつき確認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研修・口頭指導で統一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統計的に評価傾向を定量化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6082"/>
                          </a:solidFill>
                          <a:latin typeface="Meiryo UI"/>
                        </a:rPr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試験結果の早期予測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14日間完了後に評価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蓄積データから早期判断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6082"/>
                          </a:solidFill>
                          <a:latin typeface="Meiryo UI"/>
                        </a:rPr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適正頭数の決定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慣例・経験値で決定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統計的に最小頭数を算出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6082"/>
                          </a:solidFill>
                          <a:latin typeface="Meiryo UI"/>
                        </a:rPr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Humane Endpoint基準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経験則に基づく判断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エビデンスで説明根拠を提示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6082"/>
                          </a:solidFill>
                          <a:latin typeface="Meiryo UI"/>
                        </a:rPr>
                        <a:t>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過去試験結果の検索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書庫から紙を探索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キーワードで即座に横断検索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6082"/>
                          </a:solidFill>
                          <a:latin typeface="Meiryo UI"/>
                        </a:rPr>
                        <a:t>2-2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スコアシート記録・保管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手書き→ファイリング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デジタル入力→DB自動格納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6082"/>
                          </a:solidFill>
                          <a:latin typeface="Meiryo UI"/>
                        </a:rPr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GCP査察・監査対応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紙記録を手作業で整理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デジタル監査証跡が自動記録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6082"/>
                          </a:solidFill>
                          <a:latin typeface="Meiryo UI"/>
                        </a:rPr>
                        <a:t>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承認申請資料作成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集計・整形を手作業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申請様式で自動出力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0000" y="5600000"/>
            <a:ext cx="11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eiryo UI"/>
              </a:rPr>
              <a:t>※「現在の運用（想定）」列は推測であり、実際の業務フローはヒアリングによる確認が必要です。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eiryo UI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700" y="1003303"/>
            <a:ext cx="11150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Meiryo UI"/>
              </a:rPr>
              <a:t>★データ基盤構築により、研究品質の向上と業務効率化を同時に実現できます。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00000" y="1800000"/>
            <a:ext cx="9200000" cy="3600000"/>
          </a:xfrm>
          <a:prstGeom prst="roundRect">
            <a:avLst/>
          </a:prstGeom>
          <a:solidFill>
            <a:srgbClr val="EDF7FA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00000" y="2100000"/>
            <a:ext cx="4000000" cy="4500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0" y="218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1. データを研究に活かせる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000" y="2650000"/>
            <a:ext cx="3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Meiryo UI"/>
              </a:rPr>
              <a:t>✓ 傾向の可視化（ロット比較・ばらつき分析）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000" y="2950000"/>
            <a:ext cx="3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Meiryo UI"/>
              </a:rPr>
              <a:t>✓ 異常検出・示唆出し（早期予測・適正頭数）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000" y="2100000"/>
            <a:ext cx="4200000" cy="45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0" y="2180000"/>
            <a:ext cx="4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2. 業務を効率化できる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000" y="2650000"/>
            <a:ext cx="3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Meiryo UI"/>
              </a:rPr>
              <a:t>✓ 過去データの即時検索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000" y="2900000"/>
            <a:ext cx="3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Meiryo UI"/>
              </a:rPr>
              <a:t>✓ 転記・格納作業の削減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0" y="3150000"/>
            <a:ext cx="3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Meiryo UI"/>
              </a:rPr>
              <a:t>✓ GCP査察・監査証跡の自動化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000" y="3400000"/>
            <a:ext cx="3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Meiryo UI"/>
              </a:rPr>
              <a:t>✓ 申請資料の自動出力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00000" y="4000000"/>
            <a:ext cx="6200000" cy="6000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0000" y="4100000"/>
            <a:ext cx="6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経験や勘ではなく、データに基づいた意思決定へ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700" y="5800000"/>
            <a:ext cx="11150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eiryo UI"/>
              </a:rPr>
              <a:t>※「現在の運用（想定）」部分は推測です。実際の業務フローはヒアリングにて確認させていただきます。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F5A37F286484044A587AB13B95C5FC7" ma:contentTypeVersion="7" ma:contentTypeDescription="新しいドキュメントを作成します。" ma:contentTypeScope="" ma:versionID="4f7694e17ad19b662c14350cba525237">
  <xsd:schema xmlns:xsd="http://www.w3.org/2001/XMLSchema" xmlns:xs="http://www.w3.org/2001/XMLSchema" xmlns:p="http://schemas.microsoft.com/office/2006/metadata/properties" xmlns:ns2="ff258828-3104-4aa7-abea-7bd42e7d0da0" targetNamespace="http://schemas.microsoft.com/office/2006/metadata/properties" ma:root="true" ma:fieldsID="bca938b16617b35da031a096723445c0" ns2:_="">
    <xsd:import namespace="ff258828-3104-4aa7-abea-7bd42e7d0d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258828-3104-4aa7-abea-7bd42e7d0d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C7E2470-004B-4200-B9B8-682B62F390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9B8C7F1-31C5-4647-B0B7-C8EAE644F69E}">
  <ds:schemaRefs>
    <ds:schemaRef ds:uri="ff258828-3104-4aa7-abea-7bd42e7d0da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240210C-5D7B-470C-9C4E-5A51904AB3FE}">
  <ds:schemaRefs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ff258828-3104-4aa7-abea-7bd42e7d0da0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2866</TotalTime>
  <Words>51</Words>
  <Application>Microsoft Office PowerPoint</Application>
  <PresentationFormat>ワイド画面</PresentationFormat>
  <Paragraphs>22</Paragraphs>
  <Slides>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Meiryo UI</vt:lpstr>
      <vt:lpstr>Noto Sans JP</vt:lpstr>
      <vt:lpstr>Meiryo</vt:lpstr>
      <vt:lpstr>游ゴシック</vt:lpstr>
      <vt:lpstr>Arial</vt:lpstr>
      <vt:lpstr>Office テーマ</vt:lpstr>
      <vt:lpstr>タイトルを入力</vt:lpstr>
      <vt:lpstr>アジェンダ</vt:lpstr>
      <vt:lpstr>アジェンダ1のタイトルを入力</vt:lpstr>
      <vt:lpstr>スライドタイトルを入力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山崎 賢</dc:creator>
  <cp:lastModifiedBy>田原　大地</cp:lastModifiedBy>
  <cp:revision>3</cp:revision>
  <dcterms:created xsi:type="dcterms:W3CDTF">2022-07-05T05:28:12Z</dcterms:created>
  <dcterms:modified xsi:type="dcterms:W3CDTF">2026-02-01T13:28:34Z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0x0101001F5A37F286484044A587AB13B95C5FC7</vt:lpwstr>
  </property>
</Properties>
</file>