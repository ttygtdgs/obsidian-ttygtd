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共立製薬株式会社 様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1783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スコアシートDX提案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2423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スマートデバイス入力 + データ基盤構築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2026年2月</a:t>
            </a:r>
            <a:endParaRPr lang="en-US" sz="1200" dirty="0"/>
          </a:p>
        </p:txBody>
      </p:sp>
      <p:pic>
        <p:nvPicPr>
          <p:cNvPr id="7" name="Image 1" descr="/Users/user/.claude/skills/ntt-dxpartner-pptx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114800"/>
            <a:ext cx="182880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前提（先方との合意事項）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経営層への稟議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佐々木様を中心に現場で解像度を上げ、経営層へ稟議を出す方向で合意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紙へのこだわり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なし（デジタル入力への移行に前向き）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ローデータ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紙でもデータでも、ローデータの保管が必須（厚労省GCP準拠）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017520"/>
            <a:ext cx="8229600" cy="128016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4008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" y="34747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紙にこだわりがないため、スマートデバイスでの直接入力が可能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ローデータの保管が最重要 → 電子データを原本とする仕組みが必要
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厚労省GCPガイドラインに準拠した監査証跡・セキュリティを実装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本提案の全体像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384048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97280" y="1234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スコアシートDX化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1691640"/>
            <a:ext cx="347472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スマートデバイスでの直接入力に移行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21945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・紙の記入・スキャン工程をなくす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・入力時バリデーション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・ローデータの電子保管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・リアルタイムデータ反映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0" y="100584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005840"/>
            <a:ext cx="3840480" cy="73152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C55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486400" y="1234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データ基盤構築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29200" y="1691640"/>
            <a:ext cx="347472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Excelデータの一元管理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AWS + Snowflake活用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0" y="22860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・散在データの一元管理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・検索・分析可能なデータ基盤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・BIダッシュボード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・将来のAI分析基盤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連携: スマートデバイス入力データ → データ基盤に直接投入（将来）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提案①：課題認識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現状の業務フロー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371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巡回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74520" y="1463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194560" y="137160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</p:sp>
      <p:sp>
        <p:nvSpPr>
          <p:cNvPr id="10" name="Text 7"/>
          <p:cNvSpPr/>
          <p:nvPr/>
        </p:nvSpPr>
        <p:spPr>
          <a:xfrm>
            <a:off x="2194560" y="1371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紙に記入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11880" y="1463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931920" y="137160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</p:sp>
      <p:sp>
        <p:nvSpPr>
          <p:cNvPr id="13" name="Text 10"/>
          <p:cNvSpPr/>
          <p:nvPr/>
        </p:nvSpPr>
        <p:spPr>
          <a:xfrm>
            <a:off x="3931920" y="1371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PDFスキャン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49240" y="1463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0" y="137160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FEBEE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0" y="1371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Excel転記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（手作業）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086600" y="1463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406640" y="137160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</p:sp>
      <p:sp>
        <p:nvSpPr>
          <p:cNvPr id="19" name="Text 16"/>
          <p:cNvSpPr/>
          <p:nvPr/>
        </p:nvSpPr>
        <p:spPr>
          <a:xfrm>
            <a:off x="7406640" y="1371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Dropbox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保存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↑ ここが課題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課題と影響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18288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課題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影響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転記作業の工数負担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担当者の業務時間を圧迫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転記ミスのリスク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データ品質の低下、ローデータの信頼性に影響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属人化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特定担当者への依存、業務継続リスク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紙の保管管理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保管スペース、紛失・劣化リスク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提案①：アプローチの方向転換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検討経緯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EDF7FA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当初はOCR（紙→スキャン→自動読取）を検討 → 先方との議論を経てスマートデバイスでの直接入力に方向転換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OCR方式 vs スマートデバイス入力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観点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OCR方式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スマートデバイス入力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紙の工程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残る（紙→スキャン→OCR）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なくなる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転記作業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自動化（確認作業は残る）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そもそも不要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データ精度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OCR精度に依存（85%目標）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入力時バリデーション可能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リアルタイム性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バッチ処理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即時反映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ローデータ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紙が原本、電子は複製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電子データが原本になる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提案①：新しい業務フロー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60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提案する業務フロー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巡回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40280" y="1554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651760" y="13716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156082"/>
          </a:solidFill>
          <a:ln/>
        </p:spPr>
      </p:sp>
      <p:sp>
        <p:nvSpPr>
          <p:cNvPr id="10" name="Text 7"/>
          <p:cNvSpPr/>
          <p:nvPr/>
        </p:nvSpPr>
        <p:spPr>
          <a:xfrm>
            <a:off x="265176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スマート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デバイスで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直接入力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434840" y="1554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846320" y="13716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6CE6E8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データ保存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（クラウド）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29400" y="1554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040880" y="13716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Excel出力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ダッシュ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ボード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28600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↑ ここをデジタル化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29768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↑ ローデータとして電子保管（GCP準拠）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期待効果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54680"/>
          <a:ext cx="82296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指標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現状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導入後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転記作業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手作業でExcel転記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完全不要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データ精度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転記ミスあり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入力時バリデーションで担保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データ反映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バッチ（転記後）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リアルタイム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ローデータ保管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紙保管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電子保管（監査証跡付き）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提案①：ローデータ保管要件（厚労省GCP準拠）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電子データを原資料（ローデータ）とするための要件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194560"/>
        </p:xfrm>
        <a:graphic>
          <a:graphicData uri="http://schemas.openxmlformats.org/drawingml/2006/table">
            <a:tbl>
              <a:tblPr/>
              <a:tblGrid>
                <a:gridCol w="548640"/>
                <a:gridCol w="2743200"/>
                <a:gridCol w="4937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要件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対応方針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システム完全性の保証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クラウド基盤による可用性・信頼性の確保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データ修正履歴の記録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全操作の監査証跡（Audit Trail）を自動記録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セキュリティシステム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ユーザー認証、権限管理、アクセスログ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バックアップ体制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自動バックアップ、災害復旧計画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データ修正者名簿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操作者の特定・管理（ユーザーアカウント管理）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4008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スマートデバイス入力のメリット（ローデータ観点）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4023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・監査証跡が自動記録: 誰が・いつ・何を入力/修正したか全て記録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・改ざん防止: 修正履歴が残るため、紙よりもデータの信頼性が高い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・保管の確実性: クラウド保管により紛失・劣化リスクを排除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・検索性: 必要なデータを即座に検索・抽出可能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提案①：進め方（案）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 → 本開発の2段階アプローチ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3840480" cy="2011680"/>
          </a:xfrm>
          <a:prstGeom prst="roundRect">
            <a:avLst>
              <a:gd name="adj" fmla="val 2273"/>
            </a:avLst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1: PoC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・入力フォーム試作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・主要項目の入力検証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・オフライン対応検証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・現場フィードバック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976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206240" y="2560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現場評価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Go/No-Go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846320" y="1371600"/>
            <a:ext cx="3840480" cy="2011680"/>
          </a:xfrm>
          <a:prstGeom prst="roundRect">
            <a:avLst>
              <a:gd name="adj" fmla="val 2273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2: 本開発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0" y="18288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・本番UI/UX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・全スコアシート対応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・ローデータ保管機能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・Excel出力 / 監査証跡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・データ基盤連携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今後検討が必要な事項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86200"/>
          <a:ext cx="8229600" cy="109728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548640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論点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検討内容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デバイス選定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タブレット or スマートフォン / 機種 / 配備台数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入力フォーム設計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既存スコアシートの項目をどう電子フォーム化するか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オフライン対応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圏外での入力 → 復帰時の同期方式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技術基盤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Webアプリ / ネイティブアプリ / PWA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提案②：データ基盤構築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60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200400" cy="137160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3716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Dropbox上にExcelが散在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・データ散逸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・検索困難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・活用困難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7490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389120" y="960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目指す姿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1280160"/>
            <a:ext cx="4297680" cy="13716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0" y="13716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Snowflakeで一元管理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・構造化データ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・検索・分析可能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・BIダッシュボード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システム構成（AWS + Snowflake）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24612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Dropbox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(Excel)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240280" y="3383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651760" y="324612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156082"/>
          </a:solidFill>
          <a:ln/>
        </p:spPr>
      </p:sp>
      <p:sp>
        <p:nvSpPr>
          <p:cNvPr id="17" name="Text 14"/>
          <p:cNvSpPr/>
          <p:nvPr/>
        </p:nvSpPr>
        <p:spPr>
          <a:xfrm>
            <a:off x="2651760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インポート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スクリプト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434840" y="3383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4846320" y="324612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E8F5E9"/>
          </a:solidFill>
          <a:ln/>
        </p:spPr>
      </p:sp>
      <p:sp>
        <p:nvSpPr>
          <p:cNvPr id="20" name="Text 17"/>
          <p:cNvSpPr/>
          <p:nvPr/>
        </p:nvSpPr>
        <p:spPr>
          <a:xfrm>
            <a:off x="4846320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Snowflake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(DWH)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29400" y="3383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7040880" y="324612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6CE6E8"/>
          </a:solidFill>
          <a:ln/>
        </p:spPr>
      </p:sp>
      <p:sp>
        <p:nvSpPr>
          <p:cNvPr id="23" name="Text 20"/>
          <p:cNvSpPr/>
          <p:nvPr/>
        </p:nvSpPr>
        <p:spPr>
          <a:xfrm>
            <a:off x="7040880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検索UI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51960"/>
          <a:ext cx="8229600" cy="73152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5029200"/>
              </a:tblGrid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コンポーネント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理由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データ基盤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Snowflake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貴社で既に利用中、スケーラビリティ、SQL対応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AWS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貴社既存環境を活用、セキュリティポリシー適合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提案②：情シス連携の進め方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156082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0058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011680" y="1005840"/>
            <a:ext cx="66751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11680" y="1005840"/>
            <a:ext cx="73152" cy="73152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9" name="Text 6"/>
          <p:cNvSpPr/>
          <p:nvPr/>
        </p:nvSpPr>
        <p:spPr>
          <a:xfrm>
            <a:off x="228600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初回顔合わせ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2860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プロジェクト概要説明、協力体制構築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83680" y="1143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情シス + 現場 + 弊社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0" y="1691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196596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156082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19659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011680" y="1965960"/>
            <a:ext cx="66751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011680" y="1965960"/>
            <a:ext cx="73152" cy="73152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7" name="Text 14"/>
          <p:cNvSpPr/>
          <p:nvPr/>
        </p:nvSpPr>
        <p:spPr>
          <a:xfrm>
            <a:off x="2286000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技術要件すり合わせ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286000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AWS環境確認、Snowflake設定、セキュリティ要件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8368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情シス + 弊社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14400" y="2651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292608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F3C551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011680" y="2926080"/>
            <a:ext cx="66751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011680" y="2926080"/>
            <a:ext cx="73152" cy="7315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5" name="Text 22"/>
          <p:cNvSpPr/>
          <p:nvPr/>
        </p:nvSpPr>
        <p:spPr>
          <a:xfrm>
            <a:off x="228600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環境準備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286000" y="3291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権限付与、環境セットアップ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583680" y="3063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情シス（弊社サポート）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14400" y="3611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57200" y="388620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F3C551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3886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011680" y="3886200"/>
            <a:ext cx="66751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011680" y="3886200"/>
            <a:ext cx="73152" cy="7315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3" name="Text 30"/>
          <p:cNvSpPr/>
          <p:nvPr/>
        </p:nvSpPr>
        <p:spPr>
          <a:xfrm>
            <a:off x="228600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開発・テスト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2286000" y="4251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インポートスクリプト開発、テスト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583680" y="4023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弊社（情シスレビュー）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情シスとの議論ポイント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権限範囲 │ データ格納ポリシー │ セキュリティルール │ 対応可能時期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提案①②の連携イメージ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347472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88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提案① スコアシートDX化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1600200"/>
            <a:ext cx="310896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7373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・スマートデバイス入力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・入力時バリデーション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・ローデータ電子保管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・監査証跡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23360" y="1920240"/>
            <a:ext cx="109728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4023360" y="1965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直接投入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212080" y="100584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212080" y="1005840"/>
            <a:ext cx="3474720" cy="73152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4" name="Text 11"/>
          <p:cNvSpPr/>
          <p:nvPr/>
        </p:nvSpPr>
        <p:spPr>
          <a:xfrm>
            <a:off x="5394960" y="1188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C55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提案② データ基盤構築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394960" y="1600200"/>
            <a:ext cx="310896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3"/>
          <p:cNvSpPr/>
          <p:nvPr/>
        </p:nvSpPr>
        <p:spPr>
          <a:xfrm>
            <a:off x="5394960" y="17373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・Snowflake一元管理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・検索・分析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・BIダッシュボード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・将来のAI分析基盤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連携メリット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86200"/>
          <a:ext cx="8229600" cy="109728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メリット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転記工程の完全排除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デバイス入力 → データ基盤に直接格納（Excelを経由しない）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リアルタイム分析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入力と同時にダッシュボードに反映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ローデータの一元管理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入力データ＝ローデータとしてSnowflakeで保管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次のアクション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60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稟議に向けた進め方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5608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現場で解像度UP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佐々木様と詳細化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71800" y="1554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383280" y="137160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F3C551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提案資料作成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8328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経営層向け整理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97880" y="1554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309360" y="137160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経営層への稟議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予算承認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アクション一覧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2011680"/>
        </p:xfrm>
        <a:graphic>
          <a:graphicData uri="http://schemas.openxmlformats.org/drawingml/2006/table">
            <a:tbl>
              <a:tblPr/>
              <a:tblGrid>
                <a:gridCol w="548640"/>
                <a:gridCol w="4754880"/>
                <a:gridCol w="1554480"/>
                <a:gridCol w="1371600"/>
              </a:tblGrid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アクション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状態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提案①の具体化（デバイス・フォーム設計等）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弊社+NTT東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ローデータ保管要件の詳細整理（GCP準拠）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弊社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提案②の情シス連携開始（顔合わせ日程調整）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先方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経営層向け提案資料作成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弊社+NTT東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佐々木様と合意形成、稟議準備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先方+弊社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3200" dirty="0"/>
          </a:p>
        </p:txBody>
      </p:sp>
      <p:pic>
        <p:nvPicPr>
          <p:cNvPr id="4" name="Image 0" descr="/Users/user/.claude/skills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3200400"/>
            <a:ext cx="192024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共立製薬様 スコアシートDX提案（2026年2月版）</dc:title>
  <dc:subject>PptxGenJS Presentation</dc:subject>
  <dc:creator>NTT DXパートナー</dc:creator>
  <cp:lastModifiedBy>NTT DXパートナー</cp:lastModifiedBy>
  <cp:revision>1</cp:revision>
  <dcterms:created xsi:type="dcterms:W3CDTF">2026-02-06T04:57:25Z</dcterms:created>
  <dcterms:modified xsi:type="dcterms:W3CDTF">2026-02-06T04:57:25Z</dcterms:modified>
</cp:coreProperties>
</file>