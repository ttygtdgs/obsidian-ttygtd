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 autoCompressPictures="0">
  <p:sldMasterIdLst>
    <p:sldMasterId id="2147483648" r:id="rId4"/>
  </p:sldMasterIdLst>
  <p:notesMasterIdLst>
    <p:notesMasterId r:id="rId10"/>
  </p:notesMasterIdLst>
  <p:sldIdLst>
    <p:sldId id="257" r:id="rId16"/>
    <p:sldId id="258" r:id="rId15"/>
    <p:sldId id="259" r:id="rId14"/>
    <p:sldId id="260" r:id="rId13"/>
    <p:sldId id="261" r:id="rId1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147483643" r:id="rId17"/>
    <p:sldId id="2147483644" r:id="rId18"/>
    <p:sldId id="2147483645" r:id="rId19"/>
    <p:sldId id="2147483646" r:id="rId20"/>
    <p:sldId id="2147483647" r:id="rId21"/>
    <p:sldId id="256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91">
          <p15:clr>
            <a:srgbClr val="A4A3A4"/>
          </p15:clr>
        </p15:guide>
        <p15:guide id="2" pos="4454">
          <p15:clr>
            <a:srgbClr val="A4A3A4"/>
          </p15:clr>
        </p15:guide>
        <p15:guide id="3" pos="7151">
          <p15:clr>
            <a:srgbClr val="A4A3A4"/>
          </p15:clr>
        </p15:guide>
        <p15:guide id="4" pos="3868">
          <p15:clr>
            <a:srgbClr val="A4A3A4"/>
          </p15:clr>
        </p15:guide>
        <p15:guide id="5" pos="1912">
          <p15:clr>
            <a:srgbClr val="A4A3A4"/>
          </p15:clr>
        </p15:guide>
        <p15:guide id="6" pos="5654">
          <p15:clr>
            <a:srgbClr val="A4A3A4"/>
          </p15:clr>
        </p15:guide>
        <p15:guide id="7" orient="horz" pos="255">
          <p15:clr>
            <a:srgbClr val="A4A3A4"/>
          </p15:clr>
        </p15:guide>
        <p15:guide id="8" pos="529">
          <p15:clr>
            <a:srgbClr val="A4A3A4"/>
          </p15:clr>
        </p15:guide>
        <p15:guide id="9" orient="horz" pos="1548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h4h5J4htkfKnmxkYGPXs4wHcMr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97D"/>
    <a:srgbClr val="0070C0"/>
    <a:srgbClr val="558ED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A9278B-4317-41A1-9AB5-AB686F4547F1}" v="3631" dt="2026-01-30T00:15:00.231"/>
    <p1510:client id="{9A67414F-32DB-4B19-B4AF-68D553B7A134}" v="2653" dt="2026-01-29T10:07:44.570"/>
  </p1510:revLst>
</p1510:revInfo>
</file>

<file path=ppt/tableStyles.xml><?xml version="1.0" encoding="utf-8"?>
<a:tblStyleLst xmlns:a="http://schemas.openxmlformats.org/drawingml/2006/main" def="{E2FA7166-3682-446A-8298-4BBEF3195E96}">
  <a:tblStyle styleId="{E2FA7166-3682-446A-8298-4BBEF3195E96}" styleName="Table_0">
    <a:wholeTbl>
      <a:tcTxStyle b="off" i="off">
        <a:font>
          <a:latin typeface="Meiryo UI"/>
          <a:ea typeface="Meiryo UI"/>
          <a:cs typeface="Meiryo U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Meiryo UI"/>
          <a:ea typeface="Meiryo UI"/>
          <a:cs typeface="Meiryo U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Meiryo UI"/>
          <a:ea typeface="Meiryo UI"/>
          <a:cs typeface="Meiryo U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Meiryo UI"/>
          <a:ea typeface="Meiryo UI"/>
          <a:cs typeface="Meiryo U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Meiryo UI"/>
          <a:ea typeface="Meiryo UI"/>
          <a:cs typeface="Meiryo U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9AA9010-57B6-4D30-953E-48C549008EF4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間スタイル 1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99" autoAdjust="0"/>
    <p:restoredTop sz="95726" autoAdjust="0"/>
  </p:normalViewPr>
  <p:slideViewPr>
    <p:cSldViewPr snapToGrid="0">
      <p:cViewPr varScale="1">
        <p:scale>
          <a:sx n="155" d="100"/>
          <a:sy n="155" d="100"/>
        </p:scale>
        <p:origin x="456" y="144"/>
      </p:cViewPr>
      <p:guideLst>
        <p:guide orient="horz" pos="391"/>
        <p:guide pos="4454"/>
        <p:guide pos="7151"/>
        <p:guide pos="3868"/>
        <p:guide pos="1912"/>
        <p:guide pos="5654"/>
        <p:guide orient="horz" pos="255"/>
        <p:guide pos="529"/>
        <p:guide orient="horz" pos="15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2" Type="http://schemas.openxmlformats.org/officeDocument/2006/relationships/slide" Target="slides/slide11.xml"/><Relationship Id="rId13" Type="http://schemas.openxmlformats.org/officeDocument/2006/relationships/slide" Target="slides/slide10.xml"/><Relationship Id="rId14" Type="http://schemas.openxmlformats.org/officeDocument/2006/relationships/slide" Target="slides/slide9.xml"/><Relationship Id="rId15" Type="http://schemas.openxmlformats.org/officeDocument/2006/relationships/slide" Target="slides/slide8.xml"/><Relationship Id="rId16" Type="http://schemas.openxmlformats.org/officeDocument/2006/relationships/slide" Target="slides/slide7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4" Type="http://customschemas.google.com/relationships/presentationmetadata" Target="meta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eiryo" panose="020B0604030504040204" pitchFamily="34" charset="-128"/>
                <a:ea typeface="Meiryo" panose="020B0604030504040204" pitchFamily="34" charset="-128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JP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eiryo" panose="020B0604030504040204" pitchFamily="34" charset="-128"/>
                <a:ea typeface="Meiryo" panose="020B0604030504040204" pitchFamily="34" charset="-128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JP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eiryo" panose="020B0604030504040204" pitchFamily="34" charset="-128"/>
                <a:ea typeface="Meiryo" panose="020B0604030504040204" pitchFamily="34" charset="-128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JP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>
              <a:defRPr b="0" i="0"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pPr algn="r">
              <a:buSzPts val="1200"/>
            </a:pPr>
            <a:fld id="{00000000-1234-1234-1234-123412341234}" type="slidenum">
              <a:rPr lang="en-US" altLang="ja-JP" sz="1200" smtClean="0">
                <a:solidFill>
                  <a:schemeClr val="dk1"/>
                </a:solidFill>
              </a:rPr>
              <a:pPr algn="r">
                <a:buSzPts val="1200"/>
              </a:pPr>
              <a:t>‹#›</a:t>
            </a:fld>
            <a:endParaRPr lang="ja-JP" altLang="en-US" sz="1200">
              <a:solidFill>
                <a:schemeClr val="dk1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Meiryo" panose="020B0604030504040204" pitchFamily="34" charset="-128"/>
        <a:ea typeface="Meiryo" panose="020B0604030504040204" pitchFamily="34" charset="-128"/>
        <a:cs typeface="Arial"/>
        <a:sym typeface="Arial"/>
      </a:defRPr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3.メインペーパー">
  <p:cSld name="2_3.メインペーパー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JP"/>
          </a:p>
        </p:txBody>
      </p:sp>
      <p:sp>
        <p:nvSpPr>
          <p:cNvPr id="17" name="Google Shape;1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JP"/>
          </a:p>
        </p:txBody>
      </p:sp>
      <p:sp>
        <p:nvSpPr>
          <p:cNvPr id="18" name="Google Shape;18;p9"/>
          <p:cNvSpPr txBox="1"/>
          <p:nvPr/>
        </p:nvSpPr>
        <p:spPr>
          <a:xfrm>
            <a:off x="11639602" y="6637839"/>
            <a:ext cx="552400" cy="18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ja-JP" sz="1200" b="0" i="0" u="none" strike="noStrike" cap="none">
                <a:solidFill>
                  <a:srgbClr val="888888"/>
                </a:solidFill>
                <a:latin typeface="Meiryo" panose="020B0604030504040204" pitchFamily="34" charset="-128"/>
                <a:ea typeface="Meiryo" panose="020B0604030504040204" pitchFamily="34" charset="-128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rgbClr val="888888"/>
              </a:solidFill>
              <a:latin typeface="Meiryo" panose="020B0604030504040204" pitchFamily="34" charset="-128"/>
              <a:ea typeface="Meiryo" panose="020B0604030504040204" pitchFamily="34" charset="-128"/>
              <a:cs typeface="Arial"/>
              <a:sym typeface="Arial"/>
            </a:endParaRPr>
          </a:p>
        </p:txBody>
      </p:sp>
      <p:cxnSp>
        <p:nvCxnSpPr>
          <p:cNvPr id="19" name="Google Shape;19;p9"/>
          <p:cNvCxnSpPr/>
          <p:nvPr/>
        </p:nvCxnSpPr>
        <p:spPr>
          <a:xfrm>
            <a:off x="68976" y="480838"/>
            <a:ext cx="3716138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0" name="Google Shape;20;p9"/>
          <p:cNvCxnSpPr/>
          <p:nvPr/>
        </p:nvCxnSpPr>
        <p:spPr>
          <a:xfrm rot="10800000">
            <a:off x="97525" y="368691"/>
            <a:ext cx="0" cy="216000"/>
          </a:xfrm>
          <a:prstGeom prst="straightConnector1">
            <a:avLst/>
          </a:prstGeom>
          <a:noFill/>
          <a:ln w="12700" cap="flat" cmpd="sng">
            <a:solidFill>
              <a:srgbClr val="29759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" name="Google Shape;21;p9"/>
          <p:cNvCxnSpPr/>
          <p:nvPr/>
        </p:nvCxnSpPr>
        <p:spPr>
          <a:xfrm>
            <a:off x="68976" y="542317"/>
            <a:ext cx="2791385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" name="Google Shape;22;p9"/>
          <p:cNvCxnSpPr/>
          <p:nvPr/>
        </p:nvCxnSpPr>
        <p:spPr>
          <a:xfrm rot="10800000">
            <a:off x="126735" y="404835"/>
            <a:ext cx="0" cy="216000"/>
          </a:xfrm>
          <a:prstGeom prst="straightConnector1">
            <a:avLst/>
          </a:prstGeom>
          <a:noFill/>
          <a:ln w="12700" cap="flat" cmpd="sng">
            <a:solidFill>
              <a:srgbClr val="29759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3" name="Google Shape;23;p9"/>
          <p:cNvCxnSpPr/>
          <p:nvPr/>
        </p:nvCxnSpPr>
        <p:spPr>
          <a:xfrm rot="10800000">
            <a:off x="155945" y="445135"/>
            <a:ext cx="0" cy="216000"/>
          </a:xfrm>
          <a:prstGeom prst="straightConnector1">
            <a:avLst/>
          </a:prstGeom>
          <a:noFill/>
          <a:ln w="12700" cap="flat" cmpd="sng">
            <a:solidFill>
              <a:srgbClr val="29759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4" name="Google Shape;24;p9"/>
          <p:cNvCxnSpPr/>
          <p:nvPr/>
        </p:nvCxnSpPr>
        <p:spPr>
          <a:xfrm>
            <a:off x="68976" y="512636"/>
            <a:ext cx="3234462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5" name="Google Shape;25;p9" descr="図形&#10;&#10;中程度の精度で自動的に生成された説明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84254" y="73507"/>
            <a:ext cx="1757090" cy="42236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9"/>
          <p:cNvSpPr txBox="1">
            <a:spLocks noGrp="1"/>
          </p:cNvSpPr>
          <p:nvPr>
            <p:ph type="title"/>
          </p:nvPr>
        </p:nvSpPr>
        <p:spPr>
          <a:xfrm>
            <a:off x="159470" y="86917"/>
            <a:ext cx="9265967" cy="422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  <a:defRPr sz="2400" b="0" i="0">
                <a:solidFill>
                  <a:srgbClr val="595959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グラフ, 背景パターン&#10;&#10;自動的に生成された説明">
            <a:extLst>
              <a:ext uri="{FF2B5EF4-FFF2-40B4-BE49-F238E27FC236}">
                <a16:creationId xmlns:a16="http://schemas.microsoft.com/office/drawing/2014/main" id="{13368E37-E6DF-0A3F-0278-3CE7269047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42" t="25983"/>
          <a:stretch/>
        </p:blipFill>
        <p:spPr>
          <a:xfrm>
            <a:off x="7510714" y="3222386"/>
            <a:ext cx="4681287" cy="3635619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0C027-3EA4-498D-98EC-03152DE3F03F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FBAEC-5837-45FF-9FCD-667E0711042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7BE239B-7B96-C3F9-C057-DA288BECA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8919" y="1822009"/>
            <a:ext cx="9861170" cy="618385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kumimoji="1" lang="en-US" altLang="ja-JP"/>
              <a:t>Title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8204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D2DBACB-1E02-D500-C713-AE7378720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0C000-D78E-C340-8824-D169296D400F}" type="datetime1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C399152-3130-EEE8-F82A-CADD04CAD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2833A6D-38E7-47D5-2EC7-E1DB0ACB1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42470-639C-5D4E-AE73-A41A5BA28C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531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タイトルとコンテンツ">
  <p:cSld name="2_タイトルとコンテンツ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9"/>
          <p:cNvSpPr txBox="1">
            <a:spLocks noGrp="1"/>
          </p:cNvSpPr>
          <p:nvPr>
            <p:ph type="title"/>
          </p:nvPr>
        </p:nvSpPr>
        <p:spPr>
          <a:xfrm>
            <a:off x="203200" y="229395"/>
            <a:ext cx="8153400" cy="544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eiryo"/>
              <a:buNone/>
              <a:defRPr sz="24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body" idx="1"/>
          </p:nvPr>
        </p:nvSpPr>
        <p:spPr>
          <a:xfrm>
            <a:off x="520700" y="1003303"/>
            <a:ext cx="11150600" cy="5150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￮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￮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sldNum" idx="12"/>
          </p:nvPr>
        </p:nvSpPr>
        <p:spPr>
          <a:xfrm>
            <a:off x="9271000" y="63785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‹#›</a:t>
            </a:fld>
            <a:endParaRPr/>
          </a:p>
        </p:txBody>
      </p:sp>
      <p:sp>
        <p:nvSpPr>
          <p:cNvPr id="22" name="Google Shape;22;p9"/>
          <p:cNvSpPr txBox="1"/>
          <p:nvPr/>
        </p:nvSpPr>
        <p:spPr>
          <a:xfrm>
            <a:off x="177799" y="6540930"/>
            <a:ext cx="4618487" cy="276959"/>
          </a:xfrm>
          <a:prstGeom prst="rect">
            <a:avLst/>
          </a:prstGeom>
          <a:gradFill>
            <a:gsLst>
              <a:gs pos="0">
                <a:schemeClr val="lt1"/>
              </a:gs>
              <a:gs pos="40000">
                <a:srgbClr val="FBFFFE"/>
              </a:gs>
              <a:gs pos="45000">
                <a:srgbClr val="EDF1F1"/>
              </a:gs>
              <a:gs pos="64000">
                <a:srgbClr val="F1F8F7"/>
              </a:gs>
              <a:gs pos="100000">
                <a:srgbClr val="EDF9F8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Meiryo"/>
              <a:buNone/>
            </a:pPr>
            <a:r>
              <a:rPr lang="ja-JP" sz="1200" b="0" i="0">
                <a:solidFill>
                  <a:srgbClr val="595959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Meiryo"/>
                <a:sym typeface="Meiryo"/>
              </a:rPr>
              <a:t>Copyright © 202</a:t>
            </a:r>
            <a:r>
              <a:rPr lang="en-US" altLang="ja-JP" sz="1200" b="0" i="0">
                <a:solidFill>
                  <a:srgbClr val="595959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Meiryo"/>
                <a:sym typeface="Meiryo"/>
              </a:rPr>
              <a:t>5</a:t>
            </a:r>
            <a:r>
              <a:rPr lang="ja-JP" sz="1200" b="0" i="0">
                <a:solidFill>
                  <a:srgbClr val="595959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Meiryo"/>
                <a:sym typeface="Meiryo"/>
              </a:rPr>
              <a:t>, NTT DXPartner Co.,Ltd , All rights reserved. </a:t>
            </a:r>
            <a:endParaRPr sz="1600" b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6305581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eiryo" panose="020B0604030504040204" pitchFamily="34" charset="-128"/>
                <a:ea typeface="Meiryo" panose="020B0604030504040204" pitchFamily="34" charset="-128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JP"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eiryo" panose="020B0604030504040204" pitchFamily="34" charset="-128"/>
                <a:ea typeface="Meiryo" panose="020B0604030504040204" pitchFamily="34" charset="-128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JP"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eiryo" panose="020B0604030504040204" pitchFamily="34" charset="-128"/>
                <a:ea typeface="Meiryo" panose="020B0604030504040204" pitchFamily="34" charset="-128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Meiryo" panose="020B0604030504040204" pitchFamily="34" charset="-128"/>
          <a:ea typeface="Meiryo" panose="020B0604030504040204" pitchFamily="34" charset="-128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Meiryo" panose="020B0604030504040204" pitchFamily="34" charset="-128"/>
          <a:ea typeface="Meiryo" panose="020B0604030504040204" pitchFamily="34" charset="-128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_image-1-1.png"/><Relationship Id="rId3" Type="http://schemas.openxmlformats.org/officeDocument/2006/relationships/image" Target="../media/s1_image-1-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2_image-2-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3_image-3-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4_image-4-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5_image-5-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6_image-6-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7_image-7-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8_image-8-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9_image-9-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0_image-10-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1_image-11-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2_image-12-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3_image-13-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eiryo UI"/>
              </a:rPr>
              <a:t>データ基盤構築のメリット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9661" y="409009"/>
            <a:ext cx="365007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Meiryo UI"/>
              </a:rPr>
              <a:t>共立製薬株式会社 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8919" y="4725384"/>
            <a:ext cx="724948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Meiryo UI"/>
              </a:rPr>
              <a:t>株式会社NTT DXパートナー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919" y="4356052"/>
            <a:ext cx="220568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Meiryo UI"/>
              </a:rPr>
              <a:t>2026年2月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eiryo UI"/>
              </a:rPr>
              <a:t>データ基盤構築のメリット 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0700" y="1003303"/>
            <a:ext cx="11150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Meiryo UI"/>
              </a:rPr>
              <a:t>★データ基盤を構築することで、研究の質向上と業務効率化の両面でメリットが得られます。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0700" y="1550000"/>
            <a:ext cx="11150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56082"/>
                </a:solidFill>
                <a:latin typeface="Meiryo UI"/>
              </a:rPr>
              <a:t>経験や勘ではなく、データに基づいた意思決定が可能になる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0700" y="2200000"/>
            <a:ext cx="5200000" cy="38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20700" y="2200000"/>
            <a:ext cx="5200000" cy="500000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1. データを研究に活かせる</a:t>
            </a:r>
          </a:p>
        </p:txBody>
      </p:sp>
      <p:sp>
        <p:nvSpPr>
          <p:cNvPr id="7" name="Oval 6"/>
          <p:cNvSpPr/>
          <p:nvPr/>
        </p:nvSpPr>
        <p:spPr>
          <a:xfrm>
            <a:off x="670700" y="2800000"/>
            <a:ext cx="480000" cy="4800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1-1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700" y="2880000"/>
            <a:ext cx="4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Meiryo UI"/>
              </a:rPr>
              <a:t>傾向の可視化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700" y="3230000"/>
            <a:ext cx="4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200">
                <a:solidFill>
                  <a:srgbClr val="666666"/>
                </a:solidFill>
                <a:latin typeface="Meiryo UI"/>
              </a:rPr>
              <a:t>ロット間比較、観察者間のばらつき分析など、
データの傾向を定量的に把握できる</a:t>
            </a:r>
          </a:p>
        </p:txBody>
      </p:sp>
      <p:sp>
        <p:nvSpPr>
          <p:cNvPr id="10" name="Oval 9"/>
          <p:cNvSpPr/>
          <p:nvPr/>
        </p:nvSpPr>
        <p:spPr>
          <a:xfrm>
            <a:off x="670700" y="4000000"/>
            <a:ext cx="480000" cy="4800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1-2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0700" y="4080000"/>
            <a:ext cx="4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Meiryo UI"/>
              </a:rPr>
              <a:t>異常検出・示唆出し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700" y="4430000"/>
            <a:ext cx="4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200">
                <a:solidFill>
                  <a:srgbClr val="666666"/>
                </a:solidFill>
                <a:latin typeface="Meiryo UI"/>
              </a:rPr>
              <a:t>早期予測、適正頭数算出、
Humane Endpoint基準の客観化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0000" y="2200000"/>
            <a:ext cx="5700000" cy="38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00000" y="2200000"/>
            <a:ext cx="5700000" cy="500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2. 業務を効率化できる</a:t>
            </a:r>
          </a:p>
        </p:txBody>
      </p:sp>
      <p:sp>
        <p:nvSpPr>
          <p:cNvPr id="15" name="Oval 14"/>
          <p:cNvSpPr/>
          <p:nvPr/>
        </p:nvSpPr>
        <p:spPr>
          <a:xfrm>
            <a:off x="6150000" y="2800000"/>
            <a:ext cx="480000" cy="480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2-1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0000" y="2900000"/>
            <a:ext cx="4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Meiryo UI"/>
              </a:rPr>
              <a:t>過去データの検索</a:t>
            </a:r>
          </a:p>
        </p:txBody>
      </p:sp>
      <p:sp>
        <p:nvSpPr>
          <p:cNvPr id="17" name="Oval 16"/>
          <p:cNvSpPr/>
          <p:nvPr/>
        </p:nvSpPr>
        <p:spPr>
          <a:xfrm>
            <a:off x="6150000" y="3500000"/>
            <a:ext cx="480000" cy="480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2-2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0000" y="3600000"/>
            <a:ext cx="4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Meiryo UI"/>
              </a:rPr>
              <a:t>転記・格納作業の削減</a:t>
            </a:r>
          </a:p>
        </p:txBody>
      </p:sp>
      <p:sp>
        <p:nvSpPr>
          <p:cNvPr id="19" name="Oval 18"/>
          <p:cNvSpPr/>
          <p:nvPr/>
        </p:nvSpPr>
        <p:spPr>
          <a:xfrm>
            <a:off x="6150000" y="4200000"/>
            <a:ext cx="480000" cy="480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2-3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80000" y="4300000"/>
            <a:ext cx="4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Meiryo UI"/>
              </a:rPr>
              <a:t>規制対応（GCP査察）</a:t>
            </a:r>
          </a:p>
        </p:txBody>
      </p:sp>
      <p:sp>
        <p:nvSpPr>
          <p:cNvPr id="21" name="Oval 20"/>
          <p:cNvSpPr/>
          <p:nvPr/>
        </p:nvSpPr>
        <p:spPr>
          <a:xfrm>
            <a:off x="6150000" y="4900000"/>
            <a:ext cx="480000" cy="480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2-4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0000" y="5000000"/>
            <a:ext cx="4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Meiryo UI"/>
              </a:rPr>
              <a:t>申請資料の作成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eiryo UI"/>
              </a:rPr>
              <a:t>1. データを研究に活かせる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0700" y="1003303"/>
            <a:ext cx="11150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Meiryo UI"/>
              </a:rPr>
              <a:t>★蓄積されたデータを分析することで、傾向の把握や異常の早期検出が可能になります。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0700" y="1700000"/>
            <a:ext cx="5400000" cy="42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20700" y="1700000"/>
            <a:ext cx="5400000" cy="450000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1-1. 傾向の可視化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700" y="230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Meiryo UI"/>
              </a:rPr>
              <a:t>ロット間で品質に差がないか確認したい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700" y="2650000"/>
            <a:ext cx="2400000" cy="700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3C5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0700" y="2680000"/>
            <a:ext cx="22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67E22"/>
                </a:solidFill>
                <a:latin typeface="Meiryo UI"/>
              </a:rPr>
              <a:t>現在（想定）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0700" y="290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00">
                <a:solidFill>
                  <a:srgbClr val="666666"/>
                </a:solidFill>
                <a:latin typeface="Meiryo UI"/>
              </a:rPr>
              <a:t>手作業で突き合わせ比較
担当者の判断に依存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70700" y="2850000"/>
            <a:ext cx="3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56082"/>
                </a:solidFill>
                <a:latin typeface="Meiryo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700" y="2650000"/>
            <a:ext cx="2200000" cy="700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0700" y="268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Meiryo UI"/>
              </a:rPr>
              <a:t>データ基盤構築後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0700" y="2900000"/>
            <a:ext cx="2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00">
                <a:solidFill>
                  <a:srgbClr val="666666"/>
                </a:solidFill>
                <a:latin typeface="Meiryo UI"/>
              </a:rPr>
              <a:t>Golden Batchと自動比較
逸脱を即座に検出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700" y="355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Meiryo UI"/>
              </a:rPr>
              <a:t>観察者間のスコアばらつきを確認したい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0700" y="3900000"/>
            <a:ext cx="2400000" cy="700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3C5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700" y="3930000"/>
            <a:ext cx="22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67E22"/>
                </a:solidFill>
                <a:latin typeface="Meiryo UI"/>
              </a:rPr>
              <a:t>現在（想定）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700" y="415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00">
                <a:solidFill>
                  <a:srgbClr val="666666"/>
                </a:solidFill>
                <a:latin typeface="Meiryo UI"/>
              </a:rPr>
              <a:t>研修や口頭指導で統一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0700" y="4100000"/>
            <a:ext cx="3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56082"/>
                </a:solidFill>
                <a:latin typeface="Meiryo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700" y="3900000"/>
            <a:ext cx="2200000" cy="700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0700" y="393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Meiryo UI"/>
              </a:rPr>
              <a:t>データ基盤構築後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0700" y="4150000"/>
            <a:ext cx="2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00">
                <a:solidFill>
                  <a:srgbClr val="666666"/>
                </a:solidFill>
                <a:latin typeface="Meiryo UI"/>
              </a:rPr>
              <a:t>統計的に比較
評価傾向の差を定量化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0000" y="1700000"/>
            <a:ext cx="5500000" cy="42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00000" y="1700000"/>
            <a:ext cx="5500000" cy="450000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1-2. 異常検出・示唆出し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000" y="2300000"/>
            <a:ext cx="5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Meiryo UI"/>
              </a:rPr>
              <a:t>試験途中から結果を早期に予測したい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000" y="2650000"/>
            <a:ext cx="2400000" cy="550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3C5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0000" y="268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67E22"/>
                </a:solidFill>
                <a:latin typeface="Meiryo UI"/>
              </a:rPr>
              <a:t>現在（想定）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0000" y="2860000"/>
            <a:ext cx="2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666666"/>
                </a:solidFill>
                <a:latin typeface="Meiryo UI"/>
              </a:rPr>
              <a:t>14日間完了後に評価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0000" y="2750000"/>
            <a:ext cx="3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56082"/>
                </a:solidFill>
                <a:latin typeface="Meiryo U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00000" y="2650000"/>
            <a:ext cx="2300000" cy="550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00000" y="2680000"/>
            <a:ext cx="21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Meiryo UI"/>
              </a:rPr>
              <a:t>データ基盤構築後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00000" y="2860000"/>
            <a:ext cx="2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666666"/>
                </a:solidFill>
                <a:latin typeface="Meiryo UI"/>
              </a:rPr>
              <a:t>蓄積データから早期判断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000" y="3350000"/>
            <a:ext cx="5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Meiryo UI"/>
              </a:rPr>
              <a:t>試験に使う動物の頭数を適切に決めたい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000" y="3700000"/>
            <a:ext cx="2400000" cy="550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3C5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00000" y="373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67E22"/>
                </a:solidFill>
                <a:latin typeface="Meiryo UI"/>
              </a:rPr>
              <a:t>現在（想定）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00000" y="3910000"/>
            <a:ext cx="2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666666"/>
                </a:solidFill>
                <a:latin typeface="Meiryo UI"/>
              </a:rPr>
              <a:t>慣例・経験値で決定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50000" y="3800000"/>
            <a:ext cx="3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56082"/>
                </a:solidFill>
                <a:latin typeface="Meiryo UI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00000" y="3700000"/>
            <a:ext cx="2300000" cy="550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00000" y="3730000"/>
            <a:ext cx="21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Meiryo UI"/>
              </a:rPr>
              <a:t>データ基盤構築後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00000" y="3910000"/>
            <a:ext cx="2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00">
                <a:solidFill>
                  <a:srgbClr val="666666"/>
                </a:solidFill>
                <a:latin typeface="Meiryo UI"/>
              </a:rPr>
              <a:t>統計的に最小頭数を算出
3Rs(Reduction)に貢献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000" y="4400000"/>
            <a:ext cx="5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Meiryo UI"/>
              </a:rPr>
              <a:t>Humane Endpoint基準を客観化したい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000" y="4750000"/>
            <a:ext cx="2400000" cy="550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3C5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00000" y="478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67E22"/>
                </a:solidFill>
                <a:latin typeface="Meiryo UI"/>
              </a:rPr>
              <a:t>現在（想定）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00000" y="4960000"/>
            <a:ext cx="2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666666"/>
                </a:solidFill>
                <a:latin typeface="Meiryo UI"/>
              </a:rPr>
              <a:t>経験則に基づく判断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50000" y="4850000"/>
            <a:ext cx="3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56082"/>
                </a:solidFill>
                <a:latin typeface="Meiryo UI"/>
              </a:rP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00000" y="4750000"/>
            <a:ext cx="2300000" cy="550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00000" y="4780000"/>
            <a:ext cx="21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Meiryo UI"/>
              </a:rPr>
              <a:t>データ基盤構築後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00000" y="4960000"/>
            <a:ext cx="2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00">
                <a:solidFill>
                  <a:srgbClr val="666666"/>
                </a:solidFill>
                <a:latin typeface="Meiryo UI"/>
              </a:rPr>
              <a:t>エビデンスで倫理委員会
への説明根拠を提示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eiryo UI"/>
              </a:rPr>
              <a:t>2. 業務を効率化できる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0700" y="1003303"/>
            <a:ext cx="11150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Meiryo UI"/>
              </a:rPr>
              <a:t>★データの検索・転記・保管にかかる手作業を削減し、規制対応や申請業務を効率化します。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0700" y="1700000"/>
            <a:ext cx="5400000" cy="25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20700" y="1750000"/>
            <a:ext cx="480000" cy="480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2-1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700" y="1820000"/>
            <a:ext cx="4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Meiryo UI"/>
              </a:rPr>
              <a:t>過去データの検索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700" y="2200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Meiryo UI"/>
              </a:rPr>
              <a:t>過去の試験結果を調べたい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700" y="2500000"/>
            <a:ext cx="2300000" cy="700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3C5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0700" y="2530000"/>
            <a:ext cx="21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7E22"/>
                </a:solidFill>
                <a:latin typeface="Meiryo UI"/>
              </a:rPr>
              <a:t>現在（想定）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700" y="2730000"/>
            <a:ext cx="210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900">
                <a:solidFill>
                  <a:srgbClr val="666666"/>
                </a:solidFill>
                <a:latin typeface="Meiryo UI"/>
              </a:rPr>
              <a:t>書庫から紙を探索
担当者の異動で所在不明リスク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0700" y="2700000"/>
            <a:ext cx="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7D32"/>
                </a:solidFill>
                <a:latin typeface="Meiryo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0700" y="2500000"/>
            <a:ext cx="2350000" cy="700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0700" y="2530000"/>
            <a:ext cx="215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7D32"/>
                </a:solidFill>
                <a:latin typeface="Meiryo UI"/>
              </a:rPr>
              <a:t>データ基盤構築後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0700" y="2730000"/>
            <a:ext cx="215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900">
                <a:solidFill>
                  <a:srgbClr val="666666"/>
                </a:solidFill>
                <a:latin typeface="Meiryo UI"/>
              </a:rPr>
              <a:t>試験名・個体番号等で
即座に横断検索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20700" y="1700000"/>
            <a:ext cx="5400000" cy="25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20700" y="1750000"/>
            <a:ext cx="480000" cy="480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2-2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0700" y="1820000"/>
            <a:ext cx="4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Meiryo UI"/>
              </a:rPr>
              <a:t>転記・格納作業の削減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0700" y="2200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Meiryo UI"/>
              </a:rPr>
              <a:t>スコアシートのデータを記録・保管したい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0700" y="2500000"/>
            <a:ext cx="2300000" cy="700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3C5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700" y="2530000"/>
            <a:ext cx="21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7E22"/>
                </a:solidFill>
                <a:latin typeface="Meiryo UI"/>
              </a:rPr>
              <a:t>現在（想定）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700" y="2730000"/>
            <a:ext cx="210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900">
                <a:solidFill>
                  <a:srgbClr val="666666"/>
                </a:solidFill>
                <a:latin typeface="Meiryo UI"/>
              </a:rPr>
              <a:t>手書き → ファイリング
他帳票への転記作業が発生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0700" y="2700000"/>
            <a:ext cx="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7D32"/>
                </a:solidFill>
                <a:latin typeface="Meiryo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70700" y="2500000"/>
            <a:ext cx="2350000" cy="700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0700" y="2530000"/>
            <a:ext cx="215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7D32"/>
                </a:solidFill>
                <a:latin typeface="Meiryo UI"/>
              </a:rPr>
              <a:t>データ基盤構築後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0700" y="2730000"/>
            <a:ext cx="215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900">
                <a:solidFill>
                  <a:srgbClr val="666666"/>
                </a:solidFill>
                <a:latin typeface="Meiryo UI"/>
              </a:rPr>
              <a:t>タブレットからデジタル入力
DBに自動格納・転記ミス解消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0700" y="4500000"/>
            <a:ext cx="5400000" cy="25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20700" y="4550000"/>
            <a:ext cx="480000" cy="480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2-3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700" y="4620000"/>
            <a:ext cx="4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Meiryo UI"/>
              </a:rPr>
              <a:t>規制対応（GCP査察）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700" y="5000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Meiryo UI"/>
              </a:rPr>
              <a:t>GCP査察・監査に対応したい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0700" y="5300000"/>
            <a:ext cx="2300000" cy="700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3C5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0700" y="5330000"/>
            <a:ext cx="21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7E22"/>
                </a:solidFill>
                <a:latin typeface="Meiryo UI"/>
              </a:rPr>
              <a:t>現在（想定）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0700" y="5530000"/>
            <a:ext cx="210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900">
                <a:solidFill>
                  <a:srgbClr val="666666"/>
                </a:solidFill>
                <a:latin typeface="Meiryo UI"/>
              </a:rPr>
              <a:t>紙の記録を手作業で整理
修正履歴の追跡が困難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70700" y="5500000"/>
            <a:ext cx="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7D32"/>
                </a:solidFill>
                <a:latin typeface="Meiryo U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70700" y="5300000"/>
            <a:ext cx="2350000" cy="700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0700" y="5330000"/>
            <a:ext cx="215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7D32"/>
                </a:solidFill>
                <a:latin typeface="Meiryo UI"/>
              </a:rPr>
              <a:t>データ基盤構築後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0700" y="5530000"/>
            <a:ext cx="215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900">
                <a:solidFill>
                  <a:srgbClr val="666666"/>
                </a:solidFill>
                <a:latin typeface="Meiryo UI"/>
              </a:rPr>
              <a:t>デジタル監査証跡が自動
raw data即時提出可能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20700" y="4500000"/>
            <a:ext cx="5400000" cy="25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20700" y="4550000"/>
            <a:ext cx="480000" cy="480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2-4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20700" y="4620000"/>
            <a:ext cx="4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Meiryo UI"/>
              </a:rPr>
              <a:t>申請資料の作成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0700" y="5000000"/>
            <a:ext cx="5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Meiryo UI"/>
              </a:rPr>
              <a:t>承認申請用の資料を作成したい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20700" y="5300000"/>
            <a:ext cx="2300000" cy="7000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3C5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0700" y="5330000"/>
            <a:ext cx="21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7E22"/>
                </a:solidFill>
                <a:latin typeface="Meiryo UI"/>
              </a:rPr>
              <a:t>現在（想定）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700" y="5530000"/>
            <a:ext cx="210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900">
                <a:solidFill>
                  <a:srgbClr val="666666"/>
                </a:solidFill>
                <a:latin typeface="Meiryo UI"/>
              </a:rPr>
              <a:t>集計・整形を手作業で実施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70700" y="5500000"/>
            <a:ext cx="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7D32"/>
                </a:solidFill>
                <a:latin typeface="Meiryo UI"/>
              </a:rP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70700" y="5300000"/>
            <a:ext cx="2350000" cy="700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70700" y="5330000"/>
            <a:ext cx="215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7D32"/>
                </a:solidFill>
                <a:latin typeface="Meiryo UI"/>
              </a:rPr>
              <a:t>データ基盤構築後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70700" y="5530000"/>
            <a:ext cx="215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900">
                <a:solidFill>
                  <a:srgbClr val="666666"/>
                </a:solidFill>
                <a:latin typeface="Meiryo UI"/>
              </a:rPr>
              <a:t>統計解析・個体別データを
申請様式で自動出力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eiryo UI"/>
              </a:rPr>
              <a:t>具体的な活用シーン一覧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0700" y="1003303"/>
            <a:ext cx="11150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Meiryo UI"/>
              </a:rPr>
              <a:t>★各メリットに紐づく具体的な活用シーンと、データ基盤構築前後の変化を整理しています。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0000" y="1700000"/>
          <a:ext cx="11600000" cy="3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000"/>
                <a:gridCol w="2600000"/>
                <a:gridCol w="4100000"/>
                <a:gridCol w="4100000"/>
              </a:tblGrid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Meiryo UI"/>
                        </a:rPr>
                        <a:t>分類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Meiryo UI"/>
                        </a:rPr>
                        <a:t>活用シーン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Meiryo UI"/>
                        </a:rPr>
                        <a:t>現在の運用（想定）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Meiryo UI"/>
                        </a:rPr>
                        <a:t>データ基盤構築後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56082"/>
                          </a:solidFill>
                          <a:latin typeface="Meiryo UI"/>
                        </a:rPr>
                        <a:t>1-1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ロット間品質比較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手作業で突き合わせ比較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Golden Batchと自動比較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56082"/>
                          </a:solidFill>
                          <a:latin typeface="Meiryo UI"/>
                        </a:rPr>
                        <a:t>1-1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観察者間ばらつき確認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研修・口頭指導で統一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統計的に評価傾向を定量化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56082"/>
                          </a:solidFill>
                          <a:latin typeface="Meiryo UI"/>
                        </a:rPr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試験結果の早期予測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14日間完了後に評価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蓄積データから早期判断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56082"/>
                          </a:solidFill>
                          <a:latin typeface="Meiryo UI"/>
                        </a:rPr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適正頭数の決定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慣例・経験値で決定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統計的に最小頭数を算出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56082"/>
                          </a:solidFill>
                          <a:latin typeface="Meiryo UI"/>
                        </a:rPr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Humane Endpoint基準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経験則に基づく判断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エビデンスで説明根拠を提示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56082"/>
                          </a:solidFill>
                          <a:latin typeface="Meiryo UI"/>
                        </a:rPr>
                        <a:t>2-1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過去試験結果の検索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書庫から紙を探索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キーワードで即座に横断検索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56082"/>
                          </a:solidFill>
                          <a:latin typeface="Meiryo UI"/>
                        </a:rPr>
                        <a:t>2-2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スコアシート記録・保管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手書き→ファイリング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デジタル入力→DB自動格納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56082"/>
                          </a:solidFill>
                          <a:latin typeface="Meiryo UI"/>
                        </a:rPr>
                        <a:t>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GCP査察・監査対応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紙記録を手作業で整理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デジタル監査証跡が自動記録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56082"/>
                          </a:solidFill>
                          <a:latin typeface="Meiryo UI"/>
                        </a:rPr>
                        <a:t>2-4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承認申請資料作成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集計・整形を手作業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Meiryo UI"/>
                        </a:rPr>
                        <a:t>申請様式で自動出力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00000" y="5600000"/>
            <a:ext cx="11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666666"/>
                </a:solidFill>
                <a:latin typeface="Meiryo UI"/>
              </a:rPr>
              <a:t>※「現在の運用（想定）」列は推測であり、実際の業務フローはヒアリングによる確認が必要です。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eiryo UI"/>
              </a:rP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0700" y="1003303"/>
            <a:ext cx="11150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Meiryo UI"/>
              </a:rPr>
              <a:t>★データ基盤構築により、研究品質の向上と業務効率化を同時に実現できます。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00000" y="1800000"/>
            <a:ext cx="9200000" cy="3600000"/>
          </a:xfrm>
          <a:prstGeom prst="roundRect">
            <a:avLst/>
          </a:prstGeom>
          <a:solidFill>
            <a:srgbClr val="EDF7FA"/>
          </a:solidFill>
          <a:ln w="1905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00000" y="2100000"/>
            <a:ext cx="4000000" cy="450000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0" y="218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1. データを研究に活かせる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0000" y="2650000"/>
            <a:ext cx="3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33333"/>
                </a:solidFill>
                <a:latin typeface="Meiryo UI"/>
              </a:rPr>
              <a:t>✓ 傾向の可視化（ロット比較・ばらつき分析）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0000" y="2950000"/>
            <a:ext cx="3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33333"/>
                </a:solidFill>
                <a:latin typeface="Meiryo UI"/>
              </a:rPr>
              <a:t>✓ 異常検出・示唆出し（早期予測・適正頭数）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0000" y="2100000"/>
            <a:ext cx="4200000" cy="450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0" y="2180000"/>
            <a:ext cx="4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2. 業務を効率化できる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000" y="2650000"/>
            <a:ext cx="3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33333"/>
                </a:solidFill>
                <a:latin typeface="Meiryo UI"/>
              </a:rPr>
              <a:t>✓ 過去データの即時検索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000" y="2900000"/>
            <a:ext cx="3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33333"/>
                </a:solidFill>
                <a:latin typeface="Meiryo UI"/>
              </a:rPr>
              <a:t>✓ 転記・格納作業の削減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0" y="3150000"/>
            <a:ext cx="3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33333"/>
                </a:solidFill>
                <a:latin typeface="Meiryo UI"/>
              </a:rPr>
              <a:t>✓ GCP査察・監査証跡の自動化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000" y="3400000"/>
            <a:ext cx="3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33333"/>
                </a:solidFill>
                <a:latin typeface="Meiryo UI"/>
              </a:rPr>
              <a:t>✓ 申請資料の自動出力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00000" y="4000000"/>
            <a:ext cx="6200000" cy="600000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00000" y="4100000"/>
            <a:ext cx="6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経験や勘ではなく、データに基づいた意思決定へ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700" y="5800000"/>
            <a:ext cx="11150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666666"/>
                </a:solidFill>
                <a:latin typeface="Meiryo UI"/>
              </a:rPr>
              <a:t>※「現在の運用（想定）」部分は推測です。実際の業務フローはヒアリングにて確認させていただきます。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tit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828800"/>
            <a:ext cx="9753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67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共立製薬株式会社 様</a:t>
            </a:r>
            <a:endParaRPr lang="en-US" sz="2667" dirty="0"/>
          </a:p>
        </p:txBody>
      </p:sp>
      <p:sp>
        <p:nvSpPr>
          <p:cNvPr id="4" name="Text 1"/>
          <p:cNvSpPr/>
          <p:nvPr/>
        </p:nvSpPr>
        <p:spPr>
          <a:xfrm>
            <a:off x="731520" y="2377440"/>
            <a:ext cx="97536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スコアシートDX提案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31520" y="3230880"/>
            <a:ext cx="9753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スマートデバイス入力 + データ基盤構築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5974080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2026年2月</a:t>
            </a:r>
            <a:endParaRPr lang="en-US" sz="1600" dirty="0"/>
          </a:p>
        </p:txBody>
      </p:sp>
      <p:pic>
        <p:nvPicPr>
          <p:cNvPr id="7" name="Image 1" descr="/Users/user/.claude/skills/ntt-dxpartner-pptx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2080" y="5486400"/>
            <a:ext cx="2438400" cy="5730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7680" y="304800"/>
            <a:ext cx="9753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前提（先方との合意事項）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87680" y="914400"/>
            <a:ext cx="11216640" cy="30480"/>
          </a:xfrm>
          <a:prstGeom prst="rect">
            <a:avLst/>
          </a:prstGeom>
          <a:solidFill>
            <a:srgbClr val="156082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1828800"/>
        </p:xfrm>
        <a:graphic>
          <a:graphicData uri="http://schemas.openxmlformats.org/drawingml/2006/table">
            <a:tbl>
              <a:tblPr/>
              <a:tblGrid>
                <a:gridCol w="3048000"/>
                <a:gridCol w="7924800"/>
              </a:tblGrid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33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</a:t>
                      </a:r>
                      <a:endParaRPr lang="en-US" sz="1733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33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733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33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経営層への稟議</a:t>
                      </a:r>
                      <a:endParaRPr lang="en-US" sz="1733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33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佐々木様を中心に現場で解像度を上げ、経営層へ稟議を出す方向で合意</a:t>
                      </a:r>
                      <a:endParaRPr lang="en-US" sz="1733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33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紙へのこだわり</a:t>
                      </a:r>
                      <a:endParaRPr lang="en-US" sz="1733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33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なし（デジタル入力への移行に前向き）</a:t>
                      </a:r>
                      <a:endParaRPr lang="en-US" sz="1733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33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ローデータ</a:t>
                      </a:r>
                      <a:endParaRPr lang="en-US" sz="1733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33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紙でもデータでも、ローデータの保管が必須（厚労省GCP準拠）</a:t>
                      </a:r>
                      <a:endParaRPr lang="en-US" sz="1733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09600" y="4023360"/>
            <a:ext cx="10972800" cy="1706880"/>
          </a:xfrm>
          <a:prstGeom prst="rect">
            <a:avLst/>
          </a:prstGeom>
          <a:solidFill>
            <a:srgbClr val="EDF7FA"/>
          </a:solidFill>
          <a:ln w="16933">
            <a:solidFill>
              <a:srgbClr val="156082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853440" y="4145280"/>
            <a:ext cx="24384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67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ポイント</a:t>
            </a:r>
            <a:endParaRPr lang="en-US" sz="1867" dirty="0"/>
          </a:p>
        </p:txBody>
      </p:sp>
      <p:sp>
        <p:nvSpPr>
          <p:cNvPr id="8" name="Text 4"/>
          <p:cNvSpPr/>
          <p:nvPr/>
        </p:nvSpPr>
        <p:spPr>
          <a:xfrm>
            <a:off x="853440" y="4632960"/>
            <a:ext cx="103632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紙にこだわりがないため、スマートデバイスでの直接入力が可能
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ローデータの保管が最重要 → 電子データを原本とする仕組みが必要
</a:t>
            </a:r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厚労省GCPガイドラインに準拠した監査証跡・セキュリティを実装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7680" y="304800"/>
            <a:ext cx="9753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本提案の全体像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87680" y="914400"/>
            <a:ext cx="11216640" cy="3048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Shape 2"/>
          <p:cNvSpPr/>
          <p:nvPr/>
        </p:nvSpPr>
        <p:spPr>
          <a:xfrm>
            <a:off x="609600" y="1341120"/>
            <a:ext cx="5120640" cy="3413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09600" y="1341120"/>
            <a:ext cx="5120640" cy="97536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7" name="Text 4"/>
          <p:cNvSpPr/>
          <p:nvPr/>
        </p:nvSpPr>
        <p:spPr>
          <a:xfrm>
            <a:off x="853440" y="1584960"/>
            <a:ext cx="609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67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</a:t>
            </a:r>
            <a:endParaRPr lang="en-US" sz="2667" dirty="0"/>
          </a:p>
        </p:txBody>
      </p:sp>
      <p:sp>
        <p:nvSpPr>
          <p:cNvPr id="8" name="Text 5"/>
          <p:cNvSpPr/>
          <p:nvPr/>
        </p:nvSpPr>
        <p:spPr>
          <a:xfrm>
            <a:off x="1463040" y="1645920"/>
            <a:ext cx="40233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33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スコアシートDX化</a:t>
            </a:r>
            <a:endParaRPr lang="en-US" sz="2133" dirty="0"/>
          </a:p>
        </p:txBody>
      </p:sp>
      <p:sp>
        <p:nvSpPr>
          <p:cNvPr id="9" name="Shape 6"/>
          <p:cNvSpPr/>
          <p:nvPr/>
        </p:nvSpPr>
        <p:spPr>
          <a:xfrm>
            <a:off x="853440" y="2255520"/>
            <a:ext cx="4632960" cy="18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Text 7"/>
          <p:cNvSpPr/>
          <p:nvPr/>
        </p:nvSpPr>
        <p:spPr>
          <a:xfrm>
            <a:off x="853440" y="2438400"/>
            <a:ext cx="46329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スマートデバイスでの直接入力に移行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53440" y="2926080"/>
            <a:ext cx="4632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67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・紙の記入・スキャン工程をなくす</a:t>
            </a:r>
            <a:endParaRPr lang="en-US" sz="1467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67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・入力時バリデーション</a:t>
            </a:r>
            <a:endParaRPr lang="en-US" sz="1467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67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・ローデータの電子保管</a:t>
            </a:r>
            <a:endParaRPr lang="en-US" sz="1467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67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・リアルタイムデータ反映</a:t>
            </a:r>
            <a:endParaRPr lang="en-US" sz="1467" dirty="0"/>
          </a:p>
        </p:txBody>
      </p:sp>
      <p:sp>
        <p:nvSpPr>
          <p:cNvPr id="12" name="Shape 9"/>
          <p:cNvSpPr/>
          <p:nvPr/>
        </p:nvSpPr>
        <p:spPr>
          <a:xfrm>
            <a:off x="6461760" y="1341120"/>
            <a:ext cx="5120640" cy="3413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61760" y="1341120"/>
            <a:ext cx="5120640" cy="97536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1584960"/>
            <a:ext cx="609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67" b="1" dirty="0">
                <a:solidFill>
                  <a:srgbClr val="F3C55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</a:t>
            </a:r>
            <a:endParaRPr lang="en-US" sz="2667" dirty="0"/>
          </a:p>
        </p:txBody>
      </p:sp>
      <p:sp>
        <p:nvSpPr>
          <p:cNvPr id="15" name="Text 12"/>
          <p:cNvSpPr/>
          <p:nvPr/>
        </p:nvSpPr>
        <p:spPr>
          <a:xfrm>
            <a:off x="7315200" y="1645920"/>
            <a:ext cx="40233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33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データ基盤構築</a:t>
            </a:r>
            <a:endParaRPr lang="en-US" sz="2133" dirty="0"/>
          </a:p>
        </p:txBody>
      </p:sp>
      <p:sp>
        <p:nvSpPr>
          <p:cNvPr id="16" name="Shape 13"/>
          <p:cNvSpPr/>
          <p:nvPr/>
        </p:nvSpPr>
        <p:spPr>
          <a:xfrm>
            <a:off x="6705600" y="2255520"/>
            <a:ext cx="4632960" cy="18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Text 14"/>
          <p:cNvSpPr/>
          <p:nvPr/>
        </p:nvSpPr>
        <p:spPr>
          <a:xfrm>
            <a:off x="6705600" y="2438400"/>
            <a:ext cx="46329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Excelデータの一元管理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AWS + Snowflake活用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705600" y="3048000"/>
            <a:ext cx="4632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67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・散在データの一元管理</a:t>
            </a:r>
            <a:endParaRPr lang="en-US" sz="1467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67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・検索・分析可能なデータ基盤</a:t>
            </a:r>
            <a:endParaRPr lang="en-US" sz="1467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67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・BIダッシュボード</a:t>
            </a:r>
            <a:endParaRPr lang="en-US" sz="1467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67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・将来のAI分析基盤</a:t>
            </a:r>
            <a:endParaRPr lang="en-US" sz="1467" dirty="0"/>
          </a:p>
        </p:txBody>
      </p:sp>
      <p:sp>
        <p:nvSpPr>
          <p:cNvPr id="19" name="Shape 16"/>
          <p:cNvSpPr/>
          <p:nvPr/>
        </p:nvSpPr>
        <p:spPr>
          <a:xfrm>
            <a:off x="609600" y="5120640"/>
            <a:ext cx="10972800" cy="731520"/>
          </a:xfrm>
          <a:prstGeom prst="rect">
            <a:avLst/>
          </a:prstGeom>
          <a:solidFill>
            <a:srgbClr val="E8F5E9"/>
          </a:solidFill>
          <a:ln w="16933">
            <a:solidFill>
              <a:srgbClr val="2E7D3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3440" y="5242560"/>
            <a:ext cx="103632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連携: スマートデバイス入力データ → データ基盤に直接投入（将来）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7680" y="304800"/>
            <a:ext cx="9753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提案①：課題認識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87680" y="914400"/>
            <a:ext cx="11216640" cy="3048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280160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33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現状の業務フロー</a:t>
            </a:r>
            <a:endParaRPr lang="en-US" sz="1733" dirty="0"/>
          </a:p>
        </p:txBody>
      </p:sp>
      <p:sp>
        <p:nvSpPr>
          <p:cNvPr id="6" name="Shape 3"/>
          <p:cNvSpPr/>
          <p:nvPr/>
        </p:nvSpPr>
        <p:spPr>
          <a:xfrm>
            <a:off x="609600" y="1828800"/>
            <a:ext cx="1950720" cy="853440"/>
          </a:xfrm>
          <a:prstGeom prst="roundRect">
            <a:avLst>
              <a:gd name="adj" fmla="val 7143"/>
            </a:avLst>
          </a:prstGeom>
          <a:solidFill>
            <a:srgbClr val="F8F9FA"/>
          </a:solidFill>
          <a:ln/>
        </p:spPr>
      </p:sp>
      <p:sp>
        <p:nvSpPr>
          <p:cNvPr id="7" name="Text 4"/>
          <p:cNvSpPr/>
          <p:nvPr/>
        </p:nvSpPr>
        <p:spPr>
          <a:xfrm>
            <a:off x="609600" y="1828800"/>
            <a:ext cx="19507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33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巡回</a:t>
            </a:r>
            <a:endParaRPr lang="en-US" sz="1333" dirty="0"/>
          </a:p>
        </p:txBody>
      </p:sp>
      <p:sp>
        <p:nvSpPr>
          <p:cNvPr id="8" name="Text 5"/>
          <p:cNvSpPr/>
          <p:nvPr/>
        </p:nvSpPr>
        <p:spPr>
          <a:xfrm>
            <a:off x="2499360" y="1950720"/>
            <a:ext cx="4876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67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867" dirty="0"/>
          </a:p>
        </p:txBody>
      </p:sp>
      <p:sp>
        <p:nvSpPr>
          <p:cNvPr id="9" name="Shape 6"/>
          <p:cNvSpPr/>
          <p:nvPr/>
        </p:nvSpPr>
        <p:spPr>
          <a:xfrm>
            <a:off x="2926080" y="1828800"/>
            <a:ext cx="1950720" cy="853440"/>
          </a:xfrm>
          <a:prstGeom prst="roundRect">
            <a:avLst>
              <a:gd name="adj" fmla="val 7143"/>
            </a:avLst>
          </a:prstGeom>
          <a:solidFill>
            <a:srgbClr val="F8F9FA"/>
          </a:solidFill>
          <a:ln/>
        </p:spPr>
      </p:sp>
      <p:sp>
        <p:nvSpPr>
          <p:cNvPr id="10" name="Text 7"/>
          <p:cNvSpPr/>
          <p:nvPr/>
        </p:nvSpPr>
        <p:spPr>
          <a:xfrm>
            <a:off x="2926080" y="1828800"/>
            <a:ext cx="19507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33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紙に記入</a:t>
            </a:r>
            <a:endParaRPr lang="en-US" sz="1333" dirty="0"/>
          </a:p>
        </p:txBody>
      </p:sp>
      <p:sp>
        <p:nvSpPr>
          <p:cNvPr id="11" name="Text 8"/>
          <p:cNvSpPr/>
          <p:nvPr/>
        </p:nvSpPr>
        <p:spPr>
          <a:xfrm>
            <a:off x="4815840" y="1950720"/>
            <a:ext cx="4876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67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867" dirty="0"/>
          </a:p>
        </p:txBody>
      </p:sp>
      <p:sp>
        <p:nvSpPr>
          <p:cNvPr id="12" name="Shape 9"/>
          <p:cNvSpPr/>
          <p:nvPr/>
        </p:nvSpPr>
        <p:spPr>
          <a:xfrm>
            <a:off x="5242560" y="1828800"/>
            <a:ext cx="1950720" cy="853440"/>
          </a:xfrm>
          <a:prstGeom prst="roundRect">
            <a:avLst>
              <a:gd name="adj" fmla="val 7143"/>
            </a:avLst>
          </a:prstGeom>
          <a:solidFill>
            <a:srgbClr val="F8F9FA"/>
          </a:solidFill>
          <a:ln/>
        </p:spPr>
      </p:sp>
      <p:sp>
        <p:nvSpPr>
          <p:cNvPr id="13" name="Text 10"/>
          <p:cNvSpPr/>
          <p:nvPr/>
        </p:nvSpPr>
        <p:spPr>
          <a:xfrm>
            <a:off x="5242560" y="1828800"/>
            <a:ext cx="19507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33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PDFスキャン</a:t>
            </a:r>
            <a:endParaRPr lang="en-US" sz="1333" dirty="0"/>
          </a:p>
        </p:txBody>
      </p:sp>
      <p:sp>
        <p:nvSpPr>
          <p:cNvPr id="14" name="Text 11"/>
          <p:cNvSpPr/>
          <p:nvPr/>
        </p:nvSpPr>
        <p:spPr>
          <a:xfrm>
            <a:off x="7132320" y="1950720"/>
            <a:ext cx="4876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67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867" dirty="0"/>
          </a:p>
        </p:txBody>
      </p:sp>
      <p:sp>
        <p:nvSpPr>
          <p:cNvPr id="15" name="Shape 12"/>
          <p:cNvSpPr/>
          <p:nvPr/>
        </p:nvSpPr>
        <p:spPr>
          <a:xfrm>
            <a:off x="7559040" y="1828800"/>
            <a:ext cx="1950720" cy="853440"/>
          </a:xfrm>
          <a:prstGeom prst="roundRect">
            <a:avLst>
              <a:gd name="adj" fmla="val 7143"/>
            </a:avLst>
          </a:prstGeom>
          <a:solidFill>
            <a:srgbClr val="FFEBEE"/>
          </a:solidFill>
          <a:ln/>
        </p:spPr>
      </p:sp>
      <p:sp>
        <p:nvSpPr>
          <p:cNvPr id="16" name="Text 13"/>
          <p:cNvSpPr/>
          <p:nvPr/>
        </p:nvSpPr>
        <p:spPr>
          <a:xfrm>
            <a:off x="7559040" y="1828800"/>
            <a:ext cx="19507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33" b="1" dirty="0">
                <a:solidFill>
                  <a:srgbClr val="C628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Excel転記</a:t>
            </a:r>
            <a:endParaRPr lang="en-US" sz="1333" dirty="0"/>
          </a:p>
          <a:p>
            <a:pPr algn="ctr" indent="0" marL="0">
              <a:buNone/>
            </a:pPr>
            <a:r>
              <a:rPr lang="en-US" sz="1333" b="1" dirty="0">
                <a:solidFill>
                  <a:srgbClr val="C628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（手作業）</a:t>
            </a:r>
            <a:endParaRPr lang="en-US" sz="1333" dirty="0"/>
          </a:p>
        </p:txBody>
      </p:sp>
      <p:sp>
        <p:nvSpPr>
          <p:cNvPr id="17" name="Text 14"/>
          <p:cNvSpPr/>
          <p:nvPr/>
        </p:nvSpPr>
        <p:spPr>
          <a:xfrm>
            <a:off x="9448800" y="1950720"/>
            <a:ext cx="4876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67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867" dirty="0"/>
          </a:p>
        </p:txBody>
      </p:sp>
      <p:sp>
        <p:nvSpPr>
          <p:cNvPr id="18" name="Shape 15"/>
          <p:cNvSpPr/>
          <p:nvPr/>
        </p:nvSpPr>
        <p:spPr>
          <a:xfrm>
            <a:off x="9875520" y="1828800"/>
            <a:ext cx="1950720" cy="853440"/>
          </a:xfrm>
          <a:prstGeom prst="roundRect">
            <a:avLst>
              <a:gd name="adj" fmla="val 7143"/>
            </a:avLst>
          </a:prstGeom>
          <a:solidFill>
            <a:srgbClr val="F8F9FA"/>
          </a:solidFill>
          <a:ln/>
        </p:spPr>
      </p:sp>
      <p:sp>
        <p:nvSpPr>
          <p:cNvPr id="19" name="Text 16"/>
          <p:cNvSpPr/>
          <p:nvPr/>
        </p:nvSpPr>
        <p:spPr>
          <a:xfrm>
            <a:off x="9875520" y="1828800"/>
            <a:ext cx="19507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33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Dropbox</a:t>
            </a:r>
            <a:endParaRPr lang="en-US" sz="1333" dirty="0"/>
          </a:p>
          <a:p>
            <a:pPr algn="ctr" indent="0" marL="0">
              <a:buNone/>
            </a:pPr>
            <a:r>
              <a:rPr lang="en-US" sz="1333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保存</a:t>
            </a:r>
            <a:endParaRPr lang="en-US" sz="1333" dirty="0"/>
          </a:p>
        </p:txBody>
      </p:sp>
      <p:sp>
        <p:nvSpPr>
          <p:cNvPr id="20" name="Text 17"/>
          <p:cNvSpPr/>
          <p:nvPr/>
        </p:nvSpPr>
        <p:spPr>
          <a:xfrm>
            <a:off x="7315200" y="2804160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67" b="1" dirty="0">
                <a:solidFill>
                  <a:srgbClr val="C628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↑ ここが課題</a:t>
            </a:r>
            <a:endParaRPr lang="en-US" sz="1467" dirty="0"/>
          </a:p>
        </p:txBody>
      </p:sp>
      <p:sp>
        <p:nvSpPr>
          <p:cNvPr id="21" name="Text 18"/>
          <p:cNvSpPr/>
          <p:nvPr/>
        </p:nvSpPr>
        <p:spPr>
          <a:xfrm>
            <a:off x="609600" y="3413760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33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課題と影響</a:t>
            </a:r>
            <a:endParaRPr lang="en-US" sz="1733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8229600" cy="1828800"/>
        </p:xfrm>
        <a:graphic>
          <a:graphicData uri="http://schemas.openxmlformats.org/drawingml/2006/table">
            <a:tbl>
              <a:tblPr/>
              <a:tblGrid>
                <a:gridCol w="4267200"/>
                <a:gridCol w="6705600"/>
              </a:tblGrid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課題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影響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転記作業の工数負担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担当者の業務時間を圧迫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転記ミスのリスク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データ品質の低下、ローデータの信頼性に影響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属人化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特定担当者への依存、業務継続リスク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紙の保管管理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保管スペース、紛失・劣化リスク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7680" y="304800"/>
            <a:ext cx="9753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提案①：アプローチの方向転換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87680" y="914400"/>
            <a:ext cx="11216640" cy="3048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280160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33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検討経緯</a:t>
            </a:r>
            <a:endParaRPr lang="en-US" sz="1733" dirty="0"/>
          </a:p>
        </p:txBody>
      </p:sp>
      <p:sp>
        <p:nvSpPr>
          <p:cNvPr id="6" name="Shape 3"/>
          <p:cNvSpPr/>
          <p:nvPr/>
        </p:nvSpPr>
        <p:spPr>
          <a:xfrm>
            <a:off x="609600" y="1828800"/>
            <a:ext cx="10972800" cy="853440"/>
          </a:xfrm>
          <a:prstGeom prst="rect">
            <a:avLst/>
          </a:prstGeom>
          <a:solidFill>
            <a:srgbClr val="EDF7FA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53440" y="1950720"/>
            <a:ext cx="103632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当初はOCR（紙→スキャン→自動読取）を検討 → 先方との議論を経てスマートデバイスでの直接入力に方向転換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09600" y="2926080"/>
            <a:ext cx="7315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33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OCR方式 vs スマートデバイス入力</a:t>
            </a:r>
            <a:endParaRPr lang="en-US" sz="1733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8229600" cy="2286000"/>
        </p:xfrm>
        <a:graphic>
          <a:graphicData uri="http://schemas.openxmlformats.org/drawingml/2006/table">
            <a:tbl>
              <a:tblPr/>
              <a:tblGrid>
                <a:gridCol w="2438400"/>
                <a:gridCol w="4267200"/>
                <a:gridCol w="4267200"/>
              </a:tblGrid>
              <a:tr h="508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67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観点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67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OCR方式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67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スマートデバイス入力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紙の工程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dirty="0">
                          <a:solidFill>
                            <a:srgbClr val="C62828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残る（紙→スキャン→OCR）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b="1" dirty="0">
                          <a:solidFill>
                            <a:srgbClr val="2E7D3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なくなる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転記作業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自動化（確認作業は残る）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b="1" dirty="0">
                          <a:solidFill>
                            <a:srgbClr val="2E7D3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そもそも不要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データ精度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OCR精度に依存（85%目標）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b="1" dirty="0">
                          <a:solidFill>
                            <a:srgbClr val="2E7D3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入力時バリデーション可能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リアルタイム性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バッチ処理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b="1" dirty="0">
                          <a:solidFill>
                            <a:srgbClr val="2E7D3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即時反映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ローデータ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紙が原本、電子は複製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b="1" dirty="0">
                          <a:solidFill>
                            <a:srgbClr val="2E7D3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電子データが原本になる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7680" y="304800"/>
            <a:ext cx="9753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提案①：新しい業務フロー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87680" y="914400"/>
            <a:ext cx="11216640" cy="3048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280160"/>
            <a:ext cx="60960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33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提案する業務フロー</a:t>
            </a:r>
            <a:endParaRPr lang="en-US" sz="1733" dirty="0"/>
          </a:p>
        </p:txBody>
      </p:sp>
      <p:sp>
        <p:nvSpPr>
          <p:cNvPr id="6" name="Shape 3"/>
          <p:cNvSpPr/>
          <p:nvPr/>
        </p:nvSpPr>
        <p:spPr>
          <a:xfrm>
            <a:off x="609600" y="1828800"/>
            <a:ext cx="2438400" cy="12192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/>
        </p:spPr>
      </p:sp>
      <p:sp>
        <p:nvSpPr>
          <p:cNvPr id="7" name="Text 4"/>
          <p:cNvSpPr/>
          <p:nvPr/>
        </p:nvSpPr>
        <p:spPr>
          <a:xfrm>
            <a:off x="609600" y="1828800"/>
            <a:ext cx="24384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67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巡回</a:t>
            </a:r>
            <a:endParaRPr lang="en-US" sz="1467" dirty="0"/>
          </a:p>
        </p:txBody>
      </p:sp>
      <p:sp>
        <p:nvSpPr>
          <p:cNvPr id="8" name="Text 5"/>
          <p:cNvSpPr/>
          <p:nvPr/>
        </p:nvSpPr>
        <p:spPr>
          <a:xfrm>
            <a:off x="2987040" y="2072640"/>
            <a:ext cx="60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67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667" dirty="0"/>
          </a:p>
        </p:txBody>
      </p:sp>
      <p:sp>
        <p:nvSpPr>
          <p:cNvPr id="9" name="Shape 6"/>
          <p:cNvSpPr/>
          <p:nvPr/>
        </p:nvSpPr>
        <p:spPr>
          <a:xfrm>
            <a:off x="3535680" y="1828800"/>
            <a:ext cx="2438400" cy="1219200"/>
          </a:xfrm>
          <a:prstGeom prst="roundRect">
            <a:avLst>
              <a:gd name="adj" fmla="val 5000"/>
            </a:avLst>
          </a:prstGeom>
          <a:solidFill>
            <a:srgbClr val="156082"/>
          </a:solidFill>
          <a:ln/>
        </p:spPr>
      </p:sp>
      <p:sp>
        <p:nvSpPr>
          <p:cNvPr id="10" name="Text 7"/>
          <p:cNvSpPr/>
          <p:nvPr/>
        </p:nvSpPr>
        <p:spPr>
          <a:xfrm>
            <a:off x="3535680" y="1828800"/>
            <a:ext cx="24384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67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スマート</a:t>
            </a:r>
            <a:endParaRPr lang="en-US" sz="1467" dirty="0"/>
          </a:p>
          <a:p>
            <a:pPr algn="ctr" indent="0" marL="0">
              <a:buNone/>
            </a:pPr>
            <a:r>
              <a:rPr lang="en-US" sz="1467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デバイスで</a:t>
            </a:r>
            <a:endParaRPr lang="en-US" sz="1467" dirty="0"/>
          </a:p>
          <a:p>
            <a:pPr algn="ctr" indent="0" marL="0">
              <a:buNone/>
            </a:pPr>
            <a:r>
              <a:rPr lang="en-US" sz="1467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直接入力</a:t>
            </a:r>
            <a:endParaRPr lang="en-US" sz="1467" dirty="0"/>
          </a:p>
        </p:txBody>
      </p:sp>
      <p:sp>
        <p:nvSpPr>
          <p:cNvPr id="11" name="Text 8"/>
          <p:cNvSpPr/>
          <p:nvPr/>
        </p:nvSpPr>
        <p:spPr>
          <a:xfrm>
            <a:off x="5913120" y="2072640"/>
            <a:ext cx="60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67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667" dirty="0"/>
          </a:p>
        </p:txBody>
      </p:sp>
      <p:sp>
        <p:nvSpPr>
          <p:cNvPr id="12" name="Shape 9"/>
          <p:cNvSpPr/>
          <p:nvPr/>
        </p:nvSpPr>
        <p:spPr>
          <a:xfrm>
            <a:off x="6461760" y="1828800"/>
            <a:ext cx="2438400" cy="1219200"/>
          </a:xfrm>
          <a:prstGeom prst="roundRect">
            <a:avLst>
              <a:gd name="adj" fmla="val 5000"/>
            </a:avLst>
          </a:prstGeom>
          <a:solidFill>
            <a:srgbClr val="6CE6E8"/>
          </a:solidFill>
          <a:ln/>
        </p:spPr>
      </p:sp>
      <p:sp>
        <p:nvSpPr>
          <p:cNvPr id="13" name="Text 10"/>
          <p:cNvSpPr/>
          <p:nvPr/>
        </p:nvSpPr>
        <p:spPr>
          <a:xfrm>
            <a:off x="6461760" y="1828800"/>
            <a:ext cx="24384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67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データ保存</a:t>
            </a:r>
            <a:endParaRPr lang="en-US" sz="1467" dirty="0"/>
          </a:p>
          <a:p>
            <a:pPr algn="ctr" indent="0" marL="0">
              <a:buNone/>
            </a:pPr>
            <a:r>
              <a:rPr lang="en-US" sz="1467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（クラウド）</a:t>
            </a:r>
            <a:endParaRPr lang="en-US" sz="1467" dirty="0"/>
          </a:p>
        </p:txBody>
      </p:sp>
      <p:sp>
        <p:nvSpPr>
          <p:cNvPr id="14" name="Text 11"/>
          <p:cNvSpPr/>
          <p:nvPr/>
        </p:nvSpPr>
        <p:spPr>
          <a:xfrm>
            <a:off x="8839200" y="2072640"/>
            <a:ext cx="60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67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667" dirty="0"/>
          </a:p>
        </p:txBody>
      </p:sp>
      <p:sp>
        <p:nvSpPr>
          <p:cNvPr id="15" name="Shape 12"/>
          <p:cNvSpPr/>
          <p:nvPr/>
        </p:nvSpPr>
        <p:spPr>
          <a:xfrm>
            <a:off x="9387840" y="1828800"/>
            <a:ext cx="2438400" cy="12192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/>
        </p:spPr>
      </p:sp>
      <p:sp>
        <p:nvSpPr>
          <p:cNvPr id="16" name="Text 13"/>
          <p:cNvSpPr/>
          <p:nvPr/>
        </p:nvSpPr>
        <p:spPr>
          <a:xfrm>
            <a:off x="9387840" y="1828800"/>
            <a:ext cx="24384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67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Excel出力 /</a:t>
            </a:r>
            <a:endParaRPr lang="en-US" sz="1467" dirty="0"/>
          </a:p>
          <a:p>
            <a:pPr algn="ctr" indent="0" marL="0">
              <a:buNone/>
            </a:pPr>
            <a:r>
              <a:rPr lang="en-US" sz="1467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ダッシュ</a:t>
            </a:r>
            <a:endParaRPr lang="en-US" sz="1467" dirty="0"/>
          </a:p>
          <a:p>
            <a:pPr algn="ctr" indent="0" marL="0">
              <a:buNone/>
            </a:pPr>
            <a:r>
              <a:rPr lang="en-US" sz="1467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ボード</a:t>
            </a:r>
            <a:endParaRPr lang="en-US" sz="1467" dirty="0"/>
          </a:p>
        </p:txBody>
      </p:sp>
      <p:sp>
        <p:nvSpPr>
          <p:cNvPr id="17" name="Text 14"/>
          <p:cNvSpPr/>
          <p:nvPr/>
        </p:nvSpPr>
        <p:spPr>
          <a:xfrm>
            <a:off x="3048000" y="3169920"/>
            <a:ext cx="304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67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↑ ここをデジタル化</a:t>
            </a:r>
            <a:endParaRPr lang="en-US" sz="1467" dirty="0"/>
          </a:p>
        </p:txBody>
      </p:sp>
      <p:sp>
        <p:nvSpPr>
          <p:cNvPr id="18" name="Text 15"/>
          <p:cNvSpPr/>
          <p:nvPr/>
        </p:nvSpPr>
        <p:spPr>
          <a:xfrm>
            <a:off x="5730240" y="3169920"/>
            <a:ext cx="426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67" b="1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↑ ローデータとして電子保管（GCP準拠）</a:t>
            </a:r>
            <a:endParaRPr lang="en-US" sz="1467" dirty="0"/>
          </a:p>
        </p:txBody>
      </p:sp>
      <p:sp>
        <p:nvSpPr>
          <p:cNvPr id="19" name="Text 16"/>
          <p:cNvSpPr/>
          <p:nvPr/>
        </p:nvSpPr>
        <p:spPr>
          <a:xfrm>
            <a:off x="609600" y="3779520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33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期待効果</a:t>
            </a:r>
            <a:endParaRPr lang="en-US" sz="1733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54680"/>
          <a:ext cx="8229600" cy="1828800"/>
        </p:xfrm>
        <a:graphic>
          <a:graphicData uri="http://schemas.openxmlformats.org/drawingml/2006/table">
            <a:tbl>
              <a:tblPr/>
              <a:tblGrid>
                <a:gridCol w="2438400"/>
                <a:gridCol w="4267200"/>
                <a:gridCol w="4267200"/>
              </a:tblGrid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67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指標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67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現状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67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導入後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転記作業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手作業でExcel転記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b="1" dirty="0">
                          <a:solidFill>
                            <a:srgbClr val="2E7D3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完全不要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データ精度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転記ミスあり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b="1" dirty="0">
                          <a:solidFill>
                            <a:srgbClr val="2E7D3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入力時バリデーションで担保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データ反映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バッチ（転記後）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b="1" dirty="0">
                          <a:solidFill>
                            <a:srgbClr val="2E7D3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リアルタイム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ローデータ保管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紙保管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b="1" dirty="0">
                          <a:solidFill>
                            <a:srgbClr val="2E7D3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電子保管（監査証跡付き）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7680" y="304800"/>
            <a:ext cx="9753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提案①：ローデータ保管要件（厚労省GCP準拠）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87680" y="914400"/>
            <a:ext cx="11216640" cy="3048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28016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33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電子データを原資料（ローデータ）とするための要件</a:t>
            </a:r>
            <a:endParaRPr lang="en-US" sz="1733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194560"/>
        </p:xfrm>
        <a:graphic>
          <a:graphicData uri="http://schemas.openxmlformats.org/drawingml/2006/table">
            <a:tbl>
              <a:tblPr/>
              <a:tblGrid>
                <a:gridCol w="731520"/>
                <a:gridCol w="3657600"/>
                <a:gridCol w="6583680"/>
              </a:tblGrid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67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#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要件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対応方針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システム完全性の保証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クラウド基盤による可用性・信頼性の確保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データ修正履歴の記録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全操作の監査証跡（Audit Trail）を自動記録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セキュリティシステム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ユーザー認証、権限管理、アクセスログ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バックアップ体制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自動バックアップ、災害復旧計画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データ修正者名簿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操作者の特定・管理（ユーザーアカウント管理）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09600" y="4876800"/>
            <a:ext cx="10972800" cy="1706880"/>
          </a:xfrm>
          <a:prstGeom prst="rect">
            <a:avLst/>
          </a:prstGeom>
          <a:solidFill>
            <a:srgbClr val="E8F5E9"/>
          </a:solidFill>
          <a:ln w="16933">
            <a:solidFill>
              <a:srgbClr val="2E7D32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853440" y="4998720"/>
            <a:ext cx="975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スマートデバイス入力のメリット（ローデータ観点）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53440" y="5364480"/>
            <a:ext cx="1036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33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・監査証跡が自動記録: 誰が・いつ・何を入力/修正したか全て記録</a:t>
            </a:r>
            <a:endParaRPr lang="en-US" sz="1333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33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・改ざん防止: 修正履歴が残るため、紙よりもデータの信頼性が高い</a:t>
            </a:r>
            <a:endParaRPr lang="en-US" sz="1333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33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・保管の確実性: クラウド保管により紛失・劣化リスクを排除</a:t>
            </a:r>
            <a:endParaRPr lang="en-US" sz="1333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33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・検索性: 必要なデータを即座に検索・抽出可能</a:t>
            </a:r>
            <a:endParaRPr lang="en-US" sz="1333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7680" y="304800"/>
            <a:ext cx="9753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提案①：進め方（案）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87680" y="914400"/>
            <a:ext cx="11216640" cy="3048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280160"/>
            <a:ext cx="7315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33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PoC → 本開発の2段階アプローチ</a:t>
            </a:r>
            <a:endParaRPr lang="en-US" sz="1733" dirty="0"/>
          </a:p>
        </p:txBody>
      </p:sp>
      <p:sp>
        <p:nvSpPr>
          <p:cNvPr id="6" name="Shape 3"/>
          <p:cNvSpPr/>
          <p:nvPr/>
        </p:nvSpPr>
        <p:spPr>
          <a:xfrm>
            <a:off x="609600" y="1828800"/>
            <a:ext cx="5120640" cy="2682240"/>
          </a:xfrm>
          <a:prstGeom prst="roundRect">
            <a:avLst>
              <a:gd name="adj" fmla="val 2273"/>
            </a:avLst>
          </a:prstGeom>
          <a:solidFill>
            <a:srgbClr val="EDF7FA"/>
          </a:solidFill>
          <a:ln w="16933">
            <a:solidFill>
              <a:srgbClr val="15608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3440" y="1950720"/>
            <a:ext cx="4632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67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Phase 1: PoC</a:t>
            </a:r>
            <a:endParaRPr lang="en-US" sz="1867" dirty="0"/>
          </a:p>
        </p:txBody>
      </p:sp>
      <p:sp>
        <p:nvSpPr>
          <p:cNvPr id="8" name="Text 5"/>
          <p:cNvSpPr/>
          <p:nvPr/>
        </p:nvSpPr>
        <p:spPr>
          <a:xfrm>
            <a:off x="853440" y="2438400"/>
            <a:ext cx="4632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67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・入力フォーム試作</a:t>
            </a:r>
            <a:endParaRPr lang="en-US" sz="1467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67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・主要項目の入力検証</a:t>
            </a:r>
            <a:endParaRPr lang="en-US" sz="1467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67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・オフライン対応検証</a:t>
            </a:r>
            <a:endParaRPr lang="en-US" sz="1467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67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・現場フィードバック</a:t>
            </a:r>
            <a:endParaRPr lang="en-US" sz="1467" dirty="0"/>
          </a:p>
        </p:txBody>
      </p:sp>
      <p:sp>
        <p:nvSpPr>
          <p:cNvPr id="9" name="Text 6"/>
          <p:cNvSpPr/>
          <p:nvPr/>
        </p:nvSpPr>
        <p:spPr>
          <a:xfrm>
            <a:off x="5730240" y="2682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733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3733" dirty="0"/>
          </a:p>
        </p:txBody>
      </p:sp>
      <p:sp>
        <p:nvSpPr>
          <p:cNvPr id="10" name="Text 7"/>
          <p:cNvSpPr/>
          <p:nvPr/>
        </p:nvSpPr>
        <p:spPr>
          <a:xfrm>
            <a:off x="5608320" y="3413760"/>
            <a:ext cx="9753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67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現場評価</a:t>
            </a:r>
            <a:endParaRPr lang="en-US" sz="1067" dirty="0"/>
          </a:p>
          <a:p>
            <a:pPr algn="ctr" indent="0" marL="0">
              <a:buNone/>
            </a:pPr>
            <a:r>
              <a:rPr lang="en-US" sz="1067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Go/No-Go</a:t>
            </a:r>
            <a:endParaRPr lang="en-US" sz="1067" dirty="0"/>
          </a:p>
        </p:txBody>
      </p:sp>
      <p:sp>
        <p:nvSpPr>
          <p:cNvPr id="11" name="Shape 8"/>
          <p:cNvSpPr/>
          <p:nvPr/>
        </p:nvSpPr>
        <p:spPr>
          <a:xfrm>
            <a:off x="6461760" y="1828800"/>
            <a:ext cx="5120640" cy="2682240"/>
          </a:xfrm>
          <a:prstGeom prst="roundRect">
            <a:avLst>
              <a:gd name="adj" fmla="val 2273"/>
            </a:avLst>
          </a:prstGeom>
          <a:solidFill>
            <a:srgbClr val="F8F9FA"/>
          </a:solidFill>
          <a:ln w="16933">
            <a:solidFill>
              <a:srgbClr val="E0E0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05600" y="1950720"/>
            <a:ext cx="46329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67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Phase 2: 本開発</a:t>
            </a:r>
            <a:endParaRPr lang="en-US" sz="1867" dirty="0"/>
          </a:p>
        </p:txBody>
      </p:sp>
      <p:sp>
        <p:nvSpPr>
          <p:cNvPr id="13" name="Text 10"/>
          <p:cNvSpPr/>
          <p:nvPr/>
        </p:nvSpPr>
        <p:spPr>
          <a:xfrm>
            <a:off x="6705600" y="2438400"/>
            <a:ext cx="4632960" cy="1706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67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・本番UI/UX</a:t>
            </a:r>
            <a:endParaRPr lang="en-US" sz="1467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67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・全スコアシート対応</a:t>
            </a:r>
            <a:endParaRPr lang="en-US" sz="1467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67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・ローデータ保管機能</a:t>
            </a:r>
            <a:endParaRPr lang="en-US" sz="1467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67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・Excel出力 / 監査証跡</a:t>
            </a:r>
            <a:endParaRPr lang="en-US" sz="1467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67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・データ基盤連携</a:t>
            </a:r>
            <a:endParaRPr lang="en-US" sz="1467" dirty="0"/>
          </a:p>
        </p:txBody>
      </p:sp>
      <p:sp>
        <p:nvSpPr>
          <p:cNvPr id="14" name="Text 11"/>
          <p:cNvSpPr/>
          <p:nvPr/>
        </p:nvSpPr>
        <p:spPr>
          <a:xfrm>
            <a:off x="609600" y="4754880"/>
            <a:ext cx="60960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33" b="1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今後検討が必要な事項</a:t>
            </a:r>
            <a:endParaRPr lang="en-US" sz="1733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86200"/>
          <a:ext cx="8229600" cy="1097280"/>
        </p:xfrm>
        <a:graphic>
          <a:graphicData uri="http://schemas.openxmlformats.org/drawingml/2006/table">
            <a:tbl>
              <a:tblPr/>
              <a:tblGrid>
                <a:gridCol w="609600"/>
                <a:gridCol w="3048000"/>
                <a:gridCol w="73152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33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#</a:t>
                      </a:r>
                      <a:endParaRPr lang="en-US" sz="1333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33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論点</a:t>
                      </a:r>
                      <a:endParaRPr lang="en-US" sz="1333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33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検討内容</a:t>
                      </a:r>
                      <a:endParaRPr lang="en-US" sz="1333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33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333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33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デバイス選定</a:t>
                      </a:r>
                      <a:endParaRPr lang="en-US" sz="1333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33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タブレット or スマートフォン / 機種 / 配備台数</a:t>
                      </a:r>
                      <a:endParaRPr lang="en-US" sz="1333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33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333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33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入力フォーム設計</a:t>
                      </a:r>
                      <a:endParaRPr lang="en-US" sz="1333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33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既存スコアシートの項目をどう電子フォーム化するか</a:t>
                      </a:r>
                      <a:endParaRPr lang="en-US" sz="1333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33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333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33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オフライン対応</a:t>
                      </a:r>
                      <a:endParaRPr lang="en-US" sz="1333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33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圏外での入力 → 復帰時の同期方式</a:t>
                      </a:r>
                      <a:endParaRPr lang="en-US" sz="1333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33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333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33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技術基盤</a:t>
                      </a:r>
                      <a:endParaRPr lang="en-US" sz="1333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33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Webアプリ / ネイティブアプリ / PWA</a:t>
                      </a:r>
                      <a:endParaRPr lang="en-US" sz="1333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7680" y="304800"/>
            <a:ext cx="9753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提案②：データ基盤構築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87680" y="914400"/>
            <a:ext cx="11216640" cy="3048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280160"/>
            <a:ext cx="24384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09600" y="1706880"/>
            <a:ext cx="4267200" cy="182880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53440" y="1828800"/>
            <a:ext cx="365760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67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Dropbox上にExcelが散在</a:t>
            </a:r>
            <a:endParaRPr lang="en-US" sz="1467" dirty="0"/>
          </a:p>
          <a:p>
            <a:pPr indent="0" marL="0">
              <a:lnSpc>
                <a:spcPts val="1600"/>
              </a:lnSpc>
              <a:buNone/>
            </a:pPr>
            <a:endParaRPr lang="en-US" sz="1467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67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・データ散逸</a:t>
            </a:r>
            <a:endParaRPr lang="en-US" sz="1467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67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・検索困難</a:t>
            </a:r>
            <a:endParaRPr lang="en-US" sz="1467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67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・活用困難</a:t>
            </a:r>
            <a:endParaRPr lang="en-US" sz="1467" dirty="0"/>
          </a:p>
        </p:txBody>
      </p:sp>
      <p:sp>
        <p:nvSpPr>
          <p:cNvPr id="8" name="Text 5"/>
          <p:cNvSpPr/>
          <p:nvPr/>
        </p:nvSpPr>
        <p:spPr>
          <a:xfrm>
            <a:off x="4998720" y="2316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733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3733" dirty="0"/>
          </a:p>
        </p:txBody>
      </p:sp>
      <p:sp>
        <p:nvSpPr>
          <p:cNvPr id="9" name="Text 6"/>
          <p:cNvSpPr/>
          <p:nvPr/>
        </p:nvSpPr>
        <p:spPr>
          <a:xfrm>
            <a:off x="5852160" y="1280160"/>
            <a:ext cx="24384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目指す姿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852160" y="1706880"/>
            <a:ext cx="5730240" cy="18288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096000" y="1828800"/>
            <a:ext cx="512064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67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Snowflakeで一元管理</a:t>
            </a:r>
            <a:endParaRPr lang="en-US" sz="1467" dirty="0"/>
          </a:p>
          <a:p>
            <a:pPr indent="0" marL="0">
              <a:lnSpc>
                <a:spcPts val="1600"/>
              </a:lnSpc>
              <a:buNone/>
            </a:pPr>
            <a:endParaRPr lang="en-US" sz="1467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67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・構造化データ</a:t>
            </a:r>
            <a:endParaRPr lang="en-US" sz="1467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67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・検索・分析可能</a:t>
            </a:r>
            <a:endParaRPr lang="en-US" sz="1467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67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・BIダッシュボード</a:t>
            </a:r>
            <a:endParaRPr lang="en-US" sz="1467" dirty="0"/>
          </a:p>
        </p:txBody>
      </p:sp>
      <p:sp>
        <p:nvSpPr>
          <p:cNvPr id="12" name="Text 9"/>
          <p:cNvSpPr/>
          <p:nvPr/>
        </p:nvSpPr>
        <p:spPr>
          <a:xfrm>
            <a:off x="609600" y="3779520"/>
            <a:ext cx="60960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33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システム構成（AWS + Snowflake）</a:t>
            </a:r>
            <a:endParaRPr lang="en-US" sz="1733" dirty="0"/>
          </a:p>
        </p:txBody>
      </p:sp>
      <p:sp>
        <p:nvSpPr>
          <p:cNvPr id="13" name="Shape 10"/>
          <p:cNvSpPr/>
          <p:nvPr/>
        </p:nvSpPr>
        <p:spPr>
          <a:xfrm>
            <a:off x="609600" y="4328160"/>
            <a:ext cx="2438400" cy="1097280"/>
          </a:xfrm>
          <a:prstGeom prst="roundRect">
            <a:avLst>
              <a:gd name="adj" fmla="val 5556"/>
            </a:avLst>
          </a:prstGeom>
          <a:solidFill>
            <a:srgbClr val="F8F9FA"/>
          </a:solidFill>
          <a:ln/>
        </p:spPr>
      </p:sp>
      <p:sp>
        <p:nvSpPr>
          <p:cNvPr id="14" name="Text 11"/>
          <p:cNvSpPr/>
          <p:nvPr/>
        </p:nvSpPr>
        <p:spPr>
          <a:xfrm>
            <a:off x="609600" y="4328160"/>
            <a:ext cx="243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67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Dropbox</a:t>
            </a:r>
            <a:endParaRPr lang="en-US" sz="1467" dirty="0"/>
          </a:p>
          <a:p>
            <a:pPr algn="ctr" indent="0" marL="0">
              <a:buNone/>
            </a:pPr>
            <a:r>
              <a:rPr lang="en-US" sz="1467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(Excel)</a:t>
            </a:r>
            <a:endParaRPr lang="en-US" sz="1467" dirty="0"/>
          </a:p>
        </p:txBody>
      </p:sp>
      <p:sp>
        <p:nvSpPr>
          <p:cNvPr id="15" name="Text 12"/>
          <p:cNvSpPr/>
          <p:nvPr/>
        </p:nvSpPr>
        <p:spPr>
          <a:xfrm>
            <a:off x="2987040" y="4511040"/>
            <a:ext cx="60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67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667" dirty="0"/>
          </a:p>
        </p:txBody>
      </p:sp>
      <p:sp>
        <p:nvSpPr>
          <p:cNvPr id="16" name="Shape 13"/>
          <p:cNvSpPr/>
          <p:nvPr/>
        </p:nvSpPr>
        <p:spPr>
          <a:xfrm>
            <a:off x="3535680" y="4328160"/>
            <a:ext cx="2438400" cy="1097280"/>
          </a:xfrm>
          <a:prstGeom prst="roundRect">
            <a:avLst>
              <a:gd name="adj" fmla="val 5556"/>
            </a:avLst>
          </a:prstGeom>
          <a:solidFill>
            <a:srgbClr val="156082"/>
          </a:solidFill>
          <a:ln/>
        </p:spPr>
      </p:sp>
      <p:sp>
        <p:nvSpPr>
          <p:cNvPr id="17" name="Text 14"/>
          <p:cNvSpPr/>
          <p:nvPr/>
        </p:nvSpPr>
        <p:spPr>
          <a:xfrm>
            <a:off x="3535680" y="4328160"/>
            <a:ext cx="243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67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インポート</a:t>
            </a:r>
            <a:endParaRPr lang="en-US" sz="1467" dirty="0"/>
          </a:p>
          <a:p>
            <a:pPr algn="ctr" indent="0" marL="0">
              <a:buNone/>
            </a:pPr>
            <a:r>
              <a:rPr lang="en-US" sz="1467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スクリプト</a:t>
            </a:r>
            <a:endParaRPr lang="en-US" sz="1467" dirty="0"/>
          </a:p>
        </p:txBody>
      </p:sp>
      <p:sp>
        <p:nvSpPr>
          <p:cNvPr id="18" name="Text 15"/>
          <p:cNvSpPr/>
          <p:nvPr/>
        </p:nvSpPr>
        <p:spPr>
          <a:xfrm>
            <a:off x="5913120" y="4511040"/>
            <a:ext cx="60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67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667" dirty="0"/>
          </a:p>
        </p:txBody>
      </p:sp>
      <p:sp>
        <p:nvSpPr>
          <p:cNvPr id="19" name="Shape 16"/>
          <p:cNvSpPr/>
          <p:nvPr/>
        </p:nvSpPr>
        <p:spPr>
          <a:xfrm>
            <a:off x="6461760" y="4328160"/>
            <a:ext cx="2438400" cy="1097280"/>
          </a:xfrm>
          <a:prstGeom prst="roundRect">
            <a:avLst>
              <a:gd name="adj" fmla="val 5556"/>
            </a:avLst>
          </a:prstGeom>
          <a:solidFill>
            <a:srgbClr val="E8F5E9"/>
          </a:solidFill>
          <a:ln/>
        </p:spPr>
      </p:sp>
      <p:sp>
        <p:nvSpPr>
          <p:cNvPr id="20" name="Text 17"/>
          <p:cNvSpPr/>
          <p:nvPr/>
        </p:nvSpPr>
        <p:spPr>
          <a:xfrm>
            <a:off x="6461760" y="4328160"/>
            <a:ext cx="243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67" b="1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Snowflake</a:t>
            </a:r>
            <a:endParaRPr lang="en-US" sz="1467" dirty="0"/>
          </a:p>
          <a:p>
            <a:pPr algn="ctr" indent="0" marL="0">
              <a:buNone/>
            </a:pPr>
            <a:r>
              <a:rPr lang="en-US" sz="1467" b="1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(DWH)</a:t>
            </a:r>
            <a:endParaRPr lang="en-US" sz="1467" dirty="0"/>
          </a:p>
        </p:txBody>
      </p:sp>
      <p:sp>
        <p:nvSpPr>
          <p:cNvPr id="21" name="Text 18"/>
          <p:cNvSpPr/>
          <p:nvPr/>
        </p:nvSpPr>
        <p:spPr>
          <a:xfrm>
            <a:off x="8839200" y="4511040"/>
            <a:ext cx="60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67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667" dirty="0"/>
          </a:p>
        </p:txBody>
      </p:sp>
      <p:sp>
        <p:nvSpPr>
          <p:cNvPr id="22" name="Shape 19"/>
          <p:cNvSpPr/>
          <p:nvPr/>
        </p:nvSpPr>
        <p:spPr>
          <a:xfrm>
            <a:off x="9387840" y="4328160"/>
            <a:ext cx="2438400" cy="1097280"/>
          </a:xfrm>
          <a:prstGeom prst="roundRect">
            <a:avLst>
              <a:gd name="adj" fmla="val 5556"/>
            </a:avLst>
          </a:prstGeom>
          <a:solidFill>
            <a:srgbClr val="6CE6E8"/>
          </a:solidFill>
          <a:ln/>
        </p:spPr>
      </p:sp>
      <p:sp>
        <p:nvSpPr>
          <p:cNvPr id="23" name="Text 20"/>
          <p:cNvSpPr/>
          <p:nvPr/>
        </p:nvSpPr>
        <p:spPr>
          <a:xfrm>
            <a:off x="9387840" y="4328160"/>
            <a:ext cx="243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67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 /</a:t>
            </a:r>
            <a:endParaRPr lang="en-US" sz="1467" dirty="0"/>
          </a:p>
          <a:p>
            <a:pPr algn="ctr" indent="0" marL="0">
              <a:buNone/>
            </a:pPr>
            <a:r>
              <a:rPr lang="en-US" sz="1467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検索UI</a:t>
            </a:r>
            <a:endParaRPr lang="en-US" sz="1467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51960"/>
          <a:ext cx="8229600" cy="731520"/>
        </p:xfrm>
        <a:graphic>
          <a:graphicData uri="http://schemas.openxmlformats.org/drawingml/2006/table">
            <a:tbl>
              <a:tblPr/>
              <a:tblGrid>
                <a:gridCol w="2438400"/>
                <a:gridCol w="1828800"/>
                <a:gridCol w="6705600"/>
              </a:tblGrid>
              <a:tr h="325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33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コンポーネント</a:t>
                      </a:r>
                      <a:endParaRPr lang="en-US" sz="1333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33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選定</a:t>
                      </a:r>
                      <a:endParaRPr lang="en-US" sz="1333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33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理由</a:t>
                      </a:r>
                      <a:endParaRPr lang="en-US" sz="1333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33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データ基盤</a:t>
                      </a:r>
                      <a:endParaRPr lang="en-US" sz="1333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33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Snowflake</a:t>
                      </a:r>
                      <a:endParaRPr lang="en-US" sz="1333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33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貴社で既に利用中、スケーラビリティ、SQL対応</a:t>
                      </a:r>
                      <a:endParaRPr lang="en-US" sz="1333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33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環境</a:t>
                      </a:r>
                      <a:endParaRPr lang="en-US" sz="1333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33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AWS</a:t>
                      </a:r>
                      <a:endParaRPr lang="en-US" sz="1333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33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貴社既存環境を活用、セキュリティポリシー適合</a:t>
                      </a:r>
                      <a:endParaRPr lang="en-US" sz="1333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7680" y="304800"/>
            <a:ext cx="9753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提案②：情シス連携の進め方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87680" y="914400"/>
            <a:ext cx="11216640" cy="3048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Shape 2"/>
          <p:cNvSpPr/>
          <p:nvPr/>
        </p:nvSpPr>
        <p:spPr>
          <a:xfrm>
            <a:off x="609600" y="1341120"/>
            <a:ext cx="1828800" cy="975360"/>
          </a:xfrm>
          <a:prstGeom prst="roundRect">
            <a:avLst>
              <a:gd name="adj" fmla="val 6250"/>
            </a:avLst>
          </a:prstGeom>
          <a:solidFill>
            <a:srgbClr val="156082"/>
          </a:solidFill>
          <a:ln/>
        </p:spPr>
      </p:sp>
      <p:sp>
        <p:nvSpPr>
          <p:cNvPr id="6" name="Text 3"/>
          <p:cNvSpPr/>
          <p:nvPr/>
        </p:nvSpPr>
        <p:spPr>
          <a:xfrm>
            <a:off x="609600" y="1341120"/>
            <a:ext cx="18288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1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682240" y="1341120"/>
            <a:ext cx="8900160" cy="975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682240" y="1341120"/>
            <a:ext cx="97536" cy="9753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9" name="Text 6"/>
          <p:cNvSpPr/>
          <p:nvPr/>
        </p:nvSpPr>
        <p:spPr>
          <a:xfrm>
            <a:off x="3048000" y="1402080"/>
            <a:ext cx="4267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33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初回顔合わせ</a:t>
            </a:r>
            <a:endParaRPr lang="en-US" sz="1733" dirty="0"/>
          </a:p>
        </p:txBody>
      </p:sp>
      <p:sp>
        <p:nvSpPr>
          <p:cNvPr id="10" name="Text 7"/>
          <p:cNvSpPr/>
          <p:nvPr/>
        </p:nvSpPr>
        <p:spPr>
          <a:xfrm>
            <a:off x="304800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33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プロジェクト概要説明、協力体制構築</a:t>
            </a:r>
            <a:endParaRPr lang="en-US" sz="1333" dirty="0"/>
          </a:p>
        </p:txBody>
      </p:sp>
      <p:sp>
        <p:nvSpPr>
          <p:cNvPr id="11" name="Text 8"/>
          <p:cNvSpPr/>
          <p:nvPr/>
        </p:nvSpPr>
        <p:spPr>
          <a:xfrm>
            <a:off x="8778240" y="1524000"/>
            <a:ext cx="25603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情シス + 現場 + 弊社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219200" y="2255520"/>
            <a:ext cx="609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67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↓</a:t>
            </a:r>
            <a:endParaRPr lang="en-US" sz="1867" dirty="0"/>
          </a:p>
        </p:txBody>
      </p:sp>
      <p:sp>
        <p:nvSpPr>
          <p:cNvPr id="13" name="Shape 10"/>
          <p:cNvSpPr/>
          <p:nvPr/>
        </p:nvSpPr>
        <p:spPr>
          <a:xfrm>
            <a:off x="609600" y="2621280"/>
            <a:ext cx="1828800" cy="975360"/>
          </a:xfrm>
          <a:prstGeom prst="roundRect">
            <a:avLst>
              <a:gd name="adj" fmla="val 6250"/>
            </a:avLst>
          </a:prstGeom>
          <a:solidFill>
            <a:srgbClr val="156082"/>
          </a:solidFill>
          <a:ln/>
        </p:spPr>
      </p:sp>
      <p:sp>
        <p:nvSpPr>
          <p:cNvPr id="14" name="Text 11"/>
          <p:cNvSpPr/>
          <p:nvPr/>
        </p:nvSpPr>
        <p:spPr>
          <a:xfrm>
            <a:off x="609600" y="2621280"/>
            <a:ext cx="18288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2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682240" y="2621280"/>
            <a:ext cx="8900160" cy="975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682240" y="2621280"/>
            <a:ext cx="97536" cy="9753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17" name="Text 14"/>
          <p:cNvSpPr/>
          <p:nvPr/>
        </p:nvSpPr>
        <p:spPr>
          <a:xfrm>
            <a:off x="3048000" y="2682240"/>
            <a:ext cx="4267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33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技術要件すり合わせ</a:t>
            </a:r>
            <a:endParaRPr lang="en-US" sz="1733" dirty="0"/>
          </a:p>
        </p:txBody>
      </p:sp>
      <p:sp>
        <p:nvSpPr>
          <p:cNvPr id="18" name="Text 15"/>
          <p:cNvSpPr/>
          <p:nvPr/>
        </p:nvSpPr>
        <p:spPr>
          <a:xfrm>
            <a:off x="3048000" y="3108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33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AWS環境確認、Snowflake設定、セキュリティ要件</a:t>
            </a:r>
            <a:endParaRPr lang="en-US" sz="1333" dirty="0"/>
          </a:p>
        </p:txBody>
      </p:sp>
      <p:sp>
        <p:nvSpPr>
          <p:cNvPr id="19" name="Text 16"/>
          <p:cNvSpPr/>
          <p:nvPr/>
        </p:nvSpPr>
        <p:spPr>
          <a:xfrm>
            <a:off x="8778240" y="2804160"/>
            <a:ext cx="25603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情シス + 弊社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219200" y="3535680"/>
            <a:ext cx="609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67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↓</a:t>
            </a:r>
            <a:endParaRPr lang="en-US" sz="1867" dirty="0"/>
          </a:p>
        </p:txBody>
      </p:sp>
      <p:sp>
        <p:nvSpPr>
          <p:cNvPr id="21" name="Shape 18"/>
          <p:cNvSpPr/>
          <p:nvPr/>
        </p:nvSpPr>
        <p:spPr>
          <a:xfrm>
            <a:off x="609600" y="3901440"/>
            <a:ext cx="1828800" cy="975360"/>
          </a:xfrm>
          <a:prstGeom prst="roundRect">
            <a:avLst>
              <a:gd name="adj" fmla="val 6250"/>
            </a:avLst>
          </a:prstGeom>
          <a:solidFill>
            <a:srgbClr val="F3C551"/>
          </a:solidFill>
          <a:ln/>
        </p:spPr>
      </p:sp>
      <p:sp>
        <p:nvSpPr>
          <p:cNvPr id="22" name="Text 19"/>
          <p:cNvSpPr/>
          <p:nvPr/>
        </p:nvSpPr>
        <p:spPr>
          <a:xfrm>
            <a:off x="609600" y="3901440"/>
            <a:ext cx="18288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3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2682240" y="3901440"/>
            <a:ext cx="8900160" cy="975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682240" y="3901440"/>
            <a:ext cx="97536" cy="97536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25" name="Text 22"/>
          <p:cNvSpPr/>
          <p:nvPr/>
        </p:nvSpPr>
        <p:spPr>
          <a:xfrm>
            <a:off x="3048000" y="3962400"/>
            <a:ext cx="4267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33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環境準備</a:t>
            </a:r>
            <a:endParaRPr lang="en-US" sz="1733" dirty="0"/>
          </a:p>
        </p:txBody>
      </p:sp>
      <p:sp>
        <p:nvSpPr>
          <p:cNvPr id="26" name="Text 23"/>
          <p:cNvSpPr/>
          <p:nvPr/>
        </p:nvSpPr>
        <p:spPr>
          <a:xfrm>
            <a:off x="3048000" y="4389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33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権限付与、環境セットアップ</a:t>
            </a:r>
            <a:endParaRPr lang="en-US" sz="1333" dirty="0"/>
          </a:p>
        </p:txBody>
      </p:sp>
      <p:sp>
        <p:nvSpPr>
          <p:cNvPr id="27" name="Text 24"/>
          <p:cNvSpPr/>
          <p:nvPr/>
        </p:nvSpPr>
        <p:spPr>
          <a:xfrm>
            <a:off x="8778240" y="4084320"/>
            <a:ext cx="25603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情シス（弊社サポート）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219200" y="4815840"/>
            <a:ext cx="609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67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↓</a:t>
            </a:r>
            <a:endParaRPr lang="en-US" sz="1867" dirty="0"/>
          </a:p>
        </p:txBody>
      </p:sp>
      <p:sp>
        <p:nvSpPr>
          <p:cNvPr id="29" name="Shape 26"/>
          <p:cNvSpPr/>
          <p:nvPr/>
        </p:nvSpPr>
        <p:spPr>
          <a:xfrm>
            <a:off x="609600" y="5181600"/>
            <a:ext cx="1828800" cy="975360"/>
          </a:xfrm>
          <a:prstGeom prst="roundRect">
            <a:avLst>
              <a:gd name="adj" fmla="val 6250"/>
            </a:avLst>
          </a:prstGeom>
          <a:solidFill>
            <a:srgbClr val="F3C551"/>
          </a:solidFill>
          <a:ln/>
        </p:spPr>
      </p:sp>
      <p:sp>
        <p:nvSpPr>
          <p:cNvPr id="30" name="Text 27"/>
          <p:cNvSpPr/>
          <p:nvPr/>
        </p:nvSpPr>
        <p:spPr>
          <a:xfrm>
            <a:off x="609600" y="5181600"/>
            <a:ext cx="18288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4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2682240" y="5181600"/>
            <a:ext cx="8900160" cy="975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2682240" y="5181600"/>
            <a:ext cx="97536" cy="97536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33" name="Text 30"/>
          <p:cNvSpPr/>
          <p:nvPr/>
        </p:nvSpPr>
        <p:spPr>
          <a:xfrm>
            <a:off x="3048000" y="5242560"/>
            <a:ext cx="4267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33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開発・テスト</a:t>
            </a:r>
            <a:endParaRPr lang="en-US" sz="1733" dirty="0"/>
          </a:p>
        </p:txBody>
      </p:sp>
      <p:sp>
        <p:nvSpPr>
          <p:cNvPr id="34" name="Text 31"/>
          <p:cNvSpPr/>
          <p:nvPr/>
        </p:nvSpPr>
        <p:spPr>
          <a:xfrm>
            <a:off x="3048000" y="5669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33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インポートスクリプト開発、テスト</a:t>
            </a:r>
            <a:endParaRPr lang="en-US" sz="1333" dirty="0"/>
          </a:p>
        </p:txBody>
      </p:sp>
      <p:sp>
        <p:nvSpPr>
          <p:cNvPr id="35" name="Text 32"/>
          <p:cNvSpPr/>
          <p:nvPr/>
        </p:nvSpPr>
        <p:spPr>
          <a:xfrm>
            <a:off x="8778240" y="5364480"/>
            <a:ext cx="25603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弊社（情シスレビュー）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09600" y="621792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情シスとの議論ポイント</a:t>
            </a:r>
            <a:endParaRPr lang="en-US" sz="1467" dirty="0"/>
          </a:p>
        </p:txBody>
      </p:sp>
      <p:sp>
        <p:nvSpPr>
          <p:cNvPr id="37" name="Text 34"/>
          <p:cNvSpPr/>
          <p:nvPr/>
        </p:nvSpPr>
        <p:spPr>
          <a:xfrm>
            <a:off x="609600" y="6522720"/>
            <a:ext cx="109728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33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権限範囲 │ データ格納ポリシー │ セキュリティルール │ 対応可能時期</a:t>
            </a:r>
            <a:endParaRPr lang="en-US" sz="1333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7680" y="304800"/>
            <a:ext cx="9753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提案①②の連携イメージ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87680" y="914400"/>
            <a:ext cx="11216640" cy="3048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Shape 2"/>
          <p:cNvSpPr/>
          <p:nvPr/>
        </p:nvSpPr>
        <p:spPr>
          <a:xfrm>
            <a:off x="609600" y="1341120"/>
            <a:ext cx="4632960" cy="304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09600" y="1341120"/>
            <a:ext cx="4632960" cy="97536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7" name="Text 4"/>
          <p:cNvSpPr/>
          <p:nvPr/>
        </p:nvSpPr>
        <p:spPr>
          <a:xfrm>
            <a:off x="853440" y="1584960"/>
            <a:ext cx="41452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33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提案① スコアシートDX化</a:t>
            </a:r>
            <a:endParaRPr lang="en-US" sz="1733" dirty="0"/>
          </a:p>
        </p:txBody>
      </p:sp>
      <p:sp>
        <p:nvSpPr>
          <p:cNvPr id="8" name="Shape 5"/>
          <p:cNvSpPr/>
          <p:nvPr/>
        </p:nvSpPr>
        <p:spPr>
          <a:xfrm>
            <a:off x="853440" y="2133600"/>
            <a:ext cx="4145280" cy="18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Text 6"/>
          <p:cNvSpPr/>
          <p:nvPr/>
        </p:nvSpPr>
        <p:spPr>
          <a:xfrm>
            <a:off x="853440" y="2316480"/>
            <a:ext cx="4145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67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・スマートデバイス入力</a:t>
            </a:r>
            <a:endParaRPr lang="en-US" sz="1467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67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・入力時バリデーション</a:t>
            </a:r>
            <a:endParaRPr lang="en-US" sz="1467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67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・ローデータ電子保管</a:t>
            </a:r>
            <a:endParaRPr lang="en-US" sz="1467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67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・監査証跡</a:t>
            </a:r>
            <a:endParaRPr lang="en-US" sz="1467" dirty="0"/>
          </a:p>
        </p:txBody>
      </p:sp>
      <p:sp>
        <p:nvSpPr>
          <p:cNvPr id="10" name="Shape 7"/>
          <p:cNvSpPr/>
          <p:nvPr/>
        </p:nvSpPr>
        <p:spPr>
          <a:xfrm>
            <a:off x="5364480" y="2560320"/>
            <a:ext cx="1463040" cy="6096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8"/>
          <p:cNvSpPr/>
          <p:nvPr/>
        </p:nvSpPr>
        <p:spPr>
          <a:xfrm>
            <a:off x="5364480" y="2621280"/>
            <a:ext cx="14630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33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直接投入</a:t>
            </a:r>
            <a:endParaRPr lang="en-US" sz="1333" dirty="0"/>
          </a:p>
        </p:txBody>
      </p:sp>
      <p:sp>
        <p:nvSpPr>
          <p:cNvPr id="12" name="Shape 9"/>
          <p:cNvSpPr/>
          <p:nvPr/>
        </p:nvSpPr>
        <p:spPr>
          <a:xfrm>
            <a:off x="6949440" y="1341120"/>
            <a:ext cx="4632960" cy="304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949440" y="1341120"/>
            <a:ext cx="4632960" cy="97536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14" name="Text 11"/>
          <p:cNvSpPr/>
          <p:nvPr/>
        </p:nvSpPr>
        <p:spPr>
          <a:xfrm>
            <a:off x="7193280" y="1584960"/>
            <a:ext cx="41452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33" b="1" dirty="0">
                <a:solidFill>
                  <a:srgbClr val="F3C55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提案② データ基盤構築</a:t>
            </a:r>
            <a:endParaRPr lang="en-US" sz="1733" dirty="0"/>
          </a:p>
        </p:txBody>
      </p:sp>
      <p:sp>
        <p:nvSpPr>
          <p:cNvPr id="15" name="Shape 12"/>
          <p:cNvSpPr/>
          <p:nvPr/>
        </p:nvSpPr>
        <p:spPr>
          <a:xfrm>
            <a:off x="7193280" y="2133600"/>
            <a:ext cx="4145280" cy="18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6" name="Text 13"/>
          <p:cNvSpPr/>
          <p:nvPr/>
        </p:nvSpPr>
        <p:spPr>
          <a:xfrm>
            <a:off x="7193280" y="2316480"/>
            <a:ext cx="4145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67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・Snowflake一元管理</a:t>
            </a:r>
            <a:endParaRPr lang="en-US" sz="1467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67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・検索・分析</a:t>
            </a:r>
            <a:endParaRPr lang="en-US" sz="1467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67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・BIダッシュボード</a:t>
            </a:r>
            <a:endParaRPr lang="en-US" sz="1467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67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・将来のAI分析基盤</a:t>
            </a:r>
            <a:endParaRPr lang="en-US" sz="1467" dirty="0"/>
          </a:p>
        </p:txBody>
      </p:sp>
      <p:sp>
        <p:nvSpPr>
          <p:cNvPr id="17" name="Text 14"/>
          <p:cNvSpPr/>
          <p:nvPr/>
        </p:nvSpPr>
        <p:spPr>
          <a:xfrm>
            <a:off x="609600" y="4754880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33" b="1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連携メリット</a:t>
            </a:r>
            <a:endParaRPr lang="en-US" sz="1733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86200"/>
          <a:ext cx="8229600" cy="1097280"/>
        </p:xfrm>
        <a:graphic>
          <a:graphicData uri="http://schemas.openxmlformats.org/drawingml/2006/table">
            <a:tbl>
              <a:tblPr/>
              <a:tblGrid>
                <a:gridCol w="3657600"/>
                <a:gridCol w="73152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メリット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転記工程の完全排除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デバイス入力 → データ基盤に直接格納（Excelを経由しない）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リアルタイム分析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入力と同時にダッシュボードに反映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ローデータの一元管理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入力データ＝ローデータとしてSnowflakeで保管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7680" y="304800"/>
            <a:ext cx="9753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次のアクション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87680" y="914400"/>
            <a:ext cx="11216640" cy="3048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280160"/>
            <a:ext cx="60960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33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稟議に向けた進め方</a:t>
            </a:r>
            <a:endParaRPr lang="en-US" sz="1733" dirty="0"/>
          </a:p>
        </p:txBody>
      </p:sp>
      <p:sp>
        <p:nvSpPr>
          <p:cNvPr id="6" name="Shape 3"/>
          <p:cNvSpPr/>
          <p:nvPr/>
        </p:nvSpPr>
        <p:spPr>
          <a:xfrm>
            <a:off x="609600" y="1828800"/>
            <a:ext cx="3413760" cy="1219200"/>
          </a:xfrm>
          <a:prstGeom prst="roundRect">
            <a:avLst>
              <a:gd name="adj" fmla="val 5000"/>
            </a:avLst>
          </a:prstGeom>
          <a:solidFill>
            <a:srgbClr val="156082"/>
          </a:solidFill>
          <a:ln/>
        </p:spPr>
      </p:sp>
      <p:sp>
        <p:nvSpPr>
          <p:cNvPr id="7" name="Text 4"/>
          <p:cNvSpPr/>
          <p:nvPr/>
        </p:nvSpPr>
        <p:spPr>
          <a:xfrm>
            <a:off x="609600" y="1889760"/>
            <a:ext cx="34137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33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現場で解像度UP</a:t>
            </a:r>
            <a:endParaRPr lang="en-US" sz="1733" dirty="0"/>
          </a:p>
        </p:txBody>
      </p:sp>
      <p:sp>
        <p:nvSpPr>
          <p:cNvPr id="8" name="Text 5"/>
          <p:cNvSpPr/>
          <p:nvPr/>
        </p:nvSpPr>
        <p:spPr>
          <a:xfrm>
            <a:off x="609600" y="2438400"/>
            <a:ext cx="34137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33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佐々木様と詳細化</a:t>
            </a:r>
            <a:endParaRPr lang="en-US" sz="1333" dirty="0"/>
          </a:p>
        </p:txBody>
      </p:sp>
      <p:sp>
        <p:nvSpPr>
          <p:cNvPr id="9" name="Text 6"/>
          <p:cNvSpPr/>
          <p:nvPr/>
        </p:nvSpPr>
        <p:spPr>
          <a:xfrm>
            <a:off x="3962400" y="2072640"/>
            <a:ext cx="60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67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667" dirty="0"/>
          </a:p>
        </p:txBody>
      </p:sp>
      <p:sp>
        <p:nvSpPr>
          <p:cNvPr id="10" name="Shape 7"/>
          <p:cNvSpPr/>
          <p:nvPr/>
        </p:nvSpPr>
        <p:spPr>
          <a:xfrm>
            <a:off x="4511040" y="1828800"/>
            <a:ext cx="3413760" cy="1219200"/>
          </a:xfrm>
          <a:prstGeom prst="roundRect">
            <a:avLst>
              <a:gd name="adj" fmla="val 5000"/>
            </a:avLst>
          </a:prstGeom>
          <a:solidFill>
            <a:srgbClr val="F3C551"/>
          </a:solidFill>
          <a:ln/>
        </p:spPr>
      </p:sp>
      <p:sp>
        <p:nvSpPr>
          <p:cNvPr id="11" name="Text 8"/>
          <p:cNvSpPr/>
          <p:nvPr/>
        </p:nvSpPr>
        <p:spPr>
          <a:xfrm>
            <a:off x="4511040" y="1889760"/>
            <a:ext cx="34137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33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提案資料作成</a:t>
            </a:r>
            <a:endParaRPr lang="en-US" sz="1733" dirty="0"/>
          </a:p>
        </p:txBody>
      </p:sp>
      <p:sp>
        <p:nvSpPr>
          <p:cNvPr id="12" name="Text 9"/>
          <p:cNvSpPr/>
          <p:nvPr/>
        </p:nvSpPr>
        <p:spPr>
          <a:xfrm>
            <a:off x="4511040" y="2438400"/>
            <a:ext cx="34137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33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経営層向け整理</a:t>
            </a:r>
            <a:endParaRPr lang="en-US" sz="1333" dirty="0"/>
          </a:p>
        </p:txBody>
      </p:sp>
      <p:sp>
        <p:nvSpPr>
          <p:cNvPr id="13" name="Text 10"/>
          <p:cNvSpPr/>
          <p:nvPr/>
        </p:nvSpPr>
        <p:spPr>
          <a:xfrm>
            <a:off x="7863840" y="2072640"/>
            <a:ext cx="60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67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667" dirty="0"/>
          </a:p>
        </p:txBody>
      </p:sp>
      <p:sp>
        <p:nvSpPr>
          <p:cNvPr id="14" name="Shape 11"/>
          <p:cNvSpPr/>
          <p:nvPr/>
        </p:nvSpPr>
        <p:spPr>
          <a:xfrm>
            <a:off x="8412480" y="1828800"/>
            <a:ext cx="3413760" cy="121920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0" y="1889760"/>
            <a:ext cx="34137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33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経営層への稟議</a:t>
            </a:r>
            <a:endParaRPr lang="en-US" sz="1733" dirty="0"/>
          </a:p>
        </p:txBody>
      </p:sp>
      <p:sp>
        <p:nvSpPr>
          <p:cNvPr id="16" name="Text 13"/>
          <p:cNvSpPr/>
          <p:nvPr/>
        </p:nvSpPr>
        <p:spPr>
          <a:xfrm>
            <a:off x="8412480" y="2438400"/>
            <a:ext cx="34137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33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予算承認</a:t>
            </a:r>
            <a:endParaRPr lang="en-US" sz="1333" dirty="0"/>
          </a:p>
        </p:txBody>
      </p:sp>
      <p:sp>
        <p:nvSpPr>
          <p:cNvPr id="17" name="Text 14"/>
          <p:cNvSpPr/>
          <p:nvPr/>
        </p:nvSpPr>
        <p:spPr>
          <a:xfrm>
            <a:off x="609600" y="3413760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33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アクション一覧</a:t>
            </a:r>
            <a:endParaRPr lang="en-US" sz="1733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8229600" cy="2011680"/>
        </p:xfrm>
        <a:graphic>
          <a:graphicData uri="http://schemas.openxmlformats.org/drawingml/2006/table">
            <a:tbl>
              <a:tblPr/>
              <a:tblGrid>
                <a:gridCol w="731520"/>
                <a:gridCol w="6339840"/>
                <a:gridCol w="2072640"/>
                <a:gridCol w="1828800"/>
              </a:tblGrid>
              <a:tr h="447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67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#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アクション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67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担当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67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状態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提案①の具体化（デバイス・フォーム設計等）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33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弊社+NTT東</a:t>
                      </a:r>
                      <a:endParaRPr lang="en-US" sz="1333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□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ローデータ保管要件の詳細整理（GCP準拠）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33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弊社</a:t>
                      </a:r>
                      <a:endParaRPr lang="en-US" sz="1333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□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提案②の情シス連携開始（顔合わせ日程調整）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33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先方</a:t>
                      </a:r>
                      <a:endParaRPr lang="en-US" sz="1333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□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経営層向け提案資料作成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33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弊社+NTT東</a:t>
                      </a:r>
                      <a:endParaRPr lang="en-US" sz="1333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□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佐々木様と合意形成、稟議準備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33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先方+弊社</a:t>
                      </a:r>
                      <a:endParaRPr lang="en-US" sz="1333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67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□</a:t>
                      </a:r>
                      <a:endParaRPr lang="en-US" sz="1467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682240"/>
            <a:ext cx="121920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67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ご清聴ありがとうございました</a:t>
            </a:r>
            <a:endParaRPr lang="en-US" sz="4267" dirty="0"/>
          </a:p>
        </p:txBody>
      </p:sp>
      <p:pic>
        <p:nvPicPr>
          <p:cNvPr id="4" name="Image 0" descr="/Users/user/.claude/skills/ntt-dxpartner-pptx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840" y="4267200"/>
            <a:ext cx="2560320" cy="60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2007-201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F5A37F286484044A587AB13B95C5FC7" ma:contentTypeVersion="7" ma:contentTypeDescription="新しいドキュメントを作成します。" ma:contentTypeScope="" ma:versionID="4f7694e17ad19b662c14350cba525237">
  <xsd:schema xmlns:xsd="http://www.w3.org/2001/XMLSchema" xmlns:xs="http://www.w3.org/2001/XMLSchema" xmlns:p="http://schemas.microsoft.com/office/2006/metadata/properties" xmlns:ns2="ff258828-3104-4aa7-abea-7bd42e7d0da0" targetNamespace="http://schemas.microsoft.com/office/2006/metadata/properties" ma:root="true" ma:fieldsID="bca938b16617b35da031a096723445c0" ns2:_="">
    <xsd:import namespace="ff258828-3104-4aa7-abea-7bd42e7d0da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258828-3104-4aa7-abea-7bd42e7d0d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C7E2470-004B-4200-B9B8-682B62F390E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9B8C7F1-31C5-4647-B0B7-C8EAE644F69E}">
  <ds:schemaRefs>
    <ds:schemaRef ds:uri="ff258828-3104-4aa7-abea-7bd42e7d0da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240210C-5D7B-470C-9C4E-5A51904AB3FE}">
  <ds:schemaRefs>
    <ds:schemaRef ds:uri="http://purl.org/dc/dcmitype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ff258828-3104-4aa7-abea-7bd42e7d0da0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2866</TotalTime>
  <Words>51</Words>
  <Application>Microsoft Office PowerPoint</Application>
  <PresentationFormat>ワイド画面</PresentationFormat>
  <Paragraphs>22</Paragraphs>
  <Slides>5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Meiryo UI</vt:lpstr>
      <vt:lpstr>Noto Sans JP</vt:lpstr>
      <vt:lpstr>Meiryo</vt:lpstr>
      <vt:lpstr>游ゴシック</vt:lpstr>
      <vt:lpstr>Arial</vt:lpstr>
      <vt:lpstr>Office テーマ</vt:lpstr>
      <vt:lpstr>タイトルを入力</vt:lpstr>
      <vt:lpstr>アジェンダ</vt:lpstr>
      <vt:lpstr>アジェンダ1のタイトルを入力</vt:lpstr>
      <vt:lpstr>スライドタイトルを入力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山崎 賢</dc:creator>
  <cp:lastModifiedBy>田原　大地</cp:lastModifiedBy>
  <cp:revision>3</cp:revision>
  <dcterms:created xsi:type="dcterms:W3CDTF">2022-07-05T05:28:12Z</dcterms:created>
  <dcterms:modified xsi:type="dcterms:W3CDTF">2026-02-01T13:28:34Z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0x0101001F5A37F286484044A587AB13B95C5FC7</vt:lpwstr>
  </property>
</Properties>
</file>