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NTTDX顧客接点拡大ミッション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公募案件分析レポート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入札王データに基づく市場動向分析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480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2026年1月20日</a:t>
            </a:r>
            <a:endParaRPr lang="en-US" sz="1200" dirty="0"/>
          </a:p>
        </p:txBody>
      </p:sp>
      <p:pic>
        <p:nvPicPr>
          <p:cNvPr id="6" name="Image 0" descr="/Users/user/.claude/skills/ntt-dxpartner-pptx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4114800"/>
            <a:ext cx="1828800" cy="4297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エグゼクティブサマリー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2651760" cy="73152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総案件数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913件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4360" y="2011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過去3年間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005840"/>
            <a:ext cx="2651760" cy="73152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落札データあり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29000" y="1508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391件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429000" y="2011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金額分析可能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005840"/>
            <a:ext cx="2651760" cy="73152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応札可能案件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63640" y="1508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8件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263640" y="2011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入札日1/20以降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560320"/>
            <a:ext cx="8229600" cy="2011680"/>
          </a:xfrm>
          <a:prstGeom prst="rect">
            <a:avLst/>
          </a:prstGeom>
          <a:solidFill>
            <a:srgbClr val="EDF7FA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697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310896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 生成AI案件が2024年に爆発的成長（前年比+812%）、2025年も継続成長</a:t>
            </a:r>
            <a:endParaRPr lang="en-US" sz="12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 RAG関連案件が2024年から登場し急増（2024→2025で+167%）→ 注目領域</a:t>
            </a:r>
            <a:endParaRPr lang="en-US" sz="12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 AIエージェント案件が登場（東京都データプラットフォーム）→ 新トレンド</a:t>
            </a:r>
            <a:endParaRPr lang="en-US" sz="12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 富士通Japanが大型案件を独占（総額6.8億円）、NTT東日本は11件で1.2億円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キーワード別ヒット数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256032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36576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キーワード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件数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備考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チャットボット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374件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住民向けサービス含む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生成AI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340件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コアターゲット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RAG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17件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構築案件、増加傾向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ChatGPT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13件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製品名指定案件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プロンプト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8件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研修系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Dify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2件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新興OSSツール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67E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AIエージェント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67E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1件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7E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新トレンド、要ウォッチ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solidFill>
            <a:srgbClr val="FFF8E1"/>
          </a:solidFill>
          <a:ln w="12700">
            <a:solidFill>
              <a:srgbClr val="F3C55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3840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推奨検索キーワード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4160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Tier1（必須）: 生成AI, RAG, チャットボット　｜　Tier2（補足）: ChatGPT, Dify, プロンプト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キーワード別 年次推移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18288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年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生成AI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RAG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チャットボット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ChatGPT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Dify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2023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45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2024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73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48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2025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98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43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2026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2880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※2026年は1月20日時点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3200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前年比成長率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3566160"/>
            <a:ext cx="2651760" cy="100584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3657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生成AI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39319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2023→2024: +812%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41605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2024→2025: +34%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91840" y="3566160"/>
            <a:ext cx="2651760" cy="100584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2" name="Text 9"/>
          <p:cNvSpPr/>
          <p:nvPr/>
        </p:nvSpPr>
        <p:spPr>
          <a:xfrm>
            <a:off x="3383280" y="3657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RAG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383280" y="39319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2023→2024: -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383280" y="41605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2024→2025: +167%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126480" y="3566160"/>
            <a:ext cx="2651760" cy="100584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6" name="Text 13"/>
          <p:cNvSpPr/>
          <p:nvPr/>
        </p:nvSpPr>
        <p:spPr>
          <a:xfrm>
            <a:off x="6217920" y="3657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チャットボット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217920" y="39319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2023→2024: +7%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217920" y="41605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2024→2025: -10%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落札金額分析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20116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97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5.09億円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606040" y="1005840"/>
            <a:ext cx="20116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97480" y="1097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平均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97480" y="1325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917万円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20116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097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中央値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0" y="1325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211万円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903720" y="1005840"/>
            <a:ext cx="20116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95160" y="1097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最低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95160" y="1325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1,340円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0" y="10058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n=390件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1965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高額案件 TOP5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8229600" cy="2286000"/>
        </p:xfrm>
        <a:graphic>
          <a:graphicData uri="http://schemas.openxmlformats.org/drawingml/2006/table">
            <a:tbl>
              <a:tblPr/>
              <a:tblGrid>
                <a:gridCol w="457200"/>
                <a:gridCol w="1188720"/>
                <a:gridCol w="1097280"/>
                <a:gridCol w="3657600"/>
                <a:gridCol w="1828800"/>
              </a:tblGrid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#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金額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発注機関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件名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落札企業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5.09億円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東京都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TAIMS用生成AIツールライセンス買入れ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大塚商会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3.27億円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東京都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都立学校向け生成AI利用サービス構築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コニカミノルタ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2.17億円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四條畷市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ハイブリッド型PBX・AIチャットボット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扶桑電通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1.81億円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東京都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都立学校向け生成AI機能改修・運用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コニカミノルタ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1.71億円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東京都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チャットボット拡張及び運用保守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富士通Japan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落札企業ランキング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件数ランキング TOP5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3931920" cy="1828800"/>
        </p:xfrm>
        <a:graphic>
          <a:graphicData uri="http://schemas.openxmlformats.org/drawingml/2006/table">
            <a:tbl>
              <a:tblPr/>
              <a:tblGrid>
                <a:gridCol w="457200"/>
                <a:gridCol w="1645920"/>
                <a:gridCol w="731520"/>
                <a:gridCol w="1097280"/>
              </a:tblGrid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#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企業名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件数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総額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サイネックス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19件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3,155万円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ビースポーク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18件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8,558万円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富士通Japan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13件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6.8億円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NTT東日本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11件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1.2億円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エクサウィザーズ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6,836万円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663440" y="914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総額ランキング TOP5</a:t>
            </a:r>
            <a:endParaRPr lang="en-US" sz="12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234440"/>
          <a:ext cx="3931920" cy="1828800"/>
        </p:xfrm>
        <a:graphic>
          <a:graphicData uri="http://schemas.openxmlformats.org/drawingml/2006/table">
            <a:tbl>
              <a:tblPr/>
              <a:tblGrid>
                <a:gridCol w="457200"/>
                <a:gridCol w="1645920"/>
                <a:gridCol w="1097280"/>
                <a:gridCol w="731520"/>
              </a:tblGrid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#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企業名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総額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件数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富士通Japan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6.8億円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13件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大塚商会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5.2億円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コニカミノルタ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5.1億円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扶桑電通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2.2億円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NTT東日本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1.2億円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11件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3200400"/>
            <a:ext cx="8229600" cy="1463040"/>
          </a:xfrm>
          <a:prstGeom prst="rect">
            <a:avLst/>
          </a:prstGeom>
          <a:solidFill>
            <a:srgbClr val="EDF7FA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40080" y="3291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市場セグメント分析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40080" y="36576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チャットボット市場: サイネックス・ビースポークが件数で圧倒（中小規模SaaS）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生成AIサービス市場: エクサウィザーズ・シフトプラス・イマクリエが台頭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大型SI案件: 富士通Japanが都道府県レベルを独占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地域別分布 TOP10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2011680"/>
        </p:xfrm>
        <a:graphic>
          <a:graphicData uri="http://schemas.openxmlformats.org/drawingml/2006/table">
            <a:tbl>
              <a:tblPr/>
              <a:tblGrid>
                <a:gridCol w="640080"/>
                <a:gridCol w="1645920"/>
                <a:gridCol w="914400"/>
                <a:gridCol w="640080"/>
                <a:gridCol w="1645920"/>
                <a:gridCol w="914400"/>
              </a:tblGrid>
              <a:tr h="335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順位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地域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件数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順位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地域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件数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東京都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151件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茨城県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33件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大阪府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53件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7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京都府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33件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愛知県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48件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神奈川県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33件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和歌山県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40件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9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北海道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31件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兵庫県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39件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三重県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29件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200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サービスフェーズ別分布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3566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①理解（研修）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194560" y="3611880"/>
            <a:ext cx="4572000" cy="1828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Shape 5"/>
          <p:cNvSpPr/>
          <p:nvPr/>
        </p:nvSpPr>
        <p:spPr>
          <a:xfrm>
            <a:off x="2194560" y="3611880"/>
            <a:ext cx="320040" cy="182880"/>
          </a:xfrm>
          <a:prstGeom prst="rect">
            <a:avLst/>
          </a:prstGeom>
          <a:solidFill>
            <a:srgbClr val="6CE6E8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0" y="3566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34件 (7%)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38587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②設計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194560" y="3904488"/>
            <a:ext cx="4572000" cy="1828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2" name="Shape 9"/>
          <p:cNvSpPr/>
          <p:nvPr/>
        </p:nvSpPr>
        <p:spPr>
          <a:xfrm>
            <a:off x="2194560" y="3904488"/>
            <a:ext cx="0" cy="182880"/>
          </a:xfrm>
          <a:prstGeom prst="rect">
            <a:avLst/>
          </a:prstGeom>
          <a:solidFill>
            <a:srgbClr val="6CE6E8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0" y="38587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1件 (0%)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" y="41513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③検証（PoC）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194560" y="4197096"/>
            <a:ext cx="4572000" cy="1828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6" name="Shape 13"/>
          <p:cNvSpPr/>
          <p:nvPr/>
        </p:nvSpPr>
        <p:spPr>
          <a:xfrm>
            <a:off x="2194560" y="4197096"/>
            <a:ext cx="457200" cy="182880"/>
          </a:xfrm>
          <a:prstGeom prst="rect">
            <a:avLst/>
          </a:prstGeom>
          <a:solidFill>
            <a:srgbClr val="6CE6E8"/>
          </a:solidFill>
          <a:ln/>
        </p:spPr>
      </p:sp>
      <p:sp>
        <p:nvSpPr>
          <p:cNvPr id="17" name="Text 14"/>
          <p:cNvSpPr/>
          <p:nvPr/>
        </p:nvSpPr>
        <p:spPr>
          <a:xfrm>
            <a:off x="6858000" y="4151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46件 (10%)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444398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④実装（構築）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194560" y="4489704"/>
            <a:ext cx="4572000" cy="1828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0" name="Shape 17"/>
          <p:cNvSpPr/>
          <p:nvPr/>
        </p:nvSpPr>
        <p:spPr>
          <a:xfrm>
            <a:off x="2194560" y="4489704"/>
            <a:ext cx="3200400" cy="18288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21" name="Text 18"/>
          <p:cNvSpPr/>
          <p:nvPr/>
        </p:nvSpPr>
        <p:spPr>
          <a:xfrm>
            <a:off x="6858000" y="444398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337件 (70%)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57200" y="47365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⑤定着（運用）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194560" y="4782312"/>
            <a:ext cx="4572000" cy="1828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4" name="Shape 21"/>
          <p:cNvSpPr/>
          <p:nvPr/>
        </p:nvSpPr>
        <p:spPr>
          <a:xfrm>
            <a:off x="2194560" y="4782312"/>
            <a:ext cx="594360" cy="182880"/>
          </a:xfrm>
          <a:prstGeom prst="rect">
            <a:avLst/>
          </a:prstGeom>
          <a:solidFill>
            <a:srgbClr val="6CE6E8"/>
          </a:solidFill>
          <a:ln/>
        </p:spPr>
      </p:sp>
      <p:sp>
        <p:nvSpPr>
          <p:cNvPr id="25" name="Text 22"/>
          <p:cNvSpPr/>
          <p:nvPr/>
        </p:nvSpPr>
        <p:spPr>
          <a:xfrm>
            <a:off x="6858000" y="47365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63件 (13%)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応札可能案件（2026/1/20時点）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2926080"/>
        </p:xfrm>
        <a:graphic>
          <a:graphicData uri="http://schemas.openxmlformats.org/drawingml/2006/table">
            <a:tbl>
              <a:tblPr/>
              <a:tblGrid>
                <a:gridCol w="822960"/>
                <a:gridCol w="914400"/>
                <a:gridCol w="1188720"/>
                <a:gridCol w="5303520"/>
              </a:tblGrid>
              <a:tr h="325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入札日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フェーズ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発注機関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件名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1/29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①研修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佐賀県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令和7年度生成AI利活用研修委託業務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2/04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④実装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愛知県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中小企業生成AI活用支援事業（ポータルサイト構築）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2/05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④実装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群馬県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生成AIサービス導入・提供業務（公募型プロポーザル）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2/05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④実装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三重県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令和７年度生成AI利用ローカル環境構築業務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2/06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④実装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明日香村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生成AI英会話システム導入事業（聖徳中学校）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2/09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④実装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八尾市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八尾市生成AI導入運用業務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2/13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④実装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武蔵野市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FAQ・RAG検索システム提供役務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2/18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②設計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大阪市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令和8年度大阪市における生成AI活用ロードマップ作成等支援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solidFill>
            <a:srgbClr val="FFF8E1"/>
          </a:solidFill>
          <a:ln w="12700">
            <a:solidFill>
              <a:srgbClr val="F3C55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42062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注目: 愛知県（2/4）中小企業向けポータル、大阪市（2/18）ロードマップ作成支援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011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ご清聴ありがとうございました</a:t>
            </a:r>
            <a:endParaRPr lang="en-US" sz="3200" dirty="0"/>
          </a:p>
        </p:txBody>
      </p:sp>
      <p:pic>
        <p:nvPicPr>
          <p:cNvPr id="4" name="Image 0" descr="/Users/user/.claude/skills/ntt-dxpartner-pptx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1880" y="3200400"/>
            <a:ext cx="192024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公募案件分析レポート</dc:title>
  <dc:subject>PptxGenJS Presentation</dc:subject>
  <dc:creator>NTT DXパートナー</dc:creator>
  <cp:lastModifiedBy>NTT DXパートナー</cp:lastModifiedBy>
  <cp:revision>1</cp:revision>
  <dcterms:created xsi:type="dcterms:W3CDTF">2026-01-21T02:49:46Z</dcterms:created>
  <dcterms:modified xsi:type="dcterms:W3CDTF">2026-01-21T02:49:46Z</dcterms:modified>
</cp:coreProperties>
</file>