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CE6E8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 DXパートナー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548640" y="1828800"/>
            <a:ext cx="7315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45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自治体生成AI案件</a:t>
            </a:r>
            <a:endParaRPr lang="en-US" sz="3400" dirty="0"/>
          </a:p>
          <a:p>
            <a:pPr indent="0" marL="0">
              <a:lnSpc>
                <a:spcPts val="45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FY2026 フェーズ別見通し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2834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入札キング962件分析 + 個別案件調査に基づく市場見通し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4805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2026年2月17日</a:t>
            </a:r>
            <a:endParaRPr lang="en-US" sz="1200" dirty="0"/>
          </a:p>
        </p:txBody>
      </p:sp>
      <p:pic>
        <p:nvPicPr>
          <p:cNvPr id="6" name="Image 0" descr="/Users/user/.claude/skills/ntt-dxpartner-pptx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4114800"/>
            <a:ext cx="1828800" cy="4297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市場全体像 — 月別案件数推移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1463040"/>
        </p:xfrm>
        <a:graphic>
          <a:graphicData uri="http://schemas.openxmlformats.org/drawingml/2006/table">
            <a:tbl>
              <a:tblPr/>
              <a:tblGrid>
                <a:gridCol w="640080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566928"/>
                <a:gridCol w="6400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FY2025*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2423160"/>
            <a:ext cx="5486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*FY2025は11ヶ月分（2026年2月時点）。3月データ未取得</a:t>
            </a:r>
            <a:endParaRPr lang="en-US" sz="900" dirty="0"/>
          </a:p>
        </p:txBody>
      </p:sp>
      <p:graphicFrame>
        <p:nvGraphicFramePr>
          <p:cNvPr id="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34640"/>
          <a:ext cx="8229600" cy="1280160"/>
        </p:xfrm>
        <a:graphic>
          <a:graphicData uri="http://schemas.openxmlformats.org/drawingml/2006/table">
            <a:tbl>
              <a:tblPr/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Q1 (4-6月)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Q2 (7-9月)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 (10-12月)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Q4 (1-3月)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41 (31%)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31 (24%)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 (15%)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38 (29%)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84 (36%)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55 (24%)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37 (16%)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56 (24%)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FY2025*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99 (44%)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65 (29%)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39 (17%)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22* (10%)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251960"/>
            <a:ext cx="8229600" cy="594360"/>
          </a:xfrm>
          <a:prstGeom prst="rect">
            <a:avLst/>
          </a:prstGeom>
          <a:solidFill>
            <a:srgbClr val="FFF8E1"/>
          </a:solidFill>
          <a:ln w="12700">
            <a:solidFill>
              <a:srgbClr val="F3C551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4279392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67E2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ポイント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640080" y="4498848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Q1（4-6月）に全体の35-44%が集中。年度開始の運用更新+構築案件が重なる。営業の仕込みは3月末までが勝負。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フェーズ別 — 年度推移と成長率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914400"/>
          <a:ext cx="8412480" cy="2560320"/>
        </p:xfrm>
        <a:graphic>
          <a:graphicData uri="http://schemas.openxmlformats.org/drawingml/2006/table">
            <a:tbl>
              <a:tblPr/>
              <a:tblGrid>
                <a:gridCol w="1280160"/>
                <a:gridCol w="822960"/>
                <a:gridCol w="822960"/>
                <a:gridCol w="822960"/>
                <a:gridCol w="914400"/>
                <a:gridCol w="914400"/>
                <a:gridCol w="283464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(推計)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FY23→24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FY24→25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特徴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+275%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+33%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AI法施行で需要増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②設計(RFI)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±0%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+50%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翌年構築の先行指標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+100%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62828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-33%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未導入自治体の入口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+82%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最大ボリュームゾーン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+60%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ストック型。毎年積み上げ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+78%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+6%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35661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落札金額 合計（カッコ内は金額判明件数）</a:t>
            </a:r>
            <a:endParaRPr lang="en-US" sz="13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3840480"/>
          <a:ext cx="8412480" cy="1097280"/>
        </p:xfrm>
        <a:graphic>
          <a:graphicData uri="http://schemas.openxmlformats.org/drawingml/2006/table">
            <a:tbl>
              <a:tblPr/>
              <a:tblGrid>
                <a:gridCol w="1201783"/>
                <a:gridCol w="1201783"/>
                <a:gridCol w="1201783"/>
                <a:gridCol w="1201783"/>
                <a:gridCol w="1201783"/>
                <a:gridCol w="1201783"/>
                <a:gridCol w="1201783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年度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(1/4件)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(0/6件)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3,173万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(5/6件)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3.7億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(40/72件)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2.4億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(25/42件)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6.4億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(71/130件)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6,050万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(7/15件)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(0/6件)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4,274万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(7/12件)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4.5億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(60/132件)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4.6億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(43/67件)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10.1億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(117/232件)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8,834万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(10/18件)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(0/8件)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1,400万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(4/7件)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2.0億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(44/130件)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11.6億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(42/62件)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14.6億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(100/225件)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FY2026 見通し — フェーズ別推計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成長ドライバー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AI法施行(2025/9)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657600" y="109728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自治体のAI活用が「責務」に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353312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第2世代交付金 2,000億円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657600" y="135331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前年比倍増、予算の裏付け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57200" y="1609344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ガバメントAI「源内」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0" y="1609344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2026年度自治体展開予定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865376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市区町村の70%が未導入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657600" y="1865376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巨大な潜在需要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2651760" cy="11887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2860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保守的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94360" y="25603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+10%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436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~292件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594360" y="31089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~22億円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291840" y="2240280"/>
            <a:ext cx="2651760" cy="118872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0" y="2240280"/>
            <a:ext cx="868680" cy="2743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0" y="225856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推奨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429000" y="22860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基本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429000" y="25603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+25%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42900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~322件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429000" y="31089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~24億円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126480" y="2240280"/>
            <a:ext cx="2651760" cy="1188720"/>
          </a:xfrm>
          <a:prstGeom prst="rect">
            <a:avLst/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263640" y="22860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楽観的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63640" y="2560320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+40%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263640" y="283464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~352件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263640" y="31089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~27億円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3611880"/>
          <a:ext cx="8595360" cy="1417320"/>
        </p:xfrm>
        <a:graphic>
          <a:graphicData uri="http://schemas.openxmlformats.org/drawingml/2006/table">
            <a:tbl>
              <a:tblPr/>
              <a:tblGrid>
                <a:gridCol w="1005840"/>
                <a:gridCol w="822960"/>
                <a:gridCol w="822960"/>
                <a:gridCol w="914400"/>
                <a:gridCol w="914400"/>
                <a:gridCol w="4114800"/>
              </a:tblGrid>
              <a:tr h="20247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実績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FY2026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想定単価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推計金額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成長ドライバー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~36件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550万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~2.0億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AI法→全職員研修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②設計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~14件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RFI発出増→翌年構築化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③PoC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~14件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450万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~0.6億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未導入自治体の入口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~170件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650万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~11.1億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RAG・全庁導入が本格化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68件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~88件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1,200万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~10.6億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FY24-25構築→運用移行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247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247件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~322件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~24億円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④構築 サブカテゴリ別分析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7772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構築案件342件の内訳 — 年度推移と平均単価</a:t>
            </a:r>
            <a:endParaRPr lang="en-US" sz="11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51560"/>
          <a:ext cx="8595360" cy="2743200"/>
        </p:xfrm>
        <a:graphic>
          <a:graphicData uri="http://schemas.openxmlformats.org/drawingml/2006/table">
            <a:tbl>
              <a:tblPr/>
              <a:tblGrid>
                <a:gridCol w="1645920"/>
                <a:gridCol w="548640"/>
                <a:gridCol w="548640"/>
                <a:gridCol w="548640"/>
                <a:gridCol w="640080"/>
                <a:gridCol w="822960"/>
                <a:gridCol w="38404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サブカテゴリ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FY25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FY26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推計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平均単価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トレンド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チャットボット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696万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減少傾向。市場飽和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生成AIサービス導入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~51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422万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毎年急増。SaaS型主流化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庁内生成AI環境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~28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505万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FY24爆発→安定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RAG構築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632万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FY24急増→定着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活用支援・コンサル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2,065万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高単価。推進事業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教育・学校AI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2,169万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E7D3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高単価。英語AI急増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Dify環境構築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697万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新興。神戸市が先行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生成AI（その他）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278万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微増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142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~170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3931920"/>
            <a:ext cx="8412480" cy="91440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48640" y="397764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注目ポイント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422452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生成AIサービス導入が最大カテゴリに成長（6→26→38件）。SaaS型の導入が主流化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活用支援・コンサル / 教育・学校AI は件数少ないが平均単価2,000万超の高単価領域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✓  RAG構築（~9件）+ Dify環境構築（~3件）は技術力が差別化要因。NTTグループの強み活用可能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④構築 サブカテゴリ — 四半期パターン（FY2025）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914400"/>
          <a:ext cx="8595360" cy="2377440"/>
        </p:xfrm>
        <a:graphic>
          <a:graphicData uri="http://schemas.openxmlformats.org/drawingml/2006/table">
            <a:tbl>
              <a:tblPr/>
              <a:tblGrid>
                <a:gridCol w="1645920"/>
                <a:gridCol w="1005840"/>
                <a:gridCol w="1005840"/>
                <a:gridCol w="1005840"/>
                <a:gridCol w="1005840"/>
                <a:gridCol w="731520"/>
                <a:gridCol w="731520"/>
              </a:tblGrid>
              <a:tr h="2641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サブカテゴリ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Q1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4-6月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Q2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7-9月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Q3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10-12月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Q4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1-2月*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年計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Q1比率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チャットボット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34%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生成AIサービス導入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67E2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51%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庁内生成AI環境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RAG構築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活用支援・コンサル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-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43%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教育・学校AI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50%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その他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641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合計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49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26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130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56082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38%</a:t>
                      </a:r>
                      <a:endParaRPr lang="en-US" sz="10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DF7FA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36576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FY2026 想定スケジュール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7200" y="3794760"/>
            <a:ext cx="73152" cy="27432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7" name="Text 4"/>
          <p:cNvSpPr/>
          <p:nvPr/>
        </p:nvSpPr>
        <p:spPr>
          <a:xfrm>
            <a:off x="640080" y="379476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Q1 (4-6月)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011680" y="379476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~38%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2651760" y="379476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~65件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3566160" y="37947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年度開始。サービス導入・チャットボットが集中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457200" y="4114800"/>
            <a:ext cx="73152" cy="274320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2" name="Text 9"/>
          <p:cNvSpPr/>
          <p:nvPr/>
        </p:nvSpPr>
        <p:spPr>
          <a:xfrm>
            <a:off x="640080" y="411480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Q2 (7-9月)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2011680" y="411480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E7D3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~31%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2651760" y="411480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~53件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566160" y="411480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AI法施行後の需要。庁内環境構築が増加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57200" y="4434840"/>
            <a:ext cx="73152" cy="274320"/>
          </a:xfrm>
          <a:prstGeom prst="rect">
            <a:avLst/>
          </a:prstGeom>
          <a:solidFill>
            <a:srgbClr val="F3C551"/>
          </a:solidFill>
          <a:ln/>
        </p:spPr>
      </p:sp>
      <p:sp>
        <p:nvSpPr>
          <p:cNvPr id="17" name="Text 14"/>
          <p:cNvSpPr/>
          <p:nvPr/>
        </p:nvSpPr>
        <p:spPr>
          <a:xfrm>
            <a:off x="640080" y="443484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Q3 (10-12月)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2011680" y="443484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3C551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~20%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2651760" y="44348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~34件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566160" y="443484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下期予算案件。RAG構築が集中傾向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457200" y="4754880"/>
            <a:ext cx="73152" cy="274320"/>
          </a:xfrm>
          <a:prstGeom prst="rect">
            <a:avLst/>
          </a:prstGeom>
          <a:solidFill>
            <a:srgbClr val="666666"/>
          </a:solidFill>
          <a:ln/>
        </p:spPr>
      </p:sp>
      <p:sp>
        <p:nvSpPr>
          <p:cNvPr id="22" name="Text 19"/>
          <p:cNvSpPr/>
          <p:nvPr/>
        </p:nvSpPr>
        <p:spPr>
          <a:xfrm>
            <a:off x="640080" y="475488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Q4 (1-3月)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2011680" y="475488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~12%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651760" y="475488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~18件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3566160" y="475488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来期案件の公示。種まき期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競争環境と NTTグループ実績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Shape 2"/>
          <p:cNvSpPr/>
          <p:nvPr/>
        </p:nvSpPr>
        <p:spPr>
          <a:xfrm>
            <a:off x="457200" y="914400"/>
            <a:ext cx="384048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57200" y="914400"/>
            <a:ext cx="73152" cy="201168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6" name="Text 4"/>
          <p:cNvSpPr/>
          <p:nvPr/>
        </p:nvSpPr>
        <p:spPr>
          <a:xfrm>
            <a:off x="685800" y="100584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応札競争環境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85800" y="137160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44%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2011680" y="1508760"/>
            <a:ext cx="1828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が1社応札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85800" y="192024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応札社数データ115件中51件が単独応札。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参入するだけで落札できる案件が約半数。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237744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全606件中、金額判明は290件。</a:t>
            </a:r>
            <a:endParaRPr lang="en-US" sz="9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9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随意契約・少額案件を含めると市場は2-3倍。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754880" y="914400"/>
            <a:ext cx="393192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54880" y="914400"/>
            <a:ext cx="73152" cy="2011680"/>
          </a:xfrm>
          <a:prstGeom prst="rect">
            <a:avLst/>
          </a:prstGeom>
          <a:solidFill>
            <a:srgbClr val="6CE6E8"/>
          </a:solidFill>
          <a:ln/>
        </p:spPr>
      </p:sp>
      <p:sp>
        <p:nvSpPr>
          <p:cNvPr id="13" name="Text 11"/>
          <p:cNvSpPr/>
          <p:nvPr/>
        </p:nvSpPr>
        <p:spPr>
          <a:xfrm>
            <a:off x="4983480" y="1005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NTTグループ実績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983480" y="1371600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24件 / 1.19億円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983480" y="1737360"/>
            <a:ext cx="1828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（シェア4.0%）</a:t>
            </a:r>
            <a:endParaRPr lang="en-US" sz="11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983480" y="2011680"/>
          <a:ext cx="3474720" cy="822960"/>
        </p:xfrm>
        <a:graphic>
          <a:graphicData uri="http://schemas.openxmlformats.org/drawingml/2006/table">
            <a:tbl>
              <a:tblPr/>
              <a:tblGrid>
                <a:gridCol w="1158240"/>
                <a:gridCol w="1158240"/>
                <a:gridCol w="1158240"/>
              </a:tblGrid>
              <a:tr h="2057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フェーズ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件数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金額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6082"/>
                    </a:solidFill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④構築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15件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7,492万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⑤運用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8件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4,286万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057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①研修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1件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Meiryo UI" pitchFamily="34" charset="0"/>
                          <a:ea typeface="Meiryo UI" pitchFamily="34" charset="-122"/>
                          <a:cs typeface="Meiryo UI" pitchFamily="34" charset="-120"/>
                        </a:rPr>
                        <a:t>161万</a:t>
                      </a:r>
                      <a:endParaRPr lang="en-US" sz="900" dirty="0">
                        <a:latin typeface="Meiryo UI" charset="0"/>
                        <a:ea typeface="Meiryo UI" charset="0"/>
                        <a:cs typeface="Meiryo U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0E0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4"/>
          <p:cNvSpPr/>
          <p:nvPr/>
        </p:nvSpPr>
        <p:spPr>
          <a:xfrm>
            <a:off x="365760" y="31089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NTTDXPNの差別化ポイント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45720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45720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0" name="Text 17"/>
          <p:cNvSpPr/>
          <p:nvPr/>
        </p:nvSpPr>
        <p:spPr>
          <a:xfrm>
            <a:off x="59436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閉域網+LGWAN一体提案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59436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葛飾区: SD-WAN+Cloud Gateway+RAG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2,530万円落札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329184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329184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4" name="Text 21"/>
          <p:cNvSpPr/>
          <p:nvPr/>
        </p:nvSpPr>
        <p:spPr>
          <a:xfrm>
            <a:off x="342900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RAG構築力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42900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北海道: 30種RAG+100GB対応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2,178万円落札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6126480" y="3474720"/>
            <a:ext cx="265176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6126480" y="347472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8" name="Text 25"/>
          <p:cNvSpPr/>
          <p:nvPr/>
        </p:nvSpPr>
        <p:spPr>
          <a:xfrm>
            <a:off x="6263640" y="3611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ミンクスプラス生成AI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6263640" y="3977640"/>
            <a:ext cx="2377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千葉県: 自社プロダクト+福祉チャットボット</a:t>
            </a:r>
            <a:endParaRPr lang="en-US" sz="10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3,722万円落札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286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自治体案件 — 攻め方整理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685800"/>
            <a:ext cx="8412480" cy="2286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822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獲得チャネル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430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280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① 入札キング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94360" y="15087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モニタリング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" y="1783080"/>
            <a:ext cx="2377440" cy="1371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8288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公募案件の週次モニタリング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Medium帯(500万〜3000万)を全件チェック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48.7%が1社応札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→ 応札すれば勝てる案件が約半数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対象: ④構築・⑤運用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46120" y="1143000"/>
            <a:ext cx="2651760" cy="2011680"/>
          </a:xfrm>
          <a:prstGeom prst="rect">
            <a:avLst/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46120" y="11430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13" name="Shape 11"/>
          <p:cNvSpPr/>
          <p:nvPr/>
        </p:nvSpPr>
        <p:spPr>
          <a:xfrm>
            <a:off x="4983480" y="1143000"/>
            <a:ext cx="868680" cy="274320"/>
          </a:xfrm>
          <a:prstGeom prst="rect">
            <a:avLst/>
          </a:prstGeom>
          <a:solidFill>
            <a:srgbClr val="E67E22"/>
          </a:solidFill>
          <a:ln/>
        </p:spPr>
      </p:sp>
      <p:sp>
        <p:nvSpPr>
          <p:cNvPr id="14" name="Text 12"/>
          <p:cNvSpPr/>
          <p:nvPr/>
        </p:nvSpPr>
        <p:spPr>
          <a:xfrm>
            <a:off x="4983480" y="1161288"/>
            <a:ext cx="8686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メイン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383280" y="1280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② NTT東 支店ロビー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83280" y="15087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BI本部経由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383280" y="1783080"/>
            <a:ext cx="2377440" cy="1371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18288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BI本部にAI商材を打ち込み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支店長勉強会でネタ提供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（井上さん主幹・ネタ募集中）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支店営業から案件紹介を獲得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対象: ①研修・③PoC → アップセル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035040" y="1143000"/>
            <a:ext cx="2651760" cy="20116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38100" dist="12700" dir="2700000">
              <a:srgbClr val="000000">
                <a:alpha val="1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035040" y="1143000"/>
            <a:ext cx="2651760" cy="54864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21" name="Text 19"/>
          <p:cNvSpPr/>
          <p:nvPr/>
        </p:nvSpPr>
        <p:spPr>
          <a:xfrm>
            <a:off x="6172200" y="1280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③ 直接アプローチ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172200" y="1508760"/>
            <a:ext cx="23774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不調案件・既存顧客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172200" y="1783080"/>
            <a:ext cx="2377440" cy="13716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24" name="Text 22"/>
          <p:cNvSpPr/>
          <p:nvPr/>
        </p:nvSpPr>
        <p:spPr>
          <a:xfrm>
            <a:off x="6172200" y="1828800"/>
            <a:ext cx="237744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入札不調案件の再公募対応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（例: 岡山市）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NTT東既存自治体顧客への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  直接提案（千葉県・北海道型）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• 対象: ④構築・⑤運用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65760" y="32918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支店ロビー活動 タイムライン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3611880"/>
            <a:ext cx="2651760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48640" y="3657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3月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48640" y="39319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ロビー活動開始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4187952"/>
            <a:ext cx="246888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0" name="Text 28"/>
          <p:cNvSpPr/>
          <p:nvPr/>
        </p:nvSpPr>
        <p:spPr>
          <a:xfrm>
            <a:off x="548640" y="422452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BI本部へ商材打ち込み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井上さんへコンタクト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63240" y="39319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Shape 30"/>
          <p:cNvSpPr/>
          <p:nvPr/>
        </p:nvSpPr>
        <p:spPr>
          <a:xfrm>
            <a:off x="3291840" y="3611880"/>
            <a:ext cx="2651760" cy="1234440"/>
          </a:xfrm>
          <a:prstGeom prst="roundRect">
            <a:avLst>
              <a:gd name="adj" fmla="val 3704"/>
            </a:avLst>
          </a:prstGeom>
          <a:solidFill>
            <a:srgbClr val="EDF7FA"/>
          </a:solidFill>
          <a:ln w="12700">
            <a:solidFill>
              <a:srgbClr val="156082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3280" y="3657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4月（メイン）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3383280" y="39319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支店展開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383280" y="4187952"/>
            <a:ext cx="246888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36" name="Text 34"/>
          <p:cNvSpPr/>
          <p:nvPr/>
        </p:nvSpPr>
        <p:spPr>
          <a:xfrm>
            <a:off x="3383280" y="422452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支店長勉強会で発表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案件発見チェックリスト配布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5897880" y="3931920"/>
            <a:ext cx="274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156082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→</a:t>
            </a:r>
            <a:endParaRPr lang="en-US" sz="1800" dirty="0"/>
          </a:p>
        </p:txBody>
      </p:sp>
      <p:sp>
        <p:nvSpPr>
          <p:cNvPr id="38" name="Shape 36"/>
          <p:cNvSpPr/>
          <p:nvPr/>
        </p:nvSpPr>
        <p:spPr>
          <a:xfrm>
            <a:off x="6126480" y="3611880"/>
            <a:ext cx="2651760" cy="1234440"/>
          </a:xfrm>
          <a:prstGeom prst="roundRect">
            <a:avLst>
              <a:gd name="adj" fmla="val 3704"/>
            </a:avLst>
          </a:prstGeom>
          <a:solidFill>
            <a:srgbClr val="F8F9FA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217920" y="36576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5月〜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6217920" y="393192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666666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案件紹介開始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217920" y="4187952"/>
            <a:ext cx="2468880" cy="10973"/>
          </a:xfrm>
          <a:prstGeom prst="rect">
            <a:avLst/>
          </a:prstGeom>
          <a:solidFill>
            <a:srgbClr val="E0E0E0"/>
          </a:solidFill>
          <a:ln/>
        </p:spPr>
      </p:sp>
      <p:sp>
        <p:nvSpPr>
          <p:cNvPr id="42" name="Text 40"/>
          <p:cNvSpPr/>
          <p:nvPr/>
        </p:nvSpPr>
        <p:spPr>
          <a:xfrm>
            <a:off x="6217920" y="4224528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支店営業から案件紹介</a:t>
            </a:r>
            <a:endParaRPr lang="en-US" sz="9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自治体新年度予算執行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56082"/>
          </a:solidFill>
          <a:ln/>
        </p:spPr>
      </p:sp>
      <p:sp>
        <p:nvSpPr>
          <p:cNvPr id="3" name="Text 1"/>
          <p:cNvSpPr/>
          <p:nvPr/>
        </p:nvSpPr>
        <p:spPr>
          <a:xfrm>
            <a:off x="0" y="2011680"/>
            <a:ext cx="9144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eiryo UI" pitchFamily="34" charset="0"/>
                <a:ea typeface="Meiryo UI" pitchFamily="34" charset="-122"/>
                <a:cs typeface="Meiryo UI" pitchFamily="34" charset="-120"/>
              </a:rPr>
              <a:t>ご清聴ありがとうございました</a:t>
            </a:r>
            <a:endParaRPr lang="en-US" sz="3200" dirty="0"/>
          </a:p>
        </p:txBody>
      </p:sp>
      <p:pic>
        <p:nvPicPr>
          <p:cNvPr id="4" name="Image 0" descr="/Users/user/.claude/skills/ntt-dxpartner-pptx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11880" y="3200400"/>
            <a:ext cx="1920240" cy="4572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2026-02-17T06:17:08Z</dcterms:created>
  <dcterms:modified xsi:type="dcterms:W3CDTF">2026-02-17T06:17:08Z</dcterms:modified>
</cp:coreProperties>
</file>