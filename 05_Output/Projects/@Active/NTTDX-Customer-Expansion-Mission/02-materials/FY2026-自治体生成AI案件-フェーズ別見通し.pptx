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CE6E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NTT DXパートナー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5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自治体生成AI案件</a:t>
            </a:r>
            <a:endParaRPr lang="en-US" sz="3400" dirty="0"/>
          </a:p>
          <a:p>
            <a:pPr indent="0" marL="0">
              <a:lnSpc>
                <a:spcPts val="45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FY2026 フェーズ別見通し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入札キング962件分析 + 個別案件調査に基づく市場見通し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4805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2026年2月17日</a:t>
            </a:r>
            <a:endParaRPr lang="en-US" sz="1200" dirty="0"/>
          </a:p>
        </p:txBody>
      </p:sp>
      <p:pic>
        <p:nvPicPr>
          <p:cNvPr id="6" name="Image 0" descr="/Users/user/.claude/skills/ntt-dxpartner-pptx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4114800"/>
            <a:ext cx="1828800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市場全体像 — 月別案件数推移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8595360" cy="1463040"/>
        </p:xfrm>
        <a:graphic>
          <a:graphicData uri="http://schemas.openxmlformats.org/drawingml/2006/table">
            <a:tbl>
              <a:tblPr/>
              <a:tblGrid>
                <a:gridCol w="640080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6400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年度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FY2025*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24231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*FY2025は11ヶ月分（2026年2月時点）。3月データ未取得</a:t>
            </a:r>
            <a:endParaRPr lang="en-US" sz="9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8229600" cy="128016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年度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Q1 (4-6月)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Q2 (7-9月)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Q3 (10-12月)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Q4 (1-3月)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41 (31%)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31 (24%)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 (15%)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38 (29%)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84 (36%)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55 (24%)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37 (16%)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56 (24%)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FY2025*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99 (44%)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65 (29%)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39 (17%)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22* (10%)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251960"/>
            <a:ext cx="8229600" cy="594360"/>
          </a:xfrm>
          <a:prstGeom prst="rect">
            <a:avLst/>
          </a:prstGeom>
          <a:solidFill>
            <a:srgbClr val="FFF8E1"/>
          </a:solidFill>
          <a:ln w="12700">
            <a:solidFill>
              <a:srgbClr val="F3C551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0080" y="427939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7E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ポイント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640080" y="44988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Q1（4-6月）に全体の35-44%が集中。年度開始の運用更新+構築案件が重なる。営業の仕込みは3月末までが勝負。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フェーズ別 — 年度推移と成長率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8412480" cy="256032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822960"/>
                <a:gridCol w="822960"/>
                <a:gridCol w="914400"/>
                <a:gridCol w="914400"/>
                <a:gridCol w="28346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フェーズ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(推計)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FY23→24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FY24→25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特徴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①研修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+275%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+33%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AI法施行で需要増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②設計(RFI)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±0%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+50%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翌年構築の先行指標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③PoC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+100%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62828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-33%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未導入自治体の入口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④構築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+82%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+7%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最大ボリュームゾーン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⑤運用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+60%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+1%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ストック型。毎年積み上げ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247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+78%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+6%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3566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落札金額 合計（カッコ内は金額判明件数）</a:t>
            </a:r>
            <a:endParaRPr lang="en-US" sz="13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840480"/>
          <a:ext cx="8412480" cy="10972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年度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①研修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②設計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③PoC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④構築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⑤運用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(1/4件)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(0/6件)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3,173万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(5/6件)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3.7億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(40/72件)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2.4億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(25/42件)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6.4億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(71/130件)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6,050万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(7/15件)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(0/6件)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4,274万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(7/12件)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4.5億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(60/132件)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4.6億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(43/67件)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10.1億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(117/232件)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8,834万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(10/18件)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(0/8件)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1,400万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(4/7件)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2.0億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(44/130件)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11.6億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(42/62件)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14.6億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(100/225件)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FY2026 見通し — フェーズ別推計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822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成長ドライバー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AI法施行(2025/9)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657600" y="10972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自治体のAI活用が「責務」に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35331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第2世代交付金 2,000億円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0" y="1353312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前年比倍増、予算の裏付け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609344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ガバメントAI「源内」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0" y="1609344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2026年度自治体展開予定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865376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市区町村の70%が未導入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0" y="1865376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巨大な潜在需要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240280"/>
            <a:ext cx="2651760" cy="118872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2860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保守的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4360" y="256032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+10%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~292件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94360" y="310896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~22億円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91840" y="2240280"/>
            <a:ext cx="2651760" cy="1188720"/>
          </a:xfrm>
          <a:prstGeom prst="rect">
            <a:avLst/>
          </a:prstGeom>
          <a:solidFill>
            <a:srgbClr val="EDF7FA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0" y="2240280"/>
            <a:ext cx="868680" cy="27432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0" y="2258568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推奨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429000" y="22860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基本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429000" y="256032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+25%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2900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~322件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429000" y="310896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~24億円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126480" y="2240280"/>
            <a:ext cx="2651760" cy="118872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22860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楽観的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63640" y="256032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+40%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26364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~352件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263640" y="310896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~27億円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611880"/>
          <a:ext cx="8595360" cy="141732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822960"/>
                <a:gridCol w="914400"/>
                <a:gridCol w="914400"/>
                <a:gridCol w="4114800"/>
              </a:tblGrid>
              <a:tr h="20247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フェーズ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実績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推計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想定単価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推計金額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成長ドライバー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2024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①研修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~36件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550万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~2.0億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AI法→全職員研修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24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②設計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~14件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RFI発出増→翌年構築化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24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③PoC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~14件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450万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~0.6億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未導入自治体の入口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24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④構築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142件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~170件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650万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~11.1億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RAG・全庁導入が本格化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24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⑤運用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68件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~88件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1,200万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~10.6億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FY24-25構築→運用移行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24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247件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~322件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~24億円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④構築 サブカテゴリ別分析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77724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構築案件342件の内訳 — 年度推移と平均単価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51560"/>
          <a:ext cx="8595360" cy="2743200"/>
        </p:xfrm>
        <a:graphic>
          <a:graphicData uri="http://schemas.openxmlformats.org/drawingml/2006/table">
            <a:tbl>
              <a:tblPr/>
              <a:tblGrid>
                <a:gridCol w="1645920"/>
                <a:gridCol w="548640"/>
                <a:gridCol w="548640"/>
                <a:gridCol w="548640"/>
                <a:gridCol w="640080"/>
                <a:gridCol w="822960"/>
                <a:gridCol w="38404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サブカテゴリ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FY23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FY24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FY25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推計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FY26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推計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平均単価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トレンド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チャットボット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~38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696万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減少傾向。市場飽和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生成AIサービス導入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~51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422万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毎年急増。SaaS型主流化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庁内生成AI環境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~28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505万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FY24爆発→安定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RAG構築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632万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FY24急増→定着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活用支援・コンサル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2,065万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高単価。推進事業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教育・学校AI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2,169万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高単価。英語AI急増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Dify環境構築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697万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新興。神戸市が先行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生成AI（その他）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278万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微増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~170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3931920"/>
            <a:ext cx="8412480" cy="914400"/>
          </a:xfrm>
          <a:prstGeom prst="rect">
            <a:avLst/>
          </a:prstGeom>
          <a:solidFill>
            <a:srgbClr val="EDF7FA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39776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注目ポイント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4224528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生成AIサービス導入が最大カテゴリに成長（6→26→38件）。SaaS型の導入が主流化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活用支援・コンサル / 教育・学校AI は件数少ないが平均単価2,000万超の高単価領域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RAG構築（~9件）+ Dify環境構築（~3件）は技術力が差別化要因。NTTグループの強み活用可能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④構築 サブカテゴリ — 四半期パターン（FY2025）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859536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005840"/>
                <a:gridCol w="1005840"/>
                <a:gridCol w="1005840"/>
                <a:gridCol w="1005840"/>
                <a:gridCol w="731520"/>
                <a:gridCol w="731520"/>
              </a:tblGrid>
              <a:tr h="264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サブカテゴリ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Q1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4-6月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Q2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7-9月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Q3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10-12月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Q4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1-2月*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Q1比率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チャットボット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34%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生成AIサービス導入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67E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51%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庁内生成AI環境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RAG構築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活用支援・コンサル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43%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教育・学校AI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その他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38%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FY2026 想定スケジュール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7200" y="3794760"/>
            <a:ext cx="73152" cy="27432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37947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Q1 (4-6月)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011680" y="37947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~38%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651760" y="379476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~65件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566160" y="37947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年度開始。サービス導入・チャットボットが集中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114800"/>
            <a:ext cx="73152" cy="27432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4114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Q2 (7-9月)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011680" y="41148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~31%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651760" y="4114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~53件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566160" y="41148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AI法施行後の需要。庁内環境構築が増加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4434840"/>
            <a:ext cx="73152" cy="274320"/>
          </a:xfrm>
          <a:prstGeom prst="rect">
            <a:avLst/>
          </a:prstGeom>
          <a:solidFill>
            <a:srgbClr val="F3C551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4348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Q3 (10-12月)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011680" y="44348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3C55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~20%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2651760" y="44348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~34件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3566160" y="4434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下期予算案件。RAG構築が集中傾向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4754880"/>
            <a:ext cx="73152" cy="274320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22" name="Text 19"/>
          <p:cNvSpPr/>
          <p:nvPr/>
        </p:nvSpPr>
        <p:spPr>
          <a:xfrm>
            <a:off x="64008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Q4 (1-3月)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201168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~12%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2651760" y="47548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~18件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3566160" y="47548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来期案件の公示。種まき期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競争環境と NTTグループ実績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914400"/>
            <a:ext cx="384048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73152" cy="201168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0058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応札競争環境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3716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44%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011680" y="1508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が1社応札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19202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応札社数データ115件中51件が単独応札。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参入するだけで落札できる案件が約半数。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2377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全606件中、金額判明は290件。</a:t>
            </a:r>
            <a:endParaRPr lang="en-US" sz="9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随意契約・少額案件を含めると市場は2-3倍。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54880" y="914400"/>
            <a:ext cx="393192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914400"/>
            <a:ext cx="73152" cy="2011680"/>
          </a:xfrm>
          <a:prstGeom prst="rect">
            <a:avLst/>
          </a:prstGeom>
          <a:solidFill>
            <a:srgbClr val="6CE6E8"/>
          </a:solidFill>
          <a:ln/>
        </p:spPr>
      </p:sp>
      <p:sp>
        <p:nvSpPr>
          <p:cNvPr id="13" name="Text 11"/>
          <p:cNvSpPr/>
          <p:nvPr/>
        </p:nvSpPr>
        <p:spPr>
          <a:xfrm>
            <a:off x="4983480" y="10058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NTTグループ実績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83480" y="13716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24件 / 1.19億円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983480" y="17373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（シェア4.0%）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2011680"/>
          <a:ext cx="3474720" cy="822960"/>
        </p:xfrm>
        <a:graphic>
          <a:graphicData uri="http://schemas.openxmlformats.org/drawingml/2006/table">
            <a:tbl>
              <a:tblPr/>
              <a:tblGrid>
                <a:gridCol w="1158240"/>
                <a:gridCol w="1158240"/>
                <a:gridCol w="1158240"/>
              </a:tblGrid>
              <a:tr h="2057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フェーズ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件数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金額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④構築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15件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7,492万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⑤運用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8件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4,286万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①研修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1件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161万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365760" y="3108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NTTDXPNの差別化ポイント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7200" y="3474720"/>
            <a:ext cx="26517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57200" y="347472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20" name="Text 17"/>
          <p:cNvSpPr/>
          <p:nvPr/>
        </p:nvSpPr>
        <p:spPr>
          <a:xfrm>
            <a:off x="594360" y="3611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閉域網+LGWAN一体提案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94360" y="39776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葛飾区: SD-WAN+Cloud Gateway+RAG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2,530万円落札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291840" y="3474720"/>
            <a:ext cx="26517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3291840" y="347472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24" name="Text 21"/>
          <p:cNvSpPr/>
          <p:nvPr/>
        </p:nvSpPr>
        <p:spPr>
          <a:xfrm>
            <a:off x="3429000" y="3611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RAG構築力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429000" y="39776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北海道: 30種RAG+100GB対応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2,178万円落札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126480" y="3474720"/>
            <a:ext cx="26517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126480" y="347472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28" name="Text 25"/>
          <p:cNvSpPr/>
          <p:nvPr/>
        </p:nvSpPr>
        <p:spPr>
          <a:xfrm>
            <a:off x="6263640" y="3611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ミンクスプラス生成AI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263640" y="39776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千葉県: 自社プロダクト+福祉チャットボット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3,722万円落札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20116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ご清聴ありがとうございました</a:t>
            </a:r>
            <a:endParaRPr lang="en-US" sz="3200" dirty="0"/>
          </a:p>
        </p:txBody>
      </p:sp>
      <p:pic>
        <p:nvPicPr>
          <p:cNvPr id="4" name="Image 0" descr="/Users/user/.claude/skills/ntt-dxpartner-pptx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3200400"/>
            <a:ext cx="192024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2026-02-17T05:55:57Z</dcterms:created>
  <dcterms:modified xsi:type="dcterms:W3CDTF">2026-02-17T05:55:57Z</dcterms:modified>
</cp:coreProperties>
</file>