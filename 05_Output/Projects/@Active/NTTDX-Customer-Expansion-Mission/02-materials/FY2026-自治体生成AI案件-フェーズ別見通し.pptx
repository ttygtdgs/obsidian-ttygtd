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566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 DXパートナー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10085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4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自治体生成AI案件</a:t>
            </a:r>
            <a:endParaRPr lang="en-US" sz="3400" dirty="0"/>
          </a:p>
          <a:p>
            <a:pPr marL="0" indent="0">
              <a:lnSpc>
                <a:spcPts val="4500"/>
              </a:lnSpc>
              <a:buNone/>
            </a:pPr>
            <a:r>
              <a:rPr lang="en-US" sz="34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FY2026 フェーズ別見通し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2026年2月17日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市場全体像 — 月別案件数推移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083296" cy="1554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FY2025*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423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*FY2025は11ヶ月分（2026年2月時点）。3月データ未取得</a:t>
            </a:r>
            <a:endParaRPr lang="en-US" sz="9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1280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(4-6月)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(7-9月)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(10-12月)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(1-3月)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41 (31%)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 (24%)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 (15%)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38 (29%)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84 (36%)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 (24%)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(16%)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56 (24%)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FY2025*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99 (44%)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 (29%)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39 (17%)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22* (10%)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/>
          <p:nvPr/>
        </p:nvSpPr>
        <p:spPr>
          <a:xfrm>
            <a:off x="640080" y="4279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44988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Q1（4-6月）に全体の35-44%が集中。年度開始の運用更新+構築案件が重なる。営業の仕込みは3月末までが勝負。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フェーズ別 — 年度推移と成長率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590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(推計)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FY23→24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FY24→25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+275%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AI法施行で需要増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②設計(RFI)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翌年構築の先行指標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+100%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-33%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未導入自治体の入口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最大ボリュームゾーン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+60%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ストック型。毎年積み上げ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落札金額 合計（カッコ内は金額判明件数）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8412481" cy="137160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(1/4件)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(0/6件)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3,173万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(5/6件)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(40/72件)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(25/42件)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6.4億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(71/130件)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6,050万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(7/15件)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(0/6件)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4,274万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(7/12件)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4.5億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(60/132件)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4.6億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(43/67件)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10.1億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(117/232件)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8,834万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(10/18件)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(0/8件)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1,400万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(4/7件)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(44/130件)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11.6億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(42/62件)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14.6億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(100/225件)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FY2026 見通し — フェーズ別推計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成長ドライバー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AI法施行(2025/9)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自治体のAI活用が「責務」に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第2世代交付金 2,000億円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533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前年比倍増、予算の裏付け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ガバメントAI「源内」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6093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2026年度自治体展開予定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市区町村の70%が未導入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865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巨大な潜在需要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265176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~292件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~22億円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240280"/>
            <a:ext cx="2651760" cy="11887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029200" y="2240280"/>
            <a:ext cx="8686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225856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+25%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~322件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2900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~24億円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265176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楽観的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~352件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~27億円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07671"/>
              </p:ext>
            </p:extLst>
          </p:nvPr>
        </p:nvGraphicFramePr>
        <p:xfrm>
          <a:off x="274320" y="3611880"/>
          <a:ext cx="8595360" cy="15196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4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実績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FY2026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推計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想定単価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推計金額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成長ドライバー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~36件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550万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~2.0億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AI法→全職員研修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~14件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RFI発出増→翌年構築化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~14件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450万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~0.6億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未導入自治体の入口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142件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~170件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650万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~11.1億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RAG・全庁導入が本格化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68件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~88件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1,200万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~10.6億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FY24-25構築→運用移行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247件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~322件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~24億円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④構築 サブカテゴリ別分析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構築案件342件の内訳 — 年度推移と平均単価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2834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サブカテゴリ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平均単価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トレンド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696万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減少傾向。市場飽和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生成AIサービス導入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~51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422万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毎年急増。SaaS型主流化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庁内生成AI環境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505万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FY24爆発→安定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632万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FY24急増→定着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活用支援・コンサル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2,065万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高単価。推進事業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教育・学校AI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2,169万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高単価。英語AI急増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Dify環境構築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697万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新興。神戸市が先行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生成AI（その他）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278万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微増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~170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注目ポイント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生成AIサービス導入が最大カテゴリに成長（6→26→38件）。SaaS型の導入が主流化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活用支援・コンサル / 教育・学校AI は件数少ないが平均単価2,000万超の高単価領域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RAG構築（~9件）+ Dify環境構築（~3件）は技術力が差別化要因。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④構築 サブカテゴリ — 四半期パターン（FY2025）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7132320" cy="2479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サブカテゴリ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4-6月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7-9月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10-12月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1-2月*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生成AIサービス導入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庁内生成AI環境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活用支援・コンサル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教育・学校AI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FY2026 想定スケジュール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794760"/>
            <a:ext cx="73152" cy="27432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4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 (4-6月)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3794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~38%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51760" y="37947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~65件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6616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年度開始。サービス導入・チャットボットが集中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73152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(7-9月)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11680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~31%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5176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~53件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6616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AI法施行後の需要。庁内環境構築が増加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73152" cy="274320"/>
          </a:xfrm>
          <a:prstGeom prst="rect">
            <a:avLst/>
          </a:prstGeom>
          <a:solidFill>
            <a:srgbClr val="F3C55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64008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(10-12月)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116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~20%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51760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~34件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6616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下期予算案件。RAG構築が集中傾向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73152" cy="27432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4008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Q4 (1-3月)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116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~12%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5176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~18件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6616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来期案件の公示。種まき期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競争環境と NTTグループ実績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応札競争環境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が1社応札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応札社数データ115件中51件が単独応札。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参入するだけで落札できる案件が約半数。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全606件中、金額判明は290件。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随意契約・少額案件を含めると市場は2-3倍。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73152" cy="2011680"/>
          </a:xfrm>
          <a:prstGeom prst="rect">
            <a:avLst/>
          </a:prstGeom>
          <a:solidFill>
            <a:srgbClr val="6CE6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NTTグループ実績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24件 / 1.19億円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（シェア4.0%）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2011680"/>
          <a:ext cx="3474720" cy="914400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7,492万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4,286万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161万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NTTDXPNの差別化ポイント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閉域網+LGWAN一体提案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葛飾区: SD-WAN+Cloud Gateway+RAG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2,530万円落札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329184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RAG構築力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42900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北海道: 30種RAG+100GB対応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2,178万円落札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4"/>
          <p:cNvSpPr/>
          <p:nvPr/>
        </p:nvSpPr>
        <p:spPr>
          <a:xfrm>
            <a:off x="612648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626364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ミンクスプラス生成AI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6364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千葉県: 自社プロダクト+福祉チャットボット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3,722万円落札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自治体案件 — 攻め方整理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獲得チャネル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入札キング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モニタリング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公募案件の週次モニタリング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Medium帯(500万〜3000万)を全件チェック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48.7%が1社応札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→ 応札すれば勝てる案件が約半数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④構築・⑤運用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20116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983480" y="1143000"/>
            <a:ext cx="8686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983480" y="116128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メイン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NTT東 支店ロビー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BI本部経由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BI本部にAI商材を打ち込み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支店長勉強会でネタ提供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（井上さん主幹・ネタ募集中）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支店営業から案件紹介を獲得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①研修・③PoC → アップセル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17220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直接アプローチ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不調案件・既存顧客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入札不調案件の再公募対応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（例: 岡山市）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NTT東既存自治体顧客への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直接提案（千葉県・北海道型）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④構築・⑤運用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支店ロビー活動 タイムライン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ロビー活動開始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4864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BI本部へ商材打ち込み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井上さんへコンタクト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632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9184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4月（メイン）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支店展開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338328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支店長勉強会で発表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案件発見チェックリスト配布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217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5月〜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案件紹介開始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21792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支店営業から案件紹介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自治体新年度予算執行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1187</Words>
  <Application>Microsoft Macintosh PowerPoint</Application>
  <PresentationFormat>画面に合わせる (16:9)</PresentationFormat>
  <Paragraphs>493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後藤田 達哉</cp:lastModifiedBy>
  <cp:revision>2</cp:revision>
  <dcterms:created xsi:type="dcterms:W3CDTF">2026-02-17T06:17:08Z</dcterms:created>
  <dcterms:modified xsi:type="dcterms:W3CDTF">2026-02-17T06:31:30Z</dcterms:modified>
</cp:coreProperties>
</file>