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NTT東日本 各部門・支店向け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AIサービスパッケージのご紹介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お客様のニーズに応じた5つのパッケージ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7" name="Image 1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サービスパッケージ全体像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274320" y="91440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914400"/>
            <a:ext cx="1645920" cy="91440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AI研修（仮）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1965960"/>
            <a:ext cx="1463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057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AIリテラシーを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高めたい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65760" y="2880360"/>
            <a:ext cx="146304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20〜80万円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11680" y="91440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914400"/>
            <a:ext cx="1645920" cy="91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2"/>
          <p:cNvSpPr/>
          <p:nvPr/>
        </p:nvSpPr>
        <p:spPr>
          <a:xfrm>
            <a:off x="210312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ECD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10312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AI活用診断（仮）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103120" y="1965960"/>
            <a:ext cx="1463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5"/>
          <p:cNvSpPr/>
          <p:nvPr/>
        </p:nvSpPr>
        <p:spPr>
          <a:xfrm>
            <a:off x="2103120" y="2057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活用の方向性を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探りたい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103120" y="2880360"/>
            <a:ext cx="146304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7"/>
          <p:cNvSpPr/>
          <p:nvPr/>
        </p:nvSpPr>
        <p:spPr>
          <a:xfrm>
            <a:off x="210312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50〜200万円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749040" y="91440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749040" y="914400"/>
            <a:ext cx="1645920" cy="914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23" name="Text 20"/>
          <p:cNvSpPr/>
          <p:nvPr/>
        </p:nvSpPr>
        <p:spPr>
          <a:xfrm>
            <a:off x="384048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84048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AI導入支援（仮）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0" y="1965960"/>
            <a:ext cx="1463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3"/>
          <p:cNvSpPr/>
          <p:nvPr/>
        </p:nvSpPr>
        <p:spPr>
          <a:xfrm>
            <a:off x="3840480" y="2057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システムを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構築したい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840480" y="2880360"/>
            <a:ext cx="146304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384048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150〜2000万円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486400" y="91440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0" y="914400"/>
            <a:ext cx="1645920" cy="914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31" name="Text 28"/>
          <p:cNvSpPr/>
          <p:nvPr/>
        </p:nvSpPr>
        <p:spPr>
          <a:xfrm>
            <a:off x="557784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57784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AI内製化支援（仮）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577840" y="1965960"/>
            <a:ext cx="1463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4" name="Text 31"/>
          <p:cNvSpPr/>
          <p:nvPr/>
        </p:nvSpPr>
        <p:spPr>
          <a:xfrm>
            <a:off x="5577840" y="2057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自社で運用・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自走したい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577840" y="2880360"/>
            <a:ext cx="146304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6" name="Text 33"/>
          <p:cNvSpPr/>
          <p:nvPr/>
        </p:nvSpPr>
        <p:spPr>
          <a:xfrm>
            <a:off x="557784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月額10〜80万円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223760" y="914400"/>
            <a:ext cx="1645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223760" y="914400"/>
            <a:ext cx="1645920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9" name="Text 36"/>
          <p:cNvSpPr/>
          <p:nvPr/>
        </p:nvSpPr>
        <p:spPr>
          <a:xfrm>
            <a:off x="731520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315200" y="13716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開発伴走サービス（仮）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315200" y="1965960"/>
            <a:ext cx="146304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2" name="Text 39"/>
          <p:cNvSpPr/>
          <p:nvPr/>
        </p:nvSpPr>
        <p:spPr>
          <a:xfrm>
            <a:off x="7315200" y="20574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全パッケージ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横断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7315200" y="2880360"/>
            <a:ext cx="1463040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Text 41"/>
          <p:cNvSpPr/>
          <p:nvPr/>
        </p:nvSpPr>
        <p:spPr>
          <a:xfrm>
            <a:off x="731520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個別相談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研修で学ぶ → 方向性を探る → システム構築 → 自走化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提供形態オプション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AI導入支援・AI内製化支援パッケージでは、以下の2つの提供形態から選択可能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提供型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我々が開発・提供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2402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Dify/n8n SaaS提供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PoC・本番システム開発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運用保守サービス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3200400"/>
            <a:ext cx="3657600" cy="502920"/>
          </a:xfrm>
          <a:prstGeom prst="rect">
            <a:avLst/>
          </a:prstGeom>
          <a:solidFill>
            <a:srgbClr val="ED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早く導入したい / 運用も任せたい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3"/>
          <p:cNvSpPr/>
          <p:nvPr/>
        </p:nvSpPr>
        <p:spPr>
          <a:xfrm>
            <a:off x="484632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C551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内製化型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84632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顧客環境で開発支援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846320" y="22402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3317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Copilot等を活用した開発支援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技術移転・ハンズオン研修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内製化プログラム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46320" y="3200400"/>
            <a:ext cx="3657600" cy="50292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1" name="Text 18"/>
          <p:cNvSpPr/>
          <p:nvPr/>
        </p:nvSpPr>
        <p:spPr>
          <a:xfrm>
            <a:off x="4937760" y="3291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自社で管理したい / ノウハウを蓄積したい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65760" y="41148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お客様の状況・ご要望に応じて最適な形態をご提案します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AI研修（仮）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6CE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AIリテラシーを高めたい企業（まずはAIを理解したい / 社員の意識を変えたい）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56032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128016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生成AI基礎研修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ChatGPT/Claude等の基本操作・活用法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全社員向け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半日〜1日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経営層向けAI戦略セミナー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AI活用による経営インパクト解説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経営層・管理職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2〜3時間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20〜30万円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業種別AI活用ワークショップ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業界特化の活用事例紹介・体験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現場担当者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40〜60万円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プロンプトエンジニアリング研修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効果的なAI活用のためのスキル習得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推進担当者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Cursor/AI Coding研修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AIコーディングツール活用研修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エンジニア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ゴール: 生成AIへの理解向上 / 組織の意識改革 / 活用アイデア創出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AI活用診断（仮）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0F7F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AI活用の方向性を探りたい企業（使い道を整理したい / 投資判断の材料が欲しい）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286000"/>
                <a:gridCol w="1005840"/>
                <a:gridCol w="10058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成果物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業務棚卸しコンサルティング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現行業務の可視化・AI適用領域特定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業務フロー図、AI適用候補リスト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ユースケース設計WS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アイデア発散・優先順位付け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ユースケース一覧、優先度マトリクス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1〜2日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50〜80万円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効果試算・ROI分析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導入効果の定量化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効果試算シート、投資対効果レポート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1〜2週間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80〜150万円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AI活用ロードマップ策定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段階的導入計画の立案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ロードマップ資料、実行計画書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2〜3週間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100〜200万円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自社に適したAI活用方針の明確化　　✓  経営層への説明材料　　✓  投資判断の根拠獲得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AI導入支援（仮）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AIシステムを構築したい企業（PoCを試したい / 本番導入したい）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1188720"/>
                <a:gridCol w="10972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PoC開発支援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RAGチャットボット、業務自動化（n8n）、AIエージェント等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4〜10週間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150〜500万円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本番システム開発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PoC→本番環境への移行・開発、既存システム連携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2〜6ヶ月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500〜2000万円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セキュリティ対応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プライベートLLM環境構築、データ保護対策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2〜4週間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150〜300万円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既存システム連携開発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基幹システム等とのAPI連携開発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1〜3ヶ月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300〜800万円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実現性・効果の検証（PoC）　　✓  本番稼働するAIシステムの構築　　✓  課題の早期発見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AI内製化支援（仮）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96112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自社で運用・自走したい企業（継続運用したい / 自社チームで回せるようにしたい）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210312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1645920"/>
                <a:gridCol w="1554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サービス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提供形態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価格帯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SaaS提供（Dify/n8n）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マネージド環境の月額提供（IT導入補助金対応）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サブスクリプション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5〜30万円/月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運用保守サービス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監視・障害対応・アップデート対応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月額保守契約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20〜50万円/月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AI活用定着支援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定期レビュー・改善提案・追加開発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顧問契約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30〜80万円/月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内製化支援プログラム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技術移転・ハンズオン研修・ナレッジ移転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プロジェクト型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300〜600万円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安定稼働・運用負荷の軽減　　✓  自社運用体制の構築・自走化　　✓  継続的な改善・進化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開発伴走サービス（仮）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全パッケージを通じて、プロダクト・サービス開発を継続的に支援する伴走型サービス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CX起点でのプロダクト・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顧客体験（CX）を起点に、プロダクト・サービスの企画から開発までを伴走支援。ユーザー視点でのサービス設計を重視。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1280160"/>
            <a:ext cx="4023360" cy="7315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484632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846320" y="18288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サービス開発伴走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846320" y="2468880"/>
            <a:ext cx="3657600" cy="13716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4"/>
          <p:cNvSpPr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新規サービス・プロダクトの開発プロセス全体を伴走支援。要件定義から実装、リリースまで一貫してサポート。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74720"/>
            <a:ext cx="8412480" cy="12801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566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提供価値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3886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 継続的な伴走による品質担保　　✓  顧客視点での開発推進　　✓  自走化に向けたナレッジ移転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詳細な支援体制・期間・費用は案件に応じて個別相談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ser/.claude/skills/ntt-dxpartner-pptx/assets/bg-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IT導入補助金活用メリット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10312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パッケージ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補助金活用可能サービス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補助対象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補助率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AI導入支援（仮）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Dify/n8nを活用したPoC・本番開発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ツール利用料、導入費用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AI内製化支援（仮）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SaaS月額利用（Dify/n8n）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月額利用料（初年度）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1/2〜2/3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2468880"/>
            <a:ext cx="8412480" cy="219456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お客様メリット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48640" y="3017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導入コストの 1/2〜2/3 を補助金でカバー可能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548640" y="3657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例1: 300万円のPoC費用 → 実質負担 100〜150万円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48640" y="40233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例2: 月額20万円のSaaS利用 → 実質負担 7〜10万円/月（初年度）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Dify, n8n は IT導入補助金登録済ツール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AIサービスパッケージのご紹介</dc:title>
  <dc:subject>PptxGenJS Presentation</dc:subject>
  <dc:creator>NTT DXパートナー</dc:creator>
  <cp:lastModifiedBy>NTT DXパートナー</cp:lastModifiedBy>
  <cp:revision>1</cp:revision>
  <dcterms:created xsi:type="dcterms:W3CDTF">2026-01-15T08:23:23Z</dcterms:created>
  <dcterms:modified xsi:type="dcterms:W3CDTF">2026-01-15T08:23:23Z</dcterms:modified>
</cp:coreProperties>
</file>