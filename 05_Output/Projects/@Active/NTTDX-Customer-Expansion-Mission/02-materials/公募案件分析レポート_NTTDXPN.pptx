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CE6E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顧客接点拡大ミッション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公募案件分析レポート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入札王データに基づく市場動向分析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2026年1月</a:t>
            </a:r>
            <a:endParaRPr lang="en-US" sz="1200" dirty="0"/>
          </a:p>
        </p:txBody>
      </p:sp>
      <p:pic>
        <p:nvPicPr>
          <p:cNvPr id="6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114800"/>
            <a:ext cx="1828800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分析概要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総案件数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849件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ノイズ除去済み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落札データあり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341件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金額分析可能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応札可能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63640" y="1554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6件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63640" y="2148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入札日1/16以降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EDF7FA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データソース: 入札王 2026年1月16日ダウンロード（落札データ含む・ノイズ除去済み）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推奨検索キーワード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Tier1（必須）: 生成AI, RAG, チャットボット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Tier2（補足）: ChatGPT, Dify, プロンプト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キーワード別ヒット数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56032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5720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キーワード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備考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366件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住民向けサービス含む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333件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コアターゲット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構築案件、増加傾向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製品名指定案件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プロンプト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研修系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新興、注目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FF8E1"/>
          </a:solidFill>
          <a:ln w="12700">
            <a:solidFill>
              <a:srgbClr val="F3C55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💡 ポイント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「生成AI」「チャットボット」が主要キーワード。RAGは件数少ないが増加傾向にあり注目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キーワード別 年次推移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ChatGPT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Dify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2024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73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2025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43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2026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0</a:t>
                      </a:r>
                      <a:endParaRPr lang="en-US" sz="12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トレンド分析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3246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生成AI: 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45920" y="32461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2024年に爆発的成長（8→73件、+812%）、2025年も継続成長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RAG: 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645920" y="3566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2024年から登場、2025年に3倍増 → 今後の注目領域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チャットボット: 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645920" y="3886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横ばい〜微減 → 成熟市場、差別化が必要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206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• Dify: 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645920" y="42062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2025年10月から登場 → 新興、要ウォッチ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落札金額分析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96012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73152" cy="146304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全体統計（n=341）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最高: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5.09億円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平均: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967万円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中央値: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238万円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60120"/>
          <a:ext cx="4114800" cy="164592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案件タイプ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中央値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チャットボット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617万円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218万円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生成AI導入・構築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1,620万円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研修・人材育成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676万円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371万円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RAG関連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229万円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127万円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57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高額案件 TOP5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5.09億円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288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大塚商会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74720" y="29260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ＴＡＩＭＳ用生成ＡＩツールライセンス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2918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32918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3.27億円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8288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コニカミノルタ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47472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都立学校向け生成ＡＩ利用サービス構築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3657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36576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1.81億円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828800" y="36576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コニカミノルタ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474720" y="3657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都立学校向け生成AI機能改修・運用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4023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40233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1.71億円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828800" y="4023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富士通Japan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74720" y="4023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チャットボット拡張及び運用保守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4389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2960" y="43891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1.53億円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1828800" y="4389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富士通Japan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474720" y="4389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チャットボット拡張及び運用保守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落札企業ランキング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件数ランキング TOP5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931920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731520"/>
                <a:gridCol w="109728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順位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平均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サイネックス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ビースポーク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360万円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シフトプラス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137万円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5,027万円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イマクリエ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84万円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総額ランキング TOP5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023360" cy="182880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1188720"/>
                <a:gridCol w="73152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順位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総額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8.5億円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大塚商会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コニカミノルタ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5.1億円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4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NTT東日本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1.2億円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11件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ビースポーク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9,725万円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27件</a:t>
                      </a:r>
                      <a:endParaRPr lang="en-US" sz="10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競合企業の案件傾向（件数TOP5）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01168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1645920"/>
                <a:gridCol w="4206240"/>
              </a:tblGrid>
              <a:tr h="3352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企業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件数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案件タイプ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主要顧客・特徴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サイネックス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AIチャットボット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市区町村向け小規模案件（100〜400万円）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ビースポーク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27件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AIチャットボット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観光・子育て・福祉など特化型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シフトプラス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18件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「自治体AI zevo」SaaS展開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イマクリエ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生成AIサービス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LGWAN対応の生成AIライセンス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富士通Japan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17件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大型SI案件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東京都・大阪府の億単位案件を独占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市場セグメント分析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3474720"/>
            <a:ext cx="2651760" cy="54864"/>
          </a:xfrm>
          <a:prstGeom prst="rect">
            <a:avLst/>
          </a:prstGeom>
          <a:solidFill>
            <a:srgbClr val="6CE6E8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チャットボット市場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サイネックス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ビースポーク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中小規模SaaS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市区町村が中心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3474720"/>
            <a:ext cx="2651760" cy="54864"/>
          </a:xfrm>
          <a:prstGeom prst="rect">
            <a:avLst/>
          </a:prstGeom>
          <a:solidFill>
            <a:srgbClr val="F3C551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生成AIサービス市場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8328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シフトプラス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イマクリエ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8328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自治体向けSaaS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LGWAN対応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126480" y="34747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126480" y="3474720"/>
            <a:ext cx="2651760" cy="54864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35661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大型SI案件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217920" y="38862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5608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富士通Japan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43434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都道府県レベル</a:t>
            </a:r>
            <a:endParaRPr lang="en-US" sz="9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億単位の案件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応札可能案件（2026/1/16時点）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685800"/>
            <a:ext cx="8412480" cy="22860"/>
          </a:xfrm>
          <a:prstGeom prst="rect">
            <a:avLst/>
          </a:prstGeom>
          <a:solidFill>
            <a:srgbClr val="156082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2560320"/>
        </p:xfrm>
        <a:graphic>
          <a:graphicData uri="http://schemas.openxmlformats.org/drawingml/2006/table">
            <a:tbl>
              <a:tblPr/>
              <a:tblGrid>
                <a:gridCol w="731520"/>
                <a:gridCol w="822960"/>
                <a:gridCol w="118872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入札日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フェーズ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発注機関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件名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1/19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東京都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生成AIを活用した課題解決ワークショップ実施委託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1/29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①研修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佐賀県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令和7年度生成AI利活用研修委託業務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2/06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明日香村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生成AI英会話システム導入事業（聖徳中学校）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2/09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八尾市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八尾市生成AI導入運用業務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2/13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④実装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武蔵野市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FAQ・RAG検索システム提供役務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2/18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5608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②設計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大阪市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令和8年度大阪市における生成AI活用ロードマップ作成支援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608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ご清聴ありがとうございました</a:t>
            </a:r>
            <a:endParaRPr lang="en-US" sz="3200" dirty="0"/>
          </a:p>
        </p:txBody>
      </p:sp>
      <p:pic>
        <p:nvPicPr>
          <p:cNvPr id="4" name="Image 0" descr="/Users/user/.claude/skills/ntt-dxpartner-pptx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3200400"/>
            <a:ext cx="192024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公募案件分析レポート</dc:title>
  <dc:subject>PptxGenJS Presentation</dc:subject>
  <dc:creator>NTT DXパートナー</dc:creator>
  <cp:lastModifiedBy>NTT DXパートナー</cp:lastModifiedBy>
  <cp:revision>1</cp:revision>
  <dcterms:created xsi:type="dcterms:W3CDTF">2026-01-16T10:02:45Z</dcterms:created>
  <dcterms:modified xsi:type="dcterms:W3CDTF">2026-01-16T10:02:45Z</dcterms:modified>
</cp:coreProperties>
</file>