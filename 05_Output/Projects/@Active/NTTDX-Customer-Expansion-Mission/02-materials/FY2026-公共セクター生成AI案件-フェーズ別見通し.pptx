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E6E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 DXパートナー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公共セクター生成AI案件</a:t>
            </a:r>
            <a:endParaRPr lang="en-US" sz="34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フェーズ別見通し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入札キング2,500件分析 + 個別案件調査に基づく市場見通し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2026年2月18日</a:t>
            </a:r>
            <a:endParaRPr lang="en-US" sz="1200" dirty="0"/>
          </a:p>
        </p:txBody>
      </p:sp>
      <p:pic>
        <p:nvPicPr>
          <p:cNvPr id="6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114800"/>
            <a:ext cx="1828800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市場全体像 — 年度成長と発注機関タイプ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231件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46.9億円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63240" y="1280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9144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1005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+98%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457件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42900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102.8億円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1280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126480" y="914400"/>
            <a:ext cx="2651760" cy="1280160"/>
          </a:xfrm>
          <a:prstGeom prst="rect">
            <a:avLst/>
          </a:prstGeom>
          <a:solidFill>
            <a:srgbClr val="EDF7FA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9144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005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0" y="1005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+8%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495件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26364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225.1億円*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402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*FY2025は11ヶ月分（2026年2月時点）。金額にはNEDO等の大型R&amp;D案件を含む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5760" y="2514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発注機関タイプ別 内訳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34640"/>
          <a:ext cx="5029200" cy="1920240"/>
        </p:xfrm>
        <a:graphic>
          <a:graphicData uri="http://schemas.openxmlformats.org/drawingml/2006/table">
            <a:tbl>
              <a:tblPr/>
              <a:tblGrid>
                <a:gridCol w="1005840"/>
                <a:gridCol w="731520"/>
                <a:gridCol w="73152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機関タイプ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構成比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都道府県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市区町村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独法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1,183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669280" y="2834640"/>
            <a:ext cx="320040" cy="50292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7" name="Text 24"/>
          <p:cNvSpPr/>
          <p:nvPr/>
        </p:nvSpPr>
        <p:spPr>
          <a:xfrm>
            <a:off x="608076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995160" y="28346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50%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54380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588件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080760" y="30906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NTT東支店連携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の主戦場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669280" y="3474720"/>
            <a:ext cx="320040" cy="50292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32" name="Text 29"/>
          <p:cNvSpPr/>
          <p:nvPr/>
        </p:nvSpPr>
        <p:spPr>
          <a:xfrm>
            <a:off x="6080760" y="34747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国+独法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995160" y="34747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40%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543800" y="34747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472件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080760" y="37307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NTTデータ連携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で狙える領域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669280" y="4114800"/>
            <a:ext cx="320040" cy="502920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37" name="Text 34"/>
          <p:cNvSpPr/>
          <p:nvPr/>
        </p:nvSpPr>
        <p:spPr>
          <a:xfrm>
            <a:off x="6080760" y="4114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その他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995160" y="4114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10%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7543800" y="4114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123件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フェーズ別 — 年度推移と成長率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256032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914400"/>
                <a:gridCol w="9144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(11ヶ月)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FY23→24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FY24→25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+240%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AI法施行で需要増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②設計(RFI)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±0%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翌年構築の先行指標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+165%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-38%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国R&amp;D実証が多い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+97%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最大ボリュームゾーン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ストック型。加速中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+98%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落札金額 合計（カッコ内は金額判明件数 / 全件数）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840480"/>
          <a:ext cx="8412480" cy="100584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2514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146万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(3/5件)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(18/20件)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36.5億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(86/148件)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(29/52件)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46.9億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(136/231件)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2,787万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(9/17件)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(0/9件)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17.8億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(34/53件)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68.2億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(147/291件)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16.4億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(59/87件)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102.8億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(249/457件)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8,880万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(14/23件)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(0/9件)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4.5億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(17/33件)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188.6億*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(147/315件)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31.2億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(77/115件)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225.1億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(255/495件)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489204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*FY2025④構築にはNEDO大型R&amp;D案件（149.7億等）を含む。中央値: ④構築376万 / ⑤運用341万 / ③PoC1,723万（平均は大型案件で大幅上振れ）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見通し — フェーズ別推計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成長ドライバー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AI法施行(2025/9)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1097280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自治体のAI活用が「責務」に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3502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第2世代交付金 2,000億円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35024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前年比倍増、予算の裏付け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ガバメントAI「源内」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1572768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2026年度自治体展開＋国機関実証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81051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市区町村の70%が未導入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1810512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巨大な潜在需要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048256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国機関のAI本格導入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0" y="2048256"/>
            <a:ext cx="45720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デジタル庁・財務省等で実証→本番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331720"/>
            <a:ext cx="26517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保守的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+10%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~594件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94360" y="3246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自治体~300件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国独法~240件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2331720"/>
            <a:ext cx="2651760" cy="137160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233172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35000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2900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2900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+20%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~648件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429000" y="3246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自治体~330件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2900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国独法~260件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331720"/>
            <a:ext cx="26517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2377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楽観的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6364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+35%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63640" y="2926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~729件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263640" y="3246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自治体~370件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6364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国独法~290件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374904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※FY2025推計12ヶ月（~540件）を基準に算出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977640"/>
          <a:ext cx="8595360" cy="109728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914400"/>
                <a:gridCol w="731520"/>
                <a:gridCol w="4937760"/>
              </a:tblGrid>
              <a:tr h="1567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(推計12ヶ月)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成長ドライバー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~40件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AI法施行→全職員研修需要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ロードマップ策定・RFI発出増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~52件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+44%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源内実証、市区町村の入口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~344件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~410件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+19%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RAG・全庁導入+国機関基盤構築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~125件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~165件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FY24-25構築案件の運用移行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67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~540件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~682件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④構築 サブカテゴリ別分析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77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全公共セクターの構築案件754件の内訳 — 年度推移と単価（中央値/平均）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2743200"/>
        </p:xfrm>
        <a:graphic>
          <a:graphicData uri="http://schemas.openxmlformats.org/drawingml/2006/table">
            <a:tbl>
              <a:tblPr/>
              <a:tblGrid>
                <a:gridCol w="1554480"/>
                <a:gridCol w="457200"/>
                <a:gridCol w="457200"/>
                <a:gridCol w="457200"/>
                <a:gridCol w="502920"/>
                <a:gridCol w="777240"/>
                <a:gridCol w="777240"/>
                <a:gridCol w="36118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サブカテゴリ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中央値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トレンド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AI（その他）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1,188万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平均は大型R&amp;Dで上振れ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チャットボット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336万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3,259万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減少傾向。市場飽和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生成AI（その他）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772万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NEDO等で平均大幅上振れ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生成AIサービス導入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428万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4,905万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急成長。SaaS型主流化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427万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着実増加。技術差別化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庁内生成AI環境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安定推移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教育・学校AI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3,960万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3,758万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高単価。N=3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活用支援・コンサル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254万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527万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急拡大中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291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754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376万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6,388万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931920"/>
            <a:ext cx="8412480" cy="91440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注目ポイント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④構築全体の中央値は376万円（平均6,388万はNEDO等の大型R&amp;Dで上振れ）。NTTDXPNの主戦場はMedium帯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生成AIサービス導入が最大成長カテゴリ（10→46→58件）。中央値428万でSaaS型が主流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教育・学校AI は中央値3,960万の高単価領域。RAG構築は技術差別化で勝負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発注機関タイプ × フェーズ — 攻め筋の見極め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77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FY2025実績ベース — セクターごとに狙うフェーズが異なる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201168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005840"/>
                <a:gridCol w="731520"/>
                <a:gridCol w="731520"/>
                <a:gridCol w="3840480"/>
              </a:tblGrid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(都道府県+市区町村)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国・独法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比率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ポイント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自治体中心。NTT東支店のネタ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ほぼ自治体。翌年案件の予兆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国R&amp;Dが8割。大型実証案件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151件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自治体・国ほぼ半々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73件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自治体ストック収益の柱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241件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495件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39319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246120"/>
            <a:ext cx="73152" cy="17373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3337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自治体の攻め方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6576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①研修・②設計が入口（自治体比率70-78%）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④構築へアップセル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⑤運用でストック収益化（63%が自治体）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NTT東 支店ロビー活動がキーチャネル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Medium帯（500万〜3,000万）が主戦場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246120"/>
            <a:ext cx="39319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3246120"/>
            <a:ext cx="73152" cy="173736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3337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国・独法の攻め方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365760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③PoCが入口（国比率79%）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R&amp;D実証（数億〜数十億円規模）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④構築で半数の164件が国・独法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NTTデータ（17件/8.9億）連携がカギ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源内関連案件（デジ庁・財務省）に注目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競争環境と NTTグループ実績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73152" cy="20116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応札競争環境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~49%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116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が1社応札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参入するだけで落札できる案件が約半数。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特に地方案件・Medium帯で競争が少ない。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全1,207件中、金額判明は約50%（~640件）。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随意契約・少額案件を含めると市場は2-3倍。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914400"/>
            <a:ext cx="73152" cy="201168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005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NTTグループ実績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66件 / 14.3億円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（シェア5.5%）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96596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企業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件数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得意領域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NTTデータ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8.9億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国機関の大型案件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NTT東日本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自治体④構築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NTTコム東海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3,011万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愛知・三重自治体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その他NTT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各種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36576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NTTDXPNの差別化ポイント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閉域網+LGWAN一体提案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葛飾区: SD-WAN+Cloud Gateway+RAG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2,530万円落札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9184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29184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4" name="Text 21"/>
          <p:cNvSpPr/>
          <p:nvPr/>
        </p:nvSpPr>
        <p:spPr>
          <a:xfrm>
            <a:off x="342900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RAG構築力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42900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北海道: 30種RAG+100GB対応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2,178万円落札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2648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2648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8" name="Text 25"/>
          <p:cNvSpPr/>
          <p:nvPr/>
        </p:nvSpPr>
        <p:spPr>
          <a:xfrm>
            <a:off x="626364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ミンクスプラス生成AI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26364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千葉県: 自社プロダクト+福祉チャットボット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3,722万円落札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案件獲得 — 攻め方整理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獲得チャネル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入札キング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モニタリング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公募案件の週次モニタリング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全公共セクター対象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（自治体+国+独法 33件が応札可能）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~49%が1社応札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→ 応札するだけで勝てる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④構築・⑤運用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651760" cy="201168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3" name="Shape 11"/>
          <p:cNvSpPr/>
          <p:nvPr/>
        </p:nvSpPr>
        <p:spPr>
          <a:xfrm>
            <a:off x="4983480" y="114300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16128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メイン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NTT東 支店ロビー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BI本部経由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BI本部にAI商材を打ち込み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支店長勉強会でネタ提供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（井上さん主幹・ネタ募集中）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支店営業から案件紹介を獲得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①研修・③PoC → アップセル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11430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直接アプローチ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7220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不調案件・既存顧客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4" name="Text 22"/>
          <p:cNvSpPr/>
          <p:nvPr/>
        </p:nvSpPr>
        <p:spPr>
          <a:xfrm>
            <a:off x="617220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入札不調案件の再公募対応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（例: 岡山市）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NTT東既存自治体顧客への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直接提案（千葉県・北海道型）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④構築・⑤運用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支店ロビー活動 タイムライン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3月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ロビー活動開始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BI本部へ商材打ち込み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井上さんへコンタクト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63240" y="3931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329184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4月（メイン）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38328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支店展開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8328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支店長勉強会で発表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案件発見チェックリスト配布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897880" y="3931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12648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5月〜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21792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案件紹介開始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2" name="Text 40"/>
          <p:cNvSpPr/>
          <p:nvPr/>
        </p:nvSpPr>
        <p:spPr>
          <a:xfrm>
            <a:off x="621792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支店営業から案件紹介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自治体新年度予算執行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011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ご清聴ありがとうございました</a:t>
            </a:r>
            <a:endParaRPr lang="en-US" sz="3200" dirty="0"/>
          </a:p>
        </p:txBody>
      </p:sp>
      <p:pic>
        <p:nvPicPr>
          <p:cNvPr id="4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3200400"/>
            <a:ext cx="192024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2026-02-18T03:33:35Z</dcterms:created>
  <dcterms:modified xsi:type="dcterms:W3CDTF">2026-02-18T03:33:35Z</dcterms:modified>
</cp:coreProperties>
</file>