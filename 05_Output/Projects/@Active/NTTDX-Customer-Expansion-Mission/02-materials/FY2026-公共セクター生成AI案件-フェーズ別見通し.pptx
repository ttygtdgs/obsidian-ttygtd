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CE6E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NTT DXパートナー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5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公共セクター生成AI案件</a:t>
            </a:r>
            <a:endParaRPr lang="en-US" sz="3400" dirty="0"/>
          </a:p>
          <a:p>
            <a:pPr indent="0" marL="0">
              <a:lnSpc>
                <a:spcPts val="45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FY2026 フェーズ別見通し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834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入札キング2,507件分析 + 個別案件調査に基づく市場見通し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4805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2026年2月24日</a:t>
            </a:r>
            <a:endParaRPr lang="en-US" sz="1200" dirty="0"/>
          </a:p>
        </p:txBody>
      </p:sp>
      <p:pic>
        <p:nvPicPr>
          <p:cNvPr id="6" name="Image 0" descr="/Users/user/.claude/skills/ntt-dxpartner-pptx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4114800"/>
            <a:ext cx="1828800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市場全体像 — 年度成長と発注機関タイプ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685800"/>
            <a:ext cx="8412480" cy="2286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914400"/>
            <a:ext cx="26517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2651760" cy="54864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058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FY2023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13258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246件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67.9億円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063240" y="128016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291840" y="914400"/>
            <a:ext cx="26517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91840" y="914400"/>
            <a:ext cx="2651760" cy="54864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12" name="Text 10"/>
          <p:cNvSpPr/>
          <p:nvPr/>
        </p:nvSpPr>
        <p:spPr>
          <a:xfrm>
            <a:off x="3429000" y="10058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FY2024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37760" y="10058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E7D3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+90%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429000" y="13258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468件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3429000" y="17373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90.7億円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897880" y="128016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126480" y="914400"/>
            <a:ext cx="2651760" cy="1280160"/>
          </a:xfrm>
          <a:prstGeom prst="rect">
            <a:avLst/>
          </a:prstGeom>
          <a:solidFill>
            <a:srgbClr val="EDF7FA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26480" y="914400"/>
            <a:ext cx="2651760" cy="54864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19" name="Text 17"/>
          <p:cNvSpPr/>
          <p:nvPr/>
        </p:nvSpPr>
        <p:spPr>
          <a:xfrm>
            <a:off x="6263640" y="10058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FY2025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772400" y="10058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E7D3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+14%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63640" y="13258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533件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263640" y="17373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233.0億円*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224028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*FY2025は11ヶ月分（2026年2月時点）。金額にはNEDO等の大型R&amp;D案件を含む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65760" y="2514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発注機関タイプ別 内訳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834640"/>
          <a:ext cx="5029200" cy="1920240"/>
        </p:xfrm>
        <a:graphic>
          <a:graphicData uri="http://schemas.openxmlformats.org/drawingml/2006/table">
            <a:tbl>
              <a:tblPr/>
              <a:tblGrid>
                <a:gridCol w="1005840"/>
                <a:gridCol w="731520"/>
                <a:gridCol w="731520"/>
                <a:gridCol w="731520"/>
                <a:gridCol w="731520"/>
                <a:gridCol w="7315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機関タイプ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構成比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都道府県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254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市区町村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138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158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360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29%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国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17%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独法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120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297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24%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その他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130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246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468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533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1,247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5669280" y="2834640"/>
            <a:ext cx="320040" cy="50292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27" name="Text 24"/>
          <p:cNvSpPr/>
          <p:nvPr/>
        </p:nvSpPr>
        <p:spPr>
          <a:xfrm>
            <a:off x="6080760" y="28346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自治体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995160" y="28346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49%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7543800" y="28346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614件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6080760" y="309067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NTT東支店連携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の主戦場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5669280" y="3474720"/>
            <a:ext cx="320040" cy="502920"/>
          </a:xfrm>
          <a:prstGeom prst="rect">
            <a:avLst/>
          </a:prstGeom>
          <a:solidFill>
            <a:srgbClr val="6CE6E8"/>
          </a:solidFill>
          <a:ln/>
        </p:spPr>
      </p:sp>
      <p:sp>
        <p:nvSpPr>
          <p:cNvPr id="32" name="Text 29"/>
          <p:cNvSpPr/>
          <p:nvPr/>
        </p:nvSpPr>
        <p:spPr>
          <a:xfrm>
            <a:off x="6080760" y="34747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国+独法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6995160" y="34747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40%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7543800" y="34747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503件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6080760" y="373075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NTTデータ連携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で狙える領域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5669280" y="4114800"/>
            <a:ext cx="320040" cy="502920"/>
          </a:xfrm>
          <a:prstGeom prst="rect">
            <a:avLst/>
          </a:prstGeom>
          <a:solidFill>
            <a:srgbClr val="F3C551"/>
          </a:solidFill>
          <a:ln/>
        </p:spPr>
      </p:sp>
      <p:sp>
        <p:nvSpPr>
          <p:cNvPr id="37" name="Text 34"/>
          <p:cNvSpPr/>
          <p:nvPr/>
        </p:nvSpPr>
        <p:spPr>
          <a:xfrm>
            <a:off x="6080760" y="4114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その他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6995160" y="4114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10%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7543800" y="4114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130件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フェーズ別 — 年度推移と成長率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685800"/>
            <a:ext cx="8412480" cy="22860"/>
          </a:xfrm>
          <a:prstGeom prst="rect">
            <a:avLst/>
          </a:prstGeom>
          <a:solidFill>
            <a:srgbClr val="156082"/>
          </a:solidFill>
          <a:ln/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8412480" cy="2560320"/>
        </p:xfrm>
        <a:graphic>
          <a:graphicData uri="http://schemas.openxmlformats.org/drawingml/2006/table">
            <a:tbl>
              <a:tblPr/>
              <a:tblGrid>
                <a:gridCol w="1280160"/>
                <a:gridCol w="822960"/>
                <a:gridCol w="822960"/>
                <a:gridCol w="822960"/>
                <a:gridCol w="914400"/>
                <a:gridCol w="914400"/>
                <a:gridCol w="283464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フェーズ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(11ヶ月)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FY23→24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FY24→25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特徴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①研修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+400%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+27%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AI法施行で需要増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②設計(RFI)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+50%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±0%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翌年構築の先行指標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③PoC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+152%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62828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-17%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国R&amp;D実証が多い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④構築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161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295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339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+83%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+15%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最大ボリュームゾーン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⑤運用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122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+75%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+27%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ストック型。加速中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246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468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533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+90%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+14%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35661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落札金額 合計（カッコ内は金額判明件数 / 全件数）</a:t>
            </a:r>
            <a:endParaRPr lang="en-US" sz="13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840480"/>
          <a:ext cx="8412480" cy="100584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2514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年度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①研修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②設計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③PoC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④構築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⑤運用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146万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(3件)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(0/6件)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8.6億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(17/21件)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50.3億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(94/161件)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8.9億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(34/55件)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67.9億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(148/246件)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2,559万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(8件)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(0/9件)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12.5億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(29/53件)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66.7億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(145/295件)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11.2億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(65/96件)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90.7億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(247/468件)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2,501万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(11/19件)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(0/9件)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10.0億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(26/44件)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190.6億*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(156/339件)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32.1億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(78/122件)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233.0億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(271/533件)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365760" y="4892040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*FY2025④構築にはNEDO大型R&amp;D案件（149.7億等）を含む。中央値: ④構築494万 / ⑤運用352万 / ③PoC1,370万（平均は大型案件で大幅上振れ）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FY2026 見通し — フェーズ別推計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685800"/>
            <a:ext cx="8412480" cy="2286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822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成長ドライバー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3200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  AI法施行(2025/9)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657600" y="1097280"/>
            <a:ext cx="45720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自治体のAI活用が「責務」に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335024"/>
            <a:ext cx="3200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  第2世代交付金 2,000億円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0" y="1335024"/>
            <a:ext cx="45720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前年比倍増、予算の裏付け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3200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  ガバメントAI「源内」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0" y="1572768"/>
            <a:ext cx="45720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2026年度自治体展開＋国機関実証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810512"/>
            <a:ext cx="3200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  市区町村の70%が未導入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57600" y="1810512"/>
            <a:ext cx="45720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巨大な潜在需要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048256"/>
            <a:ext cx="3200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  国機関のAI本格導入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57600" y="2048256"/>
            <a:ext cx="45720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デジタル庁・財務省等で実証→本番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331720"/>
            <a:ext cx="2651760" cy="13716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23774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保守的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94360" y="265176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+10%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4360" y="29260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~639件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94360" y="324612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自治体~320件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94360" y="34290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国独法~255件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91840" y="2331720"/>
            <a:ext cx="2651760" cy="1371600"/>
          </a:xfrm>
          <a:prstGeom prst="rect">
            <a:avLst/>
          </a:prstGeom>
          <a:solidFill>
            <a:srgbClr val="EDF7FA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0" y="2331720"/>
            <a:ext cx="868680" cy="27432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0" y="2350008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推奨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429000" y="23774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基本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429000" y="265176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+20%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429000" y="29260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~697件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3429000" y="324612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自治体~350件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429000" y="34290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国独法~280件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26480" y="2331720"/>
            <a:ext cx="2651760" cy="13716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63640" y="23774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楽観的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263640" y="265176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+35%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263640" y="29260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~784件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6263640" y="324612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自治体~395件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63640" y="34290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国独法~315件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3749040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※FY2025推計12ヶ月（~581件）を基準に算出</a:t>
            </a:r>
            <a:endParaRPr lang="en-US" sz="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977640"/>
          <a:ext cx="8595360" cy="109728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914400"/>
                <a:gridCol w="731520"/>
                <a:gridCol w="4937760"/>
              </a:tblGrid>
              <a:tr h="1567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フェーズ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(推計12ヶ月)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推計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成長率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成長ドライバー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1567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①研修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~21件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~35件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+67%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AI法施行→全職員研修需要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67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②設計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~10件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~15件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+50%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ロードマップ策定・RFI発出増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67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③PoC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~48件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~60件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+25%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源内実証、市区町村の入口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67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④構築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~370件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~430件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+16%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RAG・全庁導入+国機関基盤構築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67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⑤運用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~133件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~165件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+24%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FY24-25構築案件の運用移行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67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~581件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~705件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+21%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④構築 サブカテゴリ別分析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685800"/>
            <a:ext cx="8412480" cy="2286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77724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全公共セクターの構築案件795件の内訳 — 年度推移と単価（中央値/平均）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51560"/>
          <a:ext cx="8595360" cy="2743200"/>
        </p:xfrm>
        <a:graphic>
          <a:graphicData uri="http://schemas.openxmlformats.org/drawingml/2006/table">
            <a:tbl>
              <a:tblPr/>
              <a:tblGrid>
                <a:gridCol w="1554480"/>
                <a:gridCol w="457200"/>
                <a:gridCol w="457200"/>
                <a:gridCol w="457200"/>
                <a:gridCol w="502920"/>
                <a:gridCol w="777240"/>
                <a:gridCol w="777240"/>
                <a:gridCol w="36118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サブカテゴリ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FY23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FY24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FY25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中央値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平均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トレンド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生成AI（その他）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121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138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290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871万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6666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1.6億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最多カテゴリ。NEDO等で平均大幅上振れ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チャットボット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188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363万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6666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2,644万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緩やかに減少。市場成熟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RAG構築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130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282万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6666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1,410万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安定推移。技術差別化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生成AIサービス導入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335万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6666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3,785万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急成長。SaaS型主流化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AI（その他）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649万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6666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1,462万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増加傾向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活用支援・コンサル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254万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6666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527万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急拡大中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教育・学校AI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3,960万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6666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3,758万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高単価。N=3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庁内生成AI環境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金額データなし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161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295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339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795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494万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7,621万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3931920"/>
            <a:ext cx="8412480" cy="914400"/>
          </a:xfrm>
          <a:prstGeom prst="rect">
            <a:avLst/>
          </a:prstGeom>
          <a:solidFill>
            <a:srgbClr val="EDF7FA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39776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注目ポイント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4224528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  ④構築全体の中央値は494万円（平均7,621万はNEDO等の大型R&amp;Dで上振れ）。NTTDXPNの主戦場はMedium帯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  生成AIサービス導入が最大成長カテゴリ（7→43→57件）。SaaS型導入が主流化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  教育・学校AI は中央値3,960万の高単価領域。活用支援・コンサル（0→5→15件）が急拡大中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発注機関タイプ × フェーズ — 攻め筋の見極め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685800"/>
            <a:ext cx="8412480" cy="2286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77724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FY2025実績ベース — セクターごとに狙うフェーズが異なる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51560"/>
          <a:ext cx="8595360" cy="201168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1005840"/>
                <a:gridCol w="731520"/>
                <a:gridCol w="731520"/>
                <a:gridCol w="3840480"/>
              </a:tblGrid>
              <a:tr h="28738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フェーズ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自治体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(都道府県+市区町村)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国・独法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自治体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比率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ポイント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2873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①研修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~13件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~6件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19件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~70%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自治体中心。NTT東支店のネタ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73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②設計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~7件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~2件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~78%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ほぼ自治体。翌年案件の予兆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73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③PoC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~10件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~34件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44件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62828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~23%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国R&amp;Dが8割。大型実証案件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73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④構築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~170件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~169件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339件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~50%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自治体・国ほぼ半々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73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⑤運用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~76件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~46件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122件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~62%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自治体ストック収益の柱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73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~275件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~210件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533件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52%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246120"/>
            <a:ext cx="393192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246120"/>
            <a:ext cx="73152" cy="173736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33375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自治体の攻め方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85800" y="3657600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①研修・②設計が入口（自治体比率70-78%）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 ④構築へアップセル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 ⑤運用でストック収益化（62%が自治体）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NTT東 支店ロビー活動がキーチャネル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Medium帯（500万〜3,000万）が主戦場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663440" y="3246120"/>
            <a:ext cx="393192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3246120"/>
            <a:ext cx="73152" cy="1737360"/>
          </a:xfrm>
          <a:prstGeom prst="rect">
            <a:avLst/>
          </a:prstGeom>
          <a:solidFill>
            <a:srgbClr val="6CE6E8"/>
          </a:solidFill>
          <a:ln/>
        </p:spPr>
      </p:sp>
      <p:sp>
        <p:nvSpPr>
          <p:cNvPr id="12" name="Text 9"/>
          <p:cNvSpPr/>
          <p:nvPr/>
        </p:nvSpPr>
        <p:spPr>
          <a:xfrm>
            <a:off x="4892040" y="33375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国・独法の攻め方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892040" y="3657600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③PoCが入口（国比率77%）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 R&amp;D実証（数億〜数十億円規模）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 ④構築で半数の169件が国・独法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NTTデータ（10件/2.0億）連携がカギ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源内関連案件（デジ庁・財務省）に注目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競争環境と NTTグループ実績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685800"/>
            <a:ext cx="8412480" cy="2286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914400"/>
            <a:ext cx="384048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73152" cy="201168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0058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応札競争環境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137160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~49%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2011680" y="15087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が1社応札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192024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参入するだけで落札できる案件が約半数。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特に地方案件・Medium帯で競争が少ない。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" y="23774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全1,269件中、金額判明は約54%（683件）。</a:t>
            </a:r>
            <a:endParaRPr lang="en-US" sz="9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随意契約・少額案件を含めると市場は2-3倍。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54880" y="914400"/>
            <a:ext cx="393192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914400"/>
            <a:ext cx="73152" cy="2011680"/>
          </a:xfrm>
          <a:prstGeom prst="rect">
            <a:avLst/>
          </a:prstGeom>
          <a:solidFill>
            <a:srgbClr val="6CE6E8"/>
          </a:solidFill>
          <a:ln/>
        </p:spPr>
      </p:sp>
      <p:sp>
        <p:nvSpPr>
          <p:cNvPr id="13" name="Text 11"/>
          <p:cNvSpPr/>
          <p:nvPr/>
        </p:nvSpPr>
        <p:spPr>
          <a:xfrm>
            <a:off x="4983480" y="10058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NTTグループ実績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983480" y="13716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48件 / 6.0億円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983480" y="17373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（シェア3.8%）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965960"/>
          <a:ext cx="34747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</a:tblGrid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企業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件数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金額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得意領域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NTT東日本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12件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2.1億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自治体④構築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NTTデータ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10件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2.0億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国機関の大型案件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NTTコム東海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7件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3,012万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愛知・三重自治体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その他NTT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19件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1.9億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各種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4"/>
          <p:cNvSpPr/>
          <p:nvPr/>
        </p:nvSpPr>
        <p:spPr>
          <a:xfrm>
            <a:off x="365760" y="3108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NTTDXPNの差別化ポイント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7200" y="3474720"/>
            <a:ext cx="26517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57200" y="3474720"/>
            <a:ext cx="2651760" cy="54864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20" name="Text 17"/>
          <p:cNvSpPr/>
          <p:nvPr/>
        </p:nvSpPr>
        <p:spPr>
          <a:xfrm>
            <a:off x="594360" y="3611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閉域網+LGWAN一体提案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94360" y="397764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葛飾区: SD-WAN+Cloud Gateway+RAG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2,530万円落札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3291840" y="3474720"/>
            <a:ext cx="26517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3291840" y="3474720"/>
            <a:ext cx="2651760" cy="54864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24" name="Text 21"/>
          <p:cNvSpPr/>
          <p:nvPr/>
        </p:nvSpPr>
        <p:spPr>
          <a:xfrm>
            <a:off x="3429000" y="3611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RAG構築力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429000" y="397764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北海道: 30種RAG+100GB対応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2,178万円落札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6126480" y="3474720"/>
            <a:ext cx="26517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6126480" y="3474720"/>
            <a:ext cx="2651760" cy="54864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28" name="Text 25"/>
          <p:cNvSpPr/>
          <p:nvPr/>
        </p:nvSpPr>
        <p:spPr>
          <a:xfrm>
            <a:off x="6263640" y="3611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ミンクスプラス生成AI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263640" y="397764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千葉県: 自社プロダクト+福祉チャットボット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3,722万円落札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案件獲得 — 攻め方整理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685800"/>
            <a:ext cx="8412480" cy="2286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822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獲得チャネル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265176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43000"/>
            <a:ext cx="2651760" cy="54864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801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入札キング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150876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モニタリング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94360" y="1783080"/>
            <a:ext cx="2377440" cy="13716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182880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• 公募案件の週次モニタリング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• 全公共セクター対象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（自治体+国+独法 30件が応札可能）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• ~49%が1社応札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→ 応札するだけで勝てる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• 対象: ④構築・⑤運用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46120" y="1143000"/>
            <a:ext cx="2651760" cy="2011680"/>
          </a:xfrm>
          <a:prstGeom prst="rect">
            <a:avLst/>
          </a:prstGeom>
          <a:solidFill>
            <a:srgbClr val="EDF7FA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143000"/>
            <a:ext cx="2651760" cy="54864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13" name="Shape 11"/>
          <p:cNvSpPr/>
          <p:nvPr/>
        </p:nvSpPr>
        <p:spPr>
          <a:xfrm>
            <a:off x="4983480" y="1143000"/>
            <a:ext cx="868680" cy="27432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14" name="Text 12"/>
          <p:cNvSpPr/>
          <p:nvPr/>
        </p:nvSpPr>
        <p:spPr>
          <a:xfrm>
            <a:off x="4983480" y="1161288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メイン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383280" y="12801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NTT東 支店ロビー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383280" y="150876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BI本部経由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383280" y="1783080"/>
            <a:ext cx="2377440" cy="13716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8" name="Text 16"/>
          <p:cNvSpPr/>
          <p:nvPr/>
        </p:nvSpPr>
        <p:spPr>
          <a:xfrm>
            <a:off x="3383280" y="182880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• BI本部にAI商材を打ち込み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• 支店長勉強会でネタ提供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（井上さん主幹・ネタ募集中）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• 支店営業から案件紹介を獲得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• 対象: ①研修・③PoC → アップセル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035040" y="1143000"/>
            <a:ext cx="265176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35040" y="1143000"/>
            <a:ext cx="2651760" cy="54864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21" name="Text 19"/>
          <p:cNvSpPr/>
          <p:nvPr/>
        </p:nvSpPr>
        <p:spPr>
          <a:xfrm>
            <a:off x="6172200" y="12801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直接アプローチ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172200" y="150876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不調案件・既存顧客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72200" y="1783080"/>
            <a:ext cx="2377440" cy="13716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24" name="Text 22"/>
          <p:cNvSpPr/>
          <p:nvPr/>
        </p:nvSpPr>
        <p:spPr>
          <a:xfrm>
            <a:off x="6172200" y="182880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• 入札不調案件の再公募対応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（例: 岡山市）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• NTT東既存自治体顧客への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直接提案（千葉県・北海道型）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• 対象: ④構築・⑤運用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65760" y="32918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支店ロビー活動 タイムライン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3611880"/>
            <a:ext cx="2651760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6576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3月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" y="393192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ロビー活動開始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4187952"/>
            <a:ext cx="2468880" cy="10973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4224528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BI本部へ商材打ち込み</a:t>
            </a:r>
            <a:endParaRPr lang="en-US" sz="9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井上さんへコンタクト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63240" y="39319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3291840" y="3611880"/>
            <a:ext cx="2651760" cy="1234440"/>
          </a:xfrm>
          <a:prstGeom prst="roundRect">
            <a:avLst>
              <a:gd name="adj" fmla="val 3704"/>
            </a:avLst>
          </a:prstGeom>
          <a:solidFill>
            <a:srgbClr val="EDF7FA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83280" y="36576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4月（メイン）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383280" y="393192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支店展開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383280" y="4187952"/>
            <a:ext cx="2468880" cy="10973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36" name="Text 34"/>
          <p:cNvSpPr/>
          <p:nvPr/>
        </p:nvSpPr>
        <p:spPr>
          <a:xfrm>
            <a:off x="3383280" y="4224528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支店長勉強会で発表</a:t>
            </a:r>
            <a:endParaRPr lang="en-US" sz="9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案件発見チェックリスト配布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897880" y="39319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6126480" y="3611880"/>
            <a:ext cx="2651760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17920" y="36576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5月〜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217920" y="393192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案件紹介開始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217920" y="4187952"/>
            <a:ext cx="2468880" cy="10973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42" name="Text 40"/>
          <p:cNvSpPr/>
          <p:nvPr/>
        </p:nvSpPr>
        <p:spPr>
          <a:xfrm>
            <a:off x="6217920" y="4224528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支店営業から案件紹介</a:t>
            </a:r>
            <a:endParaRPr lang="en-US" sz="9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自治体新年度予算執行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201168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ご清聴ありがとうございました</a:t>
            </a:r>
            <a:endParaRPr lang="en-US" sz="3200" dirty="0"/>
          </a:p>
        </p:txBody>
      </p:sp>
      <p:pic>
        <p:nvPicPr>
          <p:cNvPr id="4" name="Image 0" descr="/Users/user/.claude/skills/ntt-dxpartner-pptx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1880" y="3200400"/>
            <a:ext cx="1920240" cy="457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2026-02-24T03:04:51Z</dcterms:created>
  <dcterms:modified xsi:type="dcterms:W3CDTF">2026-02-24T03:04:51Z</dcterms:modified>
</cp:coreProperties>
</file>