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NTTDXパートナー AIチーム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チャネル戦略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施策1（NTT東連携）&amp; 施策2（Web強化）深堀り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2026年2月</a:t>
            </a:r>
            <a:endParaRPr lang="en-US" sz="1200" dirty="0"/>
          </a:p>
        </p:txBody>
      </p:sp>
      <p:pic>
        <p:nvPicPr>
          <p:cNvPr id="6" name="Image 0" descr="/Users/user/.claude/skills/ntt-dxpartner-pptx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114800"/>
            <a:ext cx="182880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背景・目的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146304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現状の課題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 チャネル管理が属人的: 紹介経路が個人の関係性に依存し、再現性がない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 Web不在: AIチーム独自のWebページがなく、オーガニックな問い合わせ導線がゼロ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 リード育成パイプラインなし: 見込み顧客の管理・ナーチャリングの仕組みがない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 コンテンツ資産の不足: 事例紹介や技術発信が体系化されていない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8412480" cy="73152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チャネル戦略の目的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属人的な紹介を、管理可能・測定可能・スケーラブルなインバウンドエンジンに変える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29000"/>
          <a:ext cx="8412480" cy="1554480"/>
        </p:xfrm>
        <a:graphic>
          <a:graphicData uri="http://schemas.openxmlformats.org/drawingml/2006/table">
            <a:tbl>
              <a:tblPr/>
              <a:tblGrid>
                <a:gridCol w="1645920"/>
                <a:gridCol w="67665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観点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インバウンドが適する理由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NTTブランド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親会社NTT東の信頼・知名度を活用でき、コールドアプローチが不要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案件の性質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生成AI導入は信頼ベースの意思決定。紹介経由の方が成約率が高い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チーム規模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少人数のため大量アウトバウンドは非効率。質の高いリードに集中すべき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既存NW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NTT東の支店網・事業部ネットワークが既に存在する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チャネル全体マップ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39776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397764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A. NTT東連携チャネル（施策1）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611880" cy="457200"/>
          </a:xfrm>
          <a:prstGeom prst="roundRect">
            <a:avLst>
              <a:gd name="adj" fmla="val 10000"/>
            </a:avLst>
          </a:prstGeom>
          <a:solidFill>
            <a:srgbClr val="EDF7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BI本部VP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面的展開・マーケット横展開型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3611880" cy="457200"/>
          </a:xfrm>
          <a:prstGeom prst="roundRect">
            <a:avLst>
              <a:gd name="adj" fmla="val 10000"/>
            </a:avLst>
          </a:prstGeom>
          <a:solidFill>
            <a:srgbClr val="ED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116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011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産業基盤ビジネス部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ロイヤルカスタマー経由（自治体/民需）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3611880" cy="4572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60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2560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支店ネットワーク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地域展開・研修→紹介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3611880" cy="4572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08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社内他事業部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6888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DXパートナー内他チーム・NTTグループ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00600" y="868680"/>
            <a:ext cx="39776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868680"/>
            <a:ext cx="3977640" cy="73152"/>
          </a:xfrm>
          <a:prstGeom prst="rect">
            <a:avLst/>
          </a:prstGeom>
          <a:solidFill>
            <a:srgbClr val="6CE6E8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B. Webチャネル（施策2）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83480" y="1417320"/>
            <a:ext cx="3611880" cy="45720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サービスページ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0372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AIチーム紹介・問い合わせ導線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83480" y="1965960"/>
            <a:ext cx="3611880" cy="45720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20116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32120" y="2011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コンテンツMK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0372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事例・技術記事・ホワイトペーパー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83480" y="2514600"/>
            <a:ext cx="3611880" cy="4572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</p:sp>
      <p:sp>
        <p:nvSpPr>
          <p:cNvPr id="35" name="Text 33"/>
          <p:cNvSpPr/>
          <p:nvPr/>
        </p:nvSpPr>
        <p:spPr>
          <a:xfrm>
            <a:off x="5074920" y="2560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32120" y="2560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セミナー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0372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ウェビナー・ワークショップ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983480" y="3063240"/>
            <a:ext cx="3611880" cy="4572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</p:sp>
      <p:sp>
        <p:nvSpPr>
          <p:cNvPr id="39" name="Text 37"/>
          <p:cNvSpPr/>
          <p:nvPr/>
        </p:nvSpPr>
        <p:spPr>
          <a:xfrm>
            <a:off x="5074920" y="3108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3212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SNS・外部メディア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0372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LinkedIn・note・Qiita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C. チャネル間連携（A+B連動）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C1. Webリード→NTT東コセル　　C2. NTT東紹介→Webコンテンツ活用　　C3. セミナー→支店横展開　　C4. 事例フライホイール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施策1: NTT東連携チャネル概要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20116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01168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BI本部VP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DF7F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928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面的展開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8288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317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共同サービスメニュー作成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定期パイプラインレビュー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成功事例共有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1枚サマリー資料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182880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7947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量: 中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4023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質: 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★★★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14600" y="868680"/>
            <a:ext cx="20116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14600" y="868680"/>
            <a:ext cx="201168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0604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産業基盤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ビジネス部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06040" y="187452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D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18928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アカウントベースド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06040" y="2240280"/>
            <a:ext cx="18288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Text 21"/>
          <p:cNvSpPr/>
          <p:nvPr/>
        </p:nvSpPr>
        <p:spPr>
          <a:xfrm>
            <a:off x="2606040" y="23317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ターゲット10-20社特定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自治体/民需別切り口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同行商談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横展開プレイブック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06040" y="3749040"/>
            <a:ext cx="182880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37947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量: 低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51760" y="4023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質: 非常に高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5176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★★★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868680"/>
            <a:ext cx="20116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868680"/>
            <a:ext cx="2011680" cy="73152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C55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5488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支店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ネットワーク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187452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DF7FA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18928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Train the Trainer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240280"/>
            <a:ext cx="18288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3317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AI案件発見チェックリスト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支店向け勉強会(30分)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紹介フォーム整備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パイロット3支店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749040"/>
            <a:ext cx="182880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37947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量: 高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4023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質: 中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060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★★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812280" y="868680"/>
            <a:ext cx="20116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12280" y="868680"/>
            <a:ext cx="2011680" cy="73152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42" name="Text 40"/>
          <p:cNvSpPr/>
          <p:nvPr/>
        </p:nvSpPr>
        <p:spPr>
          <a:xfrm>
            <a:off x="690372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C55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0372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他事業部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903720" y="187452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DF7FA"/>
          </a:solidFill>
          <a:ln/>
        </p:spPr>
      </p:sp>
      <p:sp>
        <p:nvSpPr>
          <p:cNvPr id="45" name="Text 43"/>
          <p:cNvSpPr/>
          <p:nvPr/>
        </p:nvSpPr>
        <p:spPr>
          <a:xfrm>
            <a:off x="6903720" y="18928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社内認知向上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903720" y="2240280"/>
            <a:ext cx="18288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7" name="Text 45"/>
          <p:cNvSpPr/>
          <p:nvPr/>
        </p:nvSpPr>
        <p:spPr>
          <a:xfrm>
            <a:off x="6903720" y="23317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社内Slack/Teams告知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ランチ＆ラーン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クロスセルテンプレート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03720" y="3749040"/>
            <a:ext cx="182880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9" name="Text 47"/>
          <p:cNvSpPr/>
          <p:nvPr/>
        </p:nvSpPr>
        <p:spPr>
          <a:xfrm>
            <a:off x="6949440" y="37947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量: 低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949440" y="4023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質: 中〜高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9494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★★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A1: BI本部VP戦略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4183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NTT東のBI本部VP（ビジネスイノベーション本部）と連携し、AIサービスをNTT東の商材ラインナップに組み込む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18288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5669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施策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共同サービスメニュー作成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NTT東の既存サービスとAIサービスのセット提案を設計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定期パイプラインレビュー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四半期ごとにVP本部とパイプライン共有会議を実施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成功事例の共有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VP経由の案件成果を共有し、追加紹介を促進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紹介資料の最適化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VP担当者が顧客に説明しやすい1枚サマリーを用意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520440"/>
            <a:ext cx="8412480" cy="137160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VP経由の紹介件数: 月2件以上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紹介→初回面談の転換率: 70%以上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VP経由案件の受注金額: 四半期1,000万円以上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A2: 産業基盤ビジネス部戦略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4183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ロイヤルカスタマーに対して、AIサービスをアドオン提案。自治体・民需で切り口を分ける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73152" cy="18288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自治体向け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 自治体向けAI活用事例集作成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（住民サービス、内部業務効率化、データ活用）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 公募連動提案（施策3と連携）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 自治体DX研修パッケージ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（首長・幹部向け＋職員向け）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08760"/>
            <a:ext cx="73152" cy="182880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民需向け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9202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 業種別AI活用仮説シート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（製造・医療・農業・教育等）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 顧客課題ヒアリング同行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 PoC成功→横展開プレイブック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（同業種他社への水平展開）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8412480" cy="137160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ターゲットアカウント接触数: 月3社以上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同行商談→案件化率: 30%以上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自治体/民需の案件バランス: 目標比率を設定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A3-A4: 支店ネットワーク &amp; 社内横連携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397764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397764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A3: 支店ネットワーク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「Train the Trainer」モデル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AI案件発見チェックリスト配布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「こんな相談が来たら紹介して」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支店向け勉強会（30分・デモ込み）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簡単紹介フォーム整備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紹介実績のフィードバック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 パイロット3支店で検証→全支店展開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868680"/>
            <a:ext cx="397764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868680"/>
            <a:ext cx="3977640" cy="73152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A4: 社内他事業部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325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社内認知向上→クロスセル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16459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社内Slack/Teams告知（月1回）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最新事例・成果を社内チャネルで発信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ランチ＆ラーンセッション（隔月）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カジュアルな社内勉強会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クロスセル案件テンプレート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他チーム提案にAIをアドオン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8412480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31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A3: AI案件発見チェックリスト（例）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「ChatGPTを業務で使いたい」「社内の文書検索を楽にしたい」「データは溜まっているが活用できていない」→ AIチームに紹介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施策2: Webチャネル概要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01168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サービスページ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099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AIチームのホームベース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18288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488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サービス概要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導入事例2-3件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チーム紹介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問い合わせCTA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182880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★★★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14600" y="868680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868680"/>
            <a:ext cx="201168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0604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コンテンツMK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06040" y="169164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2606040" y="17099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SEO・コンテンツ蓄積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06040" y="2057400"/>
            <a:ext cx="18288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21488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事例コンテンツ 月1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技術記事 月2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ビジネス記事 月1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トレンド 四半期1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06040" y="3566160"/>
            <a:ext cx="182880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3" name="Text 21"/>
          <p:cNvSpPr/>
          <p:nvPr/>
        </p:nvSpPr>
        <p:spPr>
          <a:xfrm>
            <a:off x="260604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★★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868680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868680"/>
            <a:ext cx="2011680" cy="73152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C55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5488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セミナー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69164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17099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リード獲得エンジン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057400"/>
            <a:ext cx="18288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1488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月次ウェビナー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業種別セミナー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ハンズオンWS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NTT東共催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566160"/>
            <a:ext cx="182880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★★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12280" y="868680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12280" y="868680"/>
            <a:ext cx="2011680" cy="73152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6" name="Text 34"/>
          <p:cNvSpPr/>
          <p:nvPr/>
        </p:nvSpPr>
        <p:spPr>
          <a:xfrm>
            <a:off x="690372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C55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0372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SNS・外部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03720" y="1691640"/>
            <a:ext cx="1828800" cy="27432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/>
        </p:spPr>
      </p:sp>
      <p:sp>
        <p:nvSpPr>
          <p:cNvPr id="39" name="Text 37"/>
          <p:cNvSpPr/>
          <p:nvPr/>
        </p:nvSpPr>
        <p:spPr>
          <a:xfrm>
            <a:off x="6903720" y="17099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長期ブランド構築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03720" y="2057400"/>
            <a:ext cx="18288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1" name="Text 39"/>
          <p:cNvSpPr/>
          <p:nvPr/>
        </p:nvSpPr>
        <p:spPr>
          <a:xfrm>
            <a:off x="6903720" y="21488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LinkedIn 週1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note/Qiita 月1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NTTグループ内メディア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03720" y="3566160"/>
            <a:ext cx="182880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3" name="Text 41"/>
          <p:cNvSpPr/>
          <p:nvPr/>
        </p:nvSpPr>
        <p:spPr>
          <a:xfrm>
            <a:off x="690372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Attract（集客）→ Convert（転換）→ Close（成約）→ Delight（満足）→ 事例化 → さらなる集客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B1: サービスページ設計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ページ構成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600200" cy="1005840"/>
          </a:xfrm>
          <a:prstGeom prst="roundRect">
            <a:avLst>
              <a:gd name="adj" fmla="val 4545"/>
            </a:avLst>
          </a:prstGeom>
          <a:solidFill>
            <a:srgbClr val="EDF7F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ヒーロー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キャッチコピー＋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提供価値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74520" y="1325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84832" y="1143000"/>
            <a:ext cx="1600200" cy="1005840"/>
          </a:xfrm>
          <a:prstGeom prst="roundRect">
            <a:avLst>
              <a:gd name="adj" fmla="val 4545"/>
            </a:avLst>
          </a:prstGeom>
          <a:solidFill>
            <a:srgbClr val="EDF7FA"/>
          </a:solidFill>
          <a:ln/>
        </p:spPr>
      </p:sp>
      <p:sp>
        <p:nvSpPr>
          <p:cNvPr id="10" name="Text 8"/>
          <p:cNvSpPr/>
          <p:nvPr/>
        </p:nvSpPr>
        <p:spPr>
          <a:xfrm>
            <a:off x="2084832" y="11887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サービス概要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84832" y="15087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4パッケージを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視覚的に紹介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93592" y="1325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03904" y="1143000"/>
            <a:ext cx="1600200" cy="1005840"/>
          </a:xfrm>
          <a:prstGeom prst="roundRect">
            <a:avLst>
              <a:gd name="adj" fmla="val 4545"/>
            </a:avLst>
          </a:prstGeom>
          <a:solidFill>
            <a:srgbClr val="ED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3803904" y="11887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導入事例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03904" y="15087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2〜3件の事例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カード形式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12664" y="1325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22976" y="1143000"/>
            <a:ext cx="1600200" cy="1005840"/>
          </a:xfrm>
          <a:prstGeom prst="roundRect">
            <a:avLst>
              <a:gd name="adj" fmla="val 4545"/>
            </a:avLst>
          </a:prstGeom>
          <a:solidFill>
            <a:srgbClr val="ED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5522976" y="11887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チーム紹介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22976" y="15087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メンバーの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専門性・実績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31736" y="1325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42048" y="1143000"/>
            <a:ext cx="1600200" cy="1005840"/>
          </a:xfrm>
          <a:prstGeom prst="roundRect">
            <a:avLst>
              <a:gd name="adj" fmla="val 4545"/>
            </a:avLst>
          </a:prstGeom>
          <a:solidFill>
            <a:srgbClr val="156082"/>
          </a:solidFill>
          <a:ln/>
        </p:spPr>
      </p:sp>
      <p:sp>
        <p:nvSpPr>
          <p:cNvPr id="22" name="Text 20"/>
          <p:cNvSpPr/>
          <p:nvPr/>
        </p:nvSpPr>
        <p:spPr>
          <a:xfrm>
            <a:off x="7242048" y="11887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お問い合わせ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42048" y="15087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フォーム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問い合わせ対応フロー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2651760"/>
            <a:ext cx="1600200" cy="640080"/>
          </a:xfrm>
          <a:prstGeom prst="roundRect">
            <a:avLst>
              <a:gd name="adj" fmla="val 7143"/>
            </a:avLst>
          </a:prstGeom>
          <a:solidFill>
            <a:srgbClr val="15608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6974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フォーム送信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74520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084832" y="2651760"/>
            <a:ext cx="1600200" cy="64008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/>
        </p:spPr>
      </p:sp>
      <p:sp>
        <p:nvSpPr>
          <p:cNvPr id="29" name="Text 27"/>
          <p:cNvSpPr/>
          <p:nvPr/>
        </p:nvSpPr>
        <p:spPr>
          <a:xfrm>
            <a:off x="2084832" y="26974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自動返信メール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（受付確認）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93592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803904" y="2651760"/>
            <a:ext cx="1600200" cy="64008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/>
        </p:spPr>
      </p:sp>
      <p:sp>
        <p:nvSpPr>
          <p:cNvPr id="32" name="Text 30"/>
          <p:cNvSpPr/>
          <p:nvPr/>
        </p:nvSpPr>
        <p:spPr>
          <a:xfrm>
            <a:off x="3803904" y="26974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Slack通知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（チーム内）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12664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522976" y="2651760"/>
            <a:ext cx="1600200" cy="64008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/>
        </p:spPr>
      </p:sp>
      <p:sp>
        <p:nvSpPr>
          <p:cNvPr id="35" name="Text 33"/>
          <p:cNvSpPr/>
          <p:nvPr/>
        </p:nvSpPr>
        <p:spPr>
          <a:xfrm>
            <a:off x="5522976" y="26974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1営業日以内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担当アサイン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31736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242048" y="2651760"/>
            <a:ext cx="1600200" cy="64008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/>
        </p:spPr>
      </p:sp>
      <p:sp>
        <p:nvSpPr>
          <p:cNvPr id="38" name="Text 36"/>
          <p:cNvSpPr/>
          <p:nvPr/>
        </p:nvSpPr>
        <p:spPr>
          <a:xfrm>
            <a:off x="7242048" y="26974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3営業日以内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初回コール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520440"/>
            <a:ext cx="8412480" cy="137160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ページ訪問数: 月500PV以上（公開6ヶ月後）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問い合わせフォーム送信数: 月3件以上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問い合わせ→面談設定率: 80%以上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B2: コンテンツマーケティング戦略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2103120"/>
        </p:xfrm>
        <a:graphic>
          <a:graphicData uri="http://schemas.openxmlformats.org/drawingml/2006/table">
            <a:tbl>
              <a:tblPr/>
              <a:tblGrid>
                <a:gridCol w="1371600"/>
                <a:gridCol w="3840480"/>
                <a:gridCol w="1371600"/>
                <a:gridCol w="18288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ピラー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ターゲット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頻度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事例コンテンツ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「○○業でRAGチャットボット導入、対応時間50%削減」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検討中の顧客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月1本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技術コンテンツ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「Difyで社内FAQボットを作る方法」「RAG精度改善の5つのコツ」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技術担当者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月2本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ビジネス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「生成AI導入のROI算出方法」「AI活用ロードマップの作り方」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経営層・推進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月1本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トレンド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「2026年の生成AIトレンド」「AI導入補助金の活用法」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幅広い層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四半期1本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154680"/>
            <a:ext cx="8412480" cy="82296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SEOターゲットキーワード（例）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「生成AI 導入 支援」「RAG 構築 企業」「AI PoC 開発」「業務自動化 AI」「Dify 導入」「AI 研修 法人」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206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制作体制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事例: PM＋マーケ担当（案件完了後）　　技術記事: エンジニア月1本ローテ　　ビジネス: リーダーまたは外部委託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リード管理・ナーチャリング設計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1600200" cy="1097280"/>
          </a:xfrm>
          <a:prstGeom prst="roundRect">
            <a:avLst>
              <a:gd name="adj" fmla="val 4167"/>
            </a:avLst>
          </a:prstGeom>
          <a:solidFill>
            <a:srgbClr val="F8F9FA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認知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サイト訪問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コンテンツ閲覧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74520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84832" y="914400"/>
            <a:ext cx="1600200" cy="1097280"/>
          </a:xfrm>
          <a:prstGeom prst="roundRect">
            <a:avLst>
              <a:gd name="adj" fmla="val 4167"/>
            </a:avLst>
          </a:prstGeom>
          <a:solidFill>
            <a:srgbClr val="E0F7FA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84832" y="9601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MQL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84832" y="13258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資料DL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セミナー参加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93592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03904" y="914400"/>
            <a:ext cx="1600200" cy="1097280"/>
          </a:xfrm>
          <a:prstGeom prst="roundRect">
            <a:avLst>
              <a:gd name="adj" fmla="val 4167"/>
            </a:avLst>
          </a:prstGeom>
          <a:solidFill>
            <a:srgbClr val="EDF7FA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03904" y="9601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SQL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03904" y="13258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初回面談完了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予算・時期明確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12664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22976" y="914400"/>
            <a:ext cx="1600200" cy="1097280"/>
          </a:xfrm>
          <a:prstGeom prst="roundRect">
            <a:avLst>
              <a:gd name="adj" fmla="val 4167"/>
            </a:avLst>
          </a:prstGeom>
          <a:solidFill>
            <a:srgbClr val="156082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22976" y="9601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Opportunity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22976" y="13258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提案書提出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クロージング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31736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42048" y="914400"/>
            <a:ext cx="1600200" cy="1097280"/>
          </a:xfrm>
          <a:prstGeom prst="roundRect">
            <a:avLst>
              <a:gd name="adj" fmla="val 4167"/>
            </a:avLst>
          </a:prstGeom>
          <a:solidFill>
            <a:srgbClr val="2E7D32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42048" y="9601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42048" y="132588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契約締結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→事例化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40280"/>
          <a:ext cx="8412480" cy="146304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51206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ステージ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施策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アクション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MQL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メールマガジン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月1回（事例・セミナー案内）/ 1週間以内にフォローコール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SQL未満（滞留）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ドリップメール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3ヶ月間、段階的にサービス理解を深めるコンテンツ配信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失注顧客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フォローアップ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半年後に状況変化を確認。再検討のきっかけ提供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365760" y="3886200"/>
            <a:ext cx="8412480" cy="10058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管理ツール（最小構成）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Googleスプレッドシート（リード管理台帳）　　✓  Slack通知（新規リード・ステージ変更時）　　✓  将来的にCRM導入検討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チャネル間連携（フライホイール）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280160"/>
            <a:ext cx="2743200" cy="1280160"/>
          </a:xfrm>
          <a:prstGeom prst="ellipse">
            <a:avLst/>
          </a:prstGeom>
          <a:solidFill>
            <a:srgbClr val="15608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5087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フライホイール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5603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73152" cy="1737360"/>
          </a:xfrm>
          <a:prstGeom prst="rect">
            <a:avLst/>
          </a:prstGeom>
          <a:solidFill>
            <a:srgbClr val="6CE6E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05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005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Web→NTT東コセル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219456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4630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Web問い合わせ顧客を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NTT東営業と共同対応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成約率UP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0" y="914400"/>
            <a:ext cx="25603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914400"/>
            <a:ext cx="73152" cy="1737360"/>
          </a:xfrm>
          <a:prstGeom prst="rect">
            <a:avLst/>
          </a:prstGeom>
          <a:solidFill>
            <a:srgbClr val="6CE6E8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005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880" y="1005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NTT東→Web活用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1371600"/>
            <a:ext cx="219456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4630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紹介案件に関連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Webコンテンツを事前共有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商談の質向上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25603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17520"/>
            <a:ext cx="73152" cy="1737360"/>
          </a:xfrm>
          <a:prstGeom prst="rect">
            <a:avLst/>
          </a:prstGeom>
          <a:solidFill>
            <a:srgbClr val="6CE6E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108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セミナー→支店展開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219456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5661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ウェビナー録画を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支店勉強会素材に再利用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一石二鳥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0" y="3017520"/>
            <a:ext cx="25603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3017520"/>
            <a:ext cx="73152" cy="1737360"/>
          </a:xfrm>
          <a:prstGeom prst="rect">
            <a:avLst/>
          </a:prstGeom>
          <a:solidFill>
            <a:srgbClr val="6CE6E8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3108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事例循環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3474720"/>
            <a:ext cx="219456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35661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全チャネルの成功案件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事例化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全チャネルの燃料に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834640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↗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852160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↘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83464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↙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85216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↖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KPI体系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北極星指標:  新規顧客からの四半期売上（案件獲得チャネル経由）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1371600"/>
                <a:gridCol w="228600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チャネル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リード数/月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面談設定率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案件化率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平均単価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A1. BI本部VP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A2. 産業基盤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A3. 支店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A4. 社内横連携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B1. サービスページ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B2. コンテンツ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B3. セミナー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343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立ち上げ期（6ヶ月後）の目標値。実績に基づいて四半期ごとに見直し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統合ロードマップ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36576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2377440"/>
                <a:gridCol w="237744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時期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施策1（NTT東連携）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施策2（Web強化）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チャネル間連携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Month 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サービスメニュー最終化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VP本部・産業基盤と初回すり合わせ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サービスページ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要件定義・コンテンツ準備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Month 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VP本部プレゼン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ターゲットアカウント選定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サービスページ公開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問い合わせフロー稼働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サービスページURL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→紹介資料に記載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Month 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パイロット支店3拠点で勉強会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事例2本公開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初回ウェビナー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ウェビナー録画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→支店勉強会素材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Month 4-6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支店展開拡大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四半期レビュー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月次コンテンツ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リード管理本格稼働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フライホイール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本格稼働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</a:t>
            </a:r>
            <a:endParaRPr lang="en-US" sz="3200" dirty="0"/>
          </a:p>
        </p:txBody>
      </p:sp>
      <p:pic>
        <p:nvPicPr>
          <p:cNvPr id="4" name="Image 0" descr="/Users/user/.claude/skills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3200400"/>
            <a:ext cx="192024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チャネル戦略：施策1（NTT東連携）&amp; 施策2（Web強化）深堀り</dc:title>
  <dc:subject>PptxGenJS Presentation</dc:subject>
  <dc:creator>NTT DXパートナー</dc:creator>
  <cp:lastModifiedBy>NTT DXパートナー</cp:lastModifiedBy>
  <cp:revision>1</cp:revision>
  <dcterms:created xsi:type="dcterms:W3CDTF">2026-02-13T04:12:24Z</dcterms:created>
  <dcterms:modified xsi:type="dcterms:W3CDTF">2026-02-13T04:12:24Z</dcterms:modified>
</cp:coreProperties>
</file>