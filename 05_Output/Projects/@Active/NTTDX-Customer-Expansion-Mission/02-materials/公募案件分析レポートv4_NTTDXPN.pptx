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87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6D67-67D9-2139-D65B-6C4995644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762D5-AF7F-789D-A94A-D9F4F2B33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9078D-F6B6-D962-5DCA-C0C405FD5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CD069-71B1-3F61-0BB9-2D02448460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44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NTTDX顧客接点拡大ミッション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275659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latin typeface="Meiryo UI" pitchFamily="34" charset="0"/>
                <a:ea typeface="Meiryo UI" pitchFamily="34" charset="-122"/>
                <a:cs typeface="Meiryo UI" pitchFamily="34" charset="-120"/>
              </a:rPr>
              <a:t>公募案件分析レポート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2026年1月</a:t>
            </a:r>
            <a:endParaRPr lang="en-US" sz="1200" dirty="0"/>
          </a:p>
        </p:txBody>
      </p:sp>
      <p:pic>
        <p:nvPicPr>
          <p:cNvPr id="6" name="Image 0" descr="/Users/user/.claude/skills/ntt-dxpartner-pptx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エグゼクティブサマリー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総案件数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911件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過去3年間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4290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落札データあり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390件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金額分析可能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26364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応札可能案件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7件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入札日1/20以降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8229600" cy="201168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4008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生成AI案件が2024年に爆発的成長（前年比+812%）、2025年も継続成長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RAG関連案件が2024年から登場し急増（2024→2025で+167%）→ 注目領域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構築・運用フェーズが83%を占める → 実装力が勝負の鍵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富士通Japanが大型案件を独占（総額6.8億円）、NTT東日本は11件で1.2億円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業務カット（フェーズ）別案件分析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データソース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入札王 2026年1月20日DL（総案件911件、落札金額データあり390件）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1600200" cy="7315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理解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（研修）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41732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34件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84832" y="169164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2084832" y="1691640"/>
            <a:ext cx="1600200" cy="7315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176272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76272" y="21488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76272" y="2651760"/>
            <a:ext cx="141732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2176272" y="27432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176272" y="31089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03904" y="169164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3803904" y="1691640"/>
            <a:ext cx="1600200" cy="7315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3895344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95344" y="21488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（PoC/RFI）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95344" y="2651760"/>
            <a:ext cx="141732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895344" y="27432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46件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95344" y="31089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22976" y="169164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5522976" y="1691640"/>
            <a:ext cx="1600200" cy="7315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614416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14416" y="21488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（構築）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14416" y="2651760"/>
            <a:ext cx="141732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5614416" y="27432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337件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614416" y="31089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70%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42048" y="1691640"/>
            <a:ext cx="1600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7242048" y="1691640"/>
            <a:ext cx="1600200" cy="73152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7333488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33488" y="21488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定着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（運用）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33488" y="2651760"/>
            <a:ext cx="1417320" cy="1371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7333488" y="27432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63件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333488" y="31089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3566160"/>
            <a:ext cx="8412480" cy="105156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502920" y="3639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示唆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" y="39502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構築・運用フェーズが83%を占める → 実装力が勝負の鍵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研修・設計は「入口」として有効だが案件数は少ない → パイプラインの起点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検証（PoC/RFI）は10% → ここを押さえれば実装に繋がりやすい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64C7C-7D90-98D9-D891-E0351274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423EB2-6153-E679-1389-E1A5BB1CD12A}"/>
              </a:ext>
            </a:extLst>
          </p:cNvPr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SD事業部の取り組み：公募案件キャッチアップの仕組み</a:t>
            </a:r>
            <a:endParaRPr lang="en-US" sz="2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787CBA7-49BB-A39C-064D-A6D3E51918A0}"/>
              </a:ext>
            </a:extLst>
          </p:cNvPr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77F1B8-7E0D-5D20-025A-EB5FEC787657}"/>
              </a:ext>
            </a:extLst>
          </p:cNvPr>
          <p:cNvSpPr/>
          <p:nvPr/>
        </p:nvSpPr>
        <p:spPr>
          <a:xfrm>
            <a:off x="365760" y="1005840"/>
            <a:ext cx="8412480" cy="164592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30E3F0-D7B5-B57C-F0C2-7CD76D58E435}"/>
              </a:ext>
            </a:extLst>
          </p:cNvPr>
          <p:cNvSpPr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目指す姿：まずは公募案件に「気づく」仕組みを作る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40020CB-B27B-90CB-BD6E-C03287C8FDB9}"/>
              </a:ext>
            </a:extLst>
          </p:cNvPr>
          <p:cNvSpPr/>
          <p:nvPr/>
        </p:nvSpPr>
        <p:spPr>
          <a:xfrm>
            <a:off x="1097280" y="1691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4F21D8-DBE4-EB20-3435-F55F8A1839B2}"/>
              </a:ext>
            </a:extLst>
          </p:cNvPr>
          <p:cNvSpPr/>
          <p:nvPr/>
        </p:nvSpPr>
        <p:spPr>
          <a:xfrm>
            <a:off x="109728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入札王データ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51D4529-0367-9D2B-B6E8-0A1E76E38DCF}"/>
              </a:ext>
            </a:extLst>
          </p:cNvPr>
          <p:cNvSpPr/>
          <p:nvPr/>
        </p:nvSpPr>
        <p:spPr>
          <a:xfrm>
            <a:off x="3017520" y="1783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2B0CF63-7AC7-C09C-C04C-F550ADBB6D81}"/>
              </a:ext>
            </a:extLst>
          </p:cNvPr>
          <p:cNvSpPr/>
          <p:nvPr/>
        </p:nvSpPr>
        <p:spPr>
          <a:xfrm>
            <a:off x="3657600" y="1691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56082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05DB5C4-F3B7-08B0-651D-1319BA5FFCE2}"/>
              </a:ext>
            </a:extLst>
          </p:cNvPr>
          <p:cNvSpPr/>
          <p:nvPr/>
        </p:nvSpPr>
        <p:spPr>
          <a:xfrm>
            <a:off x="365760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Slack自動通知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F1CE223-DFA2-3843-FD8E-88097280D8EC}"/>
              </a:ext>
            </a:extLst>
          </p:cNvPr>
          <p:cNvSpPr/>
          <p:nvPr/>
        </p:nvSpPr>
        <p:spPr>
          <a:xfrm>
            <a:off x="5577840" y="1783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349ED2F-DDC6-EE7B-4D8E-28250513895E}"/>
              </a:ext>
            </a:extLst>
          </p:cNvPr>
          <p:cNvSpPr/>
          <p:nvPr/>
        </p:nvSpPr>
        <p:spPr>
          <a:xfrm>
            <a:off x="6217920" y="1691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31E6397-BB4D-CEE2-7ADE-8D1129CD6EFE}"/>
              </a:ext>
            </a:extLst>
          </p:cNvPr>
          <p:cNvSpPr/>
          <p:nvPr/>
        </p:nvSpPr>
        <p:spPr>
          <a:xfrm>
            <a:off x="621792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判断・対応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648194F-3D0B-7EBD-E93C-C1D532E216C7}"/>
              </a:ext>
            </a:extLst>
          </p:cNvPr>
          <p:cNvSpPr/>
          <p:nvPr/>
        </p:nvSpPr>
        <p:spPr>
          <a:xfrm>
            <a:off x="365760" y="292608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ADDD8CB-BF0B-FAD0-6E98-7F74AAD986B7}"/>
              </a:ext>
            </a:extLst>
          </p:cNvPr>
          <p:cNvSpPr/>
          <p:nvPr/>
        </p:nvSpPr>
        <p:spPr>
          <a:xfrm>
            <a:off x="365760" y="2926080"/>
            <a:ext cx="73152" cy="155448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626612D-AB2E-DCBD-BC53-D2543AB0F5BC}"/>
              </a:ext>
            </a:extLst>
          </p:cNvPr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将来的には判断の自動化も検討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D77096D-E192-9046-C426-1A39F15D5B5A}"/>
              </a:ext>
            </a:extLst>
          </p:cNvPr>
          <p:cNvSpPr/>
          <p:nvPr/>
        </p:nvSpPr>
        <p:spPr>
          <a:xfrm>
            <a:off x="548640" y="3520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金額規模や案件の領域によって、自動で判断または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マネージャーにエスカレーションする仕組みの構築も視野に入れている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47675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キーワード別ヒット数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37743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キーワード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備考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チャットボット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374件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住民向けサービス含む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339件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コアターゲット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構築案件、増加傾向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ChatGPT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製品名指定案件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プロンプト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研修系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新興OSSツール、要ウォッチ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推奨検索キーワード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Tier1（必須）: 生成AI, RAG, チャットボット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Tier2（補足）: ChatGPT, Dify, プロンプト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キーワード別 年次推移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828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チャットボット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ChatGPT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※2026年は1月20日時点</a:t>
            </a:r>
            <a:endParaRPr lang="en-US" sz="1000" dirty="0"/>
          </a:p>
        </p:txBody>
      </p:sp>
      <p:sp>
        <p:nvSpPr>
          <p:cNvPr id="4" name="Text 3"/>
          <p:cNvSpPr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前年比成長率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566160"/>
            <a:ext cx="2651760" cy="10058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54864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2023→2024: +812%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160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2024→2025: +34%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3566160"/>
            <a:ext cx="2651760" cy="10058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338328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RAG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8328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2023→2024: -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83280" y="4160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2024→2025: +167%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3566160"/>
            <a:ext cx="2651760" cy="10058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621792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チャットボット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2023→2024: +7%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17920" y="4160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2024→2025: -10%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落札企業ランキング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件数ランキング TOP5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3931920" cy="1828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企業名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サイネックス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3,155万円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ビースポーク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8,558万円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富士通Japan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6.8億円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NTT東日本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1.2億円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エクサウィザーズ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6,836万円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総額ランキング TOP5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3931920" cy="1828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企業名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富士通Japan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6.8億円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大塚商会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5.2億円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コニカミノルタ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5.1億円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扶桑電通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2.2億円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NTT東日本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1.2億円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64008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市場セグメント分析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" y="3657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チャットボット市場: サイネックス・ビースポークが件数で圧倒（中小規模SaaS）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生成AIサービス市場: エクサウィザーズ・シフトプラス・イマクリエが台頭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大型SI案件: 富士通Japanが都道府県レベルを独占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応札可能案件（2026/1/20時点）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6517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入札日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発注機関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件名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1/29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①研修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佐賀県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令和7年度生成AI利活用研修委託業務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2/05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群馬県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生成AIサービス導入・提供業務（公募型プロポーザル）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2/05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三重県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令和７年度生成AI利用ローカル環境構築業務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2/06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明日香村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生成AI英会話システム導入事業（聖徳中学校）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2/09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八尾市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八尾市生成AI導入運用業務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2/13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武蔵野市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FAQ・RAG検索システム提供役務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2/18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②設計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大阪市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令和8年度大阪市における生成AI活用ロードマップ作成等支援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64008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注目案件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1879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武蔵野市（2/13）: RAG案件 → 技術力アピールのチャンス</a:t>
            </a:r>
            <a:endParaRPr lang="en-US" sz="1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大阪市（2/18）: ロードマップ作成支援 → 設計フェーズからの入口案件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SD事業部の取り組み：公募案件キャッチアップの仕組み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64592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目指す姿：まずは公募案件に「気づく」仕組みを作る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1691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入札王データ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783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0" y="1691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56082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65760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Slack自動通知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17830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判断・対応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73152" cy="155448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将来的には判断の自動化も検討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金額規模や案件の領域によって、自動で判断または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マネージャーにエスカレーションする仕組みの構築も視野に入れている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相談事項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73152" cy="347472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7315200" cy="1108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</a:rPr>
              <a:t>・まちづくりとSDの自治体案件の役割分担、今後の進め方について</a:t>
            </a:r>
          </a:p>
          <a:p>
            <a:pPr marL="0" indent="0">
              <a:buNone/>
            </a:pPr>
            <a:endParaRPr lang="en-US" sz="1600" b="1" dirty="0">
              <a:solidFill>
                <a:srgbClr val="156082"/>
              </a:solidFill>
              <a:latin typeface="Meiryo UI" pitchFamily="34" charset="0"/>
              <a:ea typeface="Meiryo UI" pitchFamily="34" charset="-122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</a:rPr>
              <a:t>・その他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670</Words>
  <Application>Microsoft Macintosh PowerPoint</Application>
  <PresentationFormat>画面に合わせる (16:9)</PresentationFormat>
  <Paragraphs>241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公募案件分析レポートv3</dc:title>
  <dc:subject>PptxGenJS Presentation</dc:subject>
  <dc:creator>NTT DXパートナー</dc:creator>
  <cp:lastModifiedBy>後藤田 達哉</cp:lastModifiedBy>
  <cp:revision>2</cp:revision>
  <dcterms:created xsi:type="dcterms:W3CDTF">2026-01-26T07:15:24Z</dcterms:created>
  <dcterms:modified xsi:type="dcterms:W3CDTF">2026-01-26T07:24:14Z</dcterms:modified>
</cp:coreProperties>
</file>